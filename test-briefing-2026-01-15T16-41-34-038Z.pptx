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a85c64-abac-41de-b34f-ec7d9886a3b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185a3c7-ee8b-4a93-9a9a-56353a0dbf2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One: Vision and Execution</a:t>
            </a:r>
            <a:endParaRPr lang="en-US" sz="2800" dirty="0"/>
          </a:p>
        </p:txBody>
      </p:sp>
      <p:sp>
        <p:nvSpPr>
          <p:cNvPr id="3" name="c075f4f7-c4de-476b-871f-bcb6a417c83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Areas for Improvement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b925a8e-8ecd-45f9-b9c3-147371d0669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Overview</a:t>
            </a:r>
            <a:endParaRPr lang="en-US" sz="2800" dirty="0"/>
          </a:p>
        </p:txBody>
      </p:sp>
      <p:sp>
        <p:nvSpPr>
          <p:cNvPr id="3" name="9838108e-fb48-4e57-80f7-4adbd8f12bff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 and Execution Excellence</a:t>
            </a:r>
            <a:endParaRPr lang="en-US" sz="1400" dirty="0"/>
          </a:p>
        </p:txBody>
      </p:sp>
      <p:sp>
        <p:nvSpPr>
          <p:cNvPr id="4" name="6f5fe829-cb51-4dec-b71f-46539a77d597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are deployed across 23 countries, showcasing global reach and adaptability.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31% YoY growth in Cloud ERP implementations, demonstrating market responsiveness.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acquisition of XYZ Corp enhances our capabilities in AI-driven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investment of $50M in innovation hubs to advance Cloud ERP technologies.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with Microsoft, Oracle, SAP, and Workday to expand service offerings.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client-centric transformation expertise in financial management, HR, and supply chain.</a:t>
            </a:r>
            <a:endParaRPr lang="en-US" sz="1600" dirty="0"/>
          </a:p>
        </p:txBody>
      </p:sp>
      <p:sp>
        <p:nvSpPr>
          <p:cNvPr id="5" name="6ebadf3d-8135-47f0-aacd-d0e7a82cdb7f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af74bc0-07ad-4b08-89dd-78dfb9360b42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Cloud ERP Practice Overview p.3; RFI § Financial Performance Q3 2025 p.12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5c90e48-dbdb-4886-9dae-98abe298a60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endParaRPr lang="en-US" sz="2400" dirty="0"/>
          </a:p>
        </p:txBody>
      </p:sp>
      <p:sp>
        <p:nvSpPr>
          <p:cNvPr id="3" name="64cc6bf3-25ae-43e3-b72a-4f4b7e59b2f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5 Cloud ERP Centers of Excellence globally, focusing on industry-specific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hubs in North America and Europe dedicated to AI and automation in ERP.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tools like GenAI-powered analytics used by over 200 clients across 15 sectors.</a:t>
            </a:r>
            <a:endParaRPr lang="en-US" sz="1400" dirty="0"/>
          </a:p>
        </p:txBody>
      </p:sp>
      <p:sp>
        <p:nvSpPr>
          <p:cNvPr id="4" name="1c34b130-9868-4042-8b17-ac3c9f253f92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retention strategies include advanced training programs and career development paths.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with leading ERP providers ensure cutting-edge technology integration.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 rate of 92% due to innovative and tailored ERP solutions.</a:t>
            </a:r>
            <a:endParaRPr lang="en-US" sz="1400" dirty="0"/>
          </a:p>
        </p:txBody>
      </p:sp>
      <p:sp>
        <p:nvSpPr>
          <p:cNvPr id="5" name="c4103bd5-9e4e-458b-a564-b838e981d04f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f802863e-23d9-46de-89ea-28f0cc84986e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Investment: $50M</a:t>
            </a:r>
            <a:endParaRPr lang="en-US" sz="1200" dirty="0"/>
          </a:p>
        </p:txBody>
      </p:sp>
      <p:sp>
        <p:nvSpPr>
          <p:cNvPr id="7" name="5dbd9c0b-92fd-41e1-8f7c-9ab8f7c68525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for next 12 months</a:t>
            </a:r>
            <a:endParaRPr lang="en-US" sz="1000" dirty="0"/>
          </a:p>
        </p:txBody>
      </p:sp>
      <p:sp>
        <p:nvSpPr>
          <p:cNvPr id="8" name="34c9a09c-aaeb-4ba6-b160-a5171c9e349e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Planned Investments p.5</a:t>
            </a:r>
            <a:endParaRPr lang="en-US" sz="900" dirty="0"/>
          </a:p>
        </p:txBody>
      </p:sp>
      <p:sp>
        <p:nvSpPr>
          <p:cNvPr id="9" name="a0f1e0a9-6961-4f65-98f8-4567e21542e5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f5231d3b-9deb-4c68-8ecd-124ced412666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Sectors: 15</a:t>
            </a:r>
            <a:endParaRPr lang="en-US" sz="1200" dirty="0"/>
          </a:p>
        </p:txBody>
      </p:sp>
      <p:sp>
        <p:nvSpPr>
          <p:cNvPr id="11" name="05a2bb5e-0da1-43a2-b020-c90a7c894e8d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Utilizing proprietary tools</a:t>
            </a:r>
            <a:endParaRPr lang="en-US" sz="1000" dirty="0"/>
          </a:p>
        </p:txBody>
      </p:sp>
      <p:sp>
        <p:nvSpPr>
          <p:cNvPr id="12" name="ed5a3794-c965-4139-a2d4-3d389778210e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Proprietary Tools p.6</a:t>
            </a:r>
            <a:endParaRPr lang="en-US" sz="900" dirty="0"/>
          </a:p>
        </p:txBody>
      </p:sp>
      <p:sp>
        <p:nvSpPr>
          <p:cNvPr id="13" name="b66e8a5c-432b-4970-af58-a597213d537e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acb05050-6d35-4d63-bf90-8f8c9946a6dc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Satisfaction: 92%</a:t>
            </a:r>
            <a:endParaRPr lang="en-US" sz="1200" dirty="0"/>
          </a:p>
        </p:txBody>
      </p:sp>
      <p:sp>
        <p:nvSpPr>
          <p:cNvPr id="15" name="4f5c0423-5831-414f-a7ff-8d8801bedbcf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tailored solutions</a:t>
            </a:r>
            <a:endParaRPr lang="en-US" sz="1000" dirty="0"/>
          </a:p>
        </p:txBody>
      </p:sp>
      <p:sp>
        <p:nvSpPr>
          <p:cNvPr id="16" name="800ab1ee-1751-4567-aed5-eb96e0fda247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Client Satisfaction p.7</a:t>
            </a:r>
            <a:endParaRPr lang="en-US" sz="900" dirty="0"/>
          </a:p>
        </p:txBody>
      </p:sp>
      <p:sp>
        <p:nvSpPr>
          <p:cNvPr id="17" name="f883895d-841b-46cb-9caf-95986300195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811bc214-f511-4d1f-996f-5591b50f77bb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Centers of Excellence p.4; RFI § Innovation Hubs p.5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270d64-5214-4c29-9c21-f6091fbe9028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 and Differentiation</a:t>
            </a:r>
            <a:endParaRPr lang="en-US" sz="2800" dirty="0"/>
          </a:p>
        </p:txBody>
      </p:sp>
      <p:sp>
        <p:nvSpPr>
          <p:cNvPr id="3" name="79765ac0-f9ac-4a27-844c-4edb3180e32b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Unique Value Proposition</a:t>
            </a:r>
            <a:endParaRPr lang="en-US" sz="1400" dirty="0"/>
          </a:p>
        </p:txBody>
      </p:sp>
      <p:sp>
        <p:nvSpPr>
          <p:cNvPr id="4" name="bfb5fd21-f72b-4e1b-97e5-c526dc57fec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is a good fit for enterprises seeking scalable and secure Cloud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 proposition centers on adaptability and resilience in dynamic market conditions.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through governance, compliance, and risk management expertise.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GenAI and low-code platforms for enhanced operational efficiency.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to drive transformation across industries with emerging technologies.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delivering excellence in Cloud ERP services, ensuring client success.</a:t>
            </a:r>
            <a:endParaRPr lang="en-US" sz="1600" dirty="0"/>
          </a:p>
        </p:txBody>
      </p:sp>
      <p:sp>
        <p:nvSpPr>
          <p:cNvPr id="5" name="a5497303-8f7b-4b86-b7b6-5cc73560d9ba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66a59585-dd47-47c6-991f-b1a24bbc83f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Key Messages p.8; RFI § Value Proposition p.9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c90bfe-b095-40c2-b793-4d697ed07a4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Areas for Improvement</a:t>
            </a:r>
            <a:endParaRPr lang="en-US" sz="2800" dirty="0"/>
          </a:p>
        </p:txBody>
      </p:sp>
      <p:sp>
        <p:nvSpPr>
          <p:cNvPr id="3" name="d22eeeb5-db48-47ed-b61f-d0558930afcf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 Evaluation</a:t>
            </a:r>
            <a:endParaRPr lang="en-US" sz="1400" dirty="0"/>
          </a:p>
        </p:txBody>
      </p:sp>
      <p:sp>
        <p:nvSpPr>
          <p:cNvPr id="4" name="c624f488-75bf-4ccd-8744-ba513b62810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in delivering rapid ERP implementations with a 94% client retention rate.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in financial management transformation recognized by industry awards.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for improvement include expanding regional partnerships in Asia-Pacific.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enhancing AI integration for predictive analytics in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in change management processes for smoother transitions.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up-skilling workforce to meet evolving technology demands.</a:t>
            </a:r>
            <a:endParaRPr lang="en-US" sz="1600" dirty="0"/>
          </a:p>
        </p:txBody>
      </p:sp>
      <p:sp>
        <p:nvSpPr>
          <p:cNvPr id="5" name="fbf85b60-d2fb-4bba-8939-bd7d93c4d0b9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e92e9b6-ac38-4c43-8fd6-6ba597e6b59f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Strengths &amp; Improvements p.10; RFI § Client Retention p.11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36ba23e-f7de-4511-b9de-33c71b9572bc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</a:t>
            </a:r>
            <a:endParaRPr lang="en-US" sz="2800" dirty="0"/>
          </a:p>
        </p:txBody>
      </p:sp>
      <p:sp>
        <p:nvSpPr>
          <p:cNvPr id="3" name="e6037d59-5c59-4eea-9471-e4210e724eb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Client Profiles and Engagement Types</a:t>
            </a:r>
            <a:endParaRPr lang="en-US" sz="1400" dirty="0"/>
          </a:p>
        </p:txBody>
      </p:sp>
      <p:sp>
        <p:nvSpPr>
          <p:cNvPr id="4" name="de9d554a-b0e6-4411-a3bf-33ffb742d2b5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include large enterprises in finance and manufacturing sectors.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deal sizes range from $5M to $20M, focusing on comprehensive ERP transformations.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client cultures are collaborative and innovation-driven, aligning with IBM's values.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pegs include engagements requiring legacy system support without modernization.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Avoidance of RFPs with restrictive scope that limit innovation potential.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engagements where IBM can leverage its full suite of ERP capabilities.</a:t>
            </a:r>
            <a:endParaRPr lang="en-US" sz="1600" dirty="0"/>
          </a:p>
        </p:txBody>
      </p:sp>
      <p:sp>
        <p:nvSpPr>
          <p:cNvPr id="5" name="580bd999-02df-422e-85eb-6c114a965731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365ca12-bf84-4a07-9a1b-bd3992a9c22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Sweet Spots &amp; Square Pegs p.12; RFI § Client Profiles p.13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22c5f53-ecfe-4c17-b29e-d2a10446ef9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 Strategies</a:t>
            </a:r>
            <a:endParaRPr lang="en-US" sz="2400" dirty="0"/>
          </a:p>
        </p:txBody>
      </p:sp>
      <p:sp>
        <p:nvSpPr>
          <p:cNvPr id="3" name="a9e4d7d2-8e87-4dd7-b26b-6f926370a709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Successful Cloud ERP Engagements</a:t>
            </a:r>
            <a:endParaRPr lang="en-US" sz="1200" dirty="0"/>
          </a:p>
        </p:txBody>
      </p:sp>
      <p:sp>
        <p:nvSpPr>
          <p:cNvPr id="4" name="15f8cdd2-6d07-4b27-a637-a60fcad67154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955d6f47-86c1-43ad-94d5-69633d7bdf36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52a2d17f-5b00-4b57-8f59-dbc0f4bcc31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fd42e61b-f39c-4273-9161-ee1edf81076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Risk Mitigation p.14; RFI § Compliance Frameworks p.15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251cb3-fb3a-47cd-88f7-332240fea3f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2800" dirty="0"/>
          </a:p>
        </p:txBody>
      </p:sp>
      <p:sp>
        <p:nvSpPr>
          <p:cNvPr id="3" name="d83586c5-c340-4a2a-b176-e3cf1dda796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Positioning in Cloud ERP</a:t>
            </a:r>
            <a:endParaRPr lang="en-US" sz="1400" dirty="0"/>
          </a:p>
        </p:txBody>
      </p:sp>
      <p:sp>
        <p:nvSpPr>
          <p:cNvPr id="4" name="356d82d1-d4c6-41da-88d3-34eda88bb65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focus on leveraging AI and automation to enhance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includes secure and scalable ERP services tailored to client needs.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 include industry-specific expertise and comprehensive service delivery.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sustainability and impact through environmentally conscious ERP models.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open secure hybrid cloud approach ensures reliable and confident collaboration.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emerging technologies to maintain competitive edge.</a:t>
            </a:r>
            <a:endParaRPr lang="en-US" sz="1600" dirty="0"/>
          </a:p>
        </p:txBody>
      </p:sp>
      <p:sp>
        <p:nvSpPr>
          <p:cNvPr id="5" name="f00bce13-16e9-497c-8798-727794672d06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224c6f4e-4f04-4615-8999-abe4666d247c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Strategy &amp; Differentiators p.16; RFI § Sustainability Models p.17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ca7c454-5e60-4f5c-b96a-e2cbe3b0de6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Metrics</a:t>
            </a:r>
            <a:endParaRPr lang="en-US" sz="2400" dirty="0"/>
          </a:p>
        </p:txBody>
      </p:sp>
      <p:sp>
        <p:nvSpPr>
          <p:cNvPr id="3" name="08776ea9-da48-4adf-bdd8-a61b6fa7a762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96129c64-031b-49d0-9ff1-22213a74ce0b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Rate</a:t>
            </a:r>
            <a:endParaRPr lang="en-US" sz="1200" dirty="0"/>
          </a:p>
        </p:txBody>
      </p:sp>
      <p:sp>
        <p:nvSpPr>
          <p:cNvPr id="5" name="e99f68e8-d900-4a79-9988-ac06370a38ac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400" dirty="0"/>
          </a:p>
        </p:txBody>
      </p:sp>
      <p:sp>
        <p:nvSpPr>
          <p:cNvPr id="6" name="537cfd57-9ebc-4927-b8d9-d3b5b0204261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7" name="a2b75901-ba2c-467e-8e98-45ffebc3c7ef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Client Retention p.18</a:t>
            </a:r>
            <a:endParaRPr lang="en-US" sz="900" dirty="0"/>
          </a:p>
        </p:txBody>
      </p:sp>
      <p:sp>
        <p:nvSpPr>
          <p:cNvPr id="8" name="4cad7af4-358b-4dab-9022-c5e97eb0558b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5218f29d-05ac-4f51-b79e-bfe7647f85f8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</a:t>
            </a:r>
            <a:endParaRPr lang="en-US" sz="1200" dirty="0"/>
          </a:p>
        </p:txBody>
      </p:sp>
      <p:sp>
        <p:nvSpPr>
          <p:cNvPr id="10" name="af17c1c7-d2ea-45b6-b615-a9266c4d0f67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months</a:t>
            </a:r>
            <a:endParaRPr lang="en-US" sz="2400" dirty="0"/>
          </a:p>
        </p:txBody>
      </p:sp>
      <p:sp>
        <p:nvSpPr>
          <p:cNvPr id="11" name="0b821fa2-0403-4dba-af9d-d5b1a217e500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industry average of 12 months</a:t>
            </a:r>
            <a:endParaRPr lang="en-US" sz="1000" dirty="0"/>
          </a:p>
        </p:txBody>
      </p:sp>
      <p:sp>
        <p:nvSpPr>
          <p:cNvPr id="12" name="edeed47f-e243-45be-850f-b08470f1727a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Implementation Time p.19</a:t>
            </a:r>
            <a:endParaRPr lang="en-US" sz="900" dirty="0"/>
          </a:p>
        </p:txBody>
      </p:sp>
      <p:sp>
        <p:nvSpPr>
          <p:cNvPr id="13" name="7c7cf612-bbf4-4243-aa69-0574d2123831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dfc4ffe0-4130-4bc2-a6e4-fae8e836624e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15" name="535b9cce-f665-472c-96b1-fb5b9b661694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$127M</a:t>
            </a:r>
            <a:endParaRPr lang="en-US" sz="2400" dirty="0"/>
          </a:p>
        </p:txBody>
      </p:sp>
      <p:sp>
        <p:nvSpPr>
          <p:cNvPr id="16" name="5a1251ee-87fe-4dfb-9a3e-0165077abc9c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000" dirty="0"/>
          </a:p>
        </p:txBody>
      </p:sp>
      <p:sp>
        <p:nvSpPr>
          <p:cNvPr id="17" name="8bfbb551-21c9-423e-b6cd-60f2ec21be96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Financial Performance p.20</a:t>
            </a:r>
            <a:endParaRPr lang="en-US" sz="900" dirty="0"/>
          </a:p>
        </p:txBody>
      </p:sp>
      <p:sp>
        <p:nvSpPr>
          <p:cNvPr id="18" name="df2952fc-3fed-4014-8711-ff11eb6326e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15916419-3281-4a40-98fa-65b29932729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Metrics Overview p.21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401b4f2-92f6-481c-bd63-44ed61f6476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</a:t>
            </a:r>
            <a:endParaRPr lang="en-US" sz="2400" dirty="0"/>
          </a:p>
        </p:txBody>
      </p:sp>
      <p:sp>
        <p:nvSpPr>
          <p:cNvPr id="3" name="deddb358-57e9-49a4-8001-8e03c1566057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Cloud ERP Capabilities</a:t>
            </a:r>
            <a:endParaRPr lang="en-US" sz="1200" dirty="0"/>
          </a:p>
        </p:txBody>
      </p:sp>
      <p:sp>
        <p:nvSpPr>
          <p:cNvPr id="4" name="49bb0333-6b6b-4d73-92c3-ee65f9e0f2e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e99b5602-1aad-4e5f-a08f-cb290eff8cbf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53218b00-c095-446a-b084-2ca0bef73d0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221cb4c6-f791-4c40-b7d9-3018dd67960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Partnerships p.22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c0f0b8e-ced6-492e-9a71-c977179d932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Roadmap</a:t>
            </a:r>
            <a:endParaRPr lang="en-US" sz="2400" dirty="0"/>
          </a:p>
        </p:txBody>
      </p:sp>
      <p:sp>
        <p:nvSpPr>
          <p:cNvPr id="3" name="ad32b810-9597-4460-8fe3-a34e62df5ed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 and Future Direction</a:t>
            </a:r>
            <a:endParaRPr lang="en-US" sz="1200" dirty="0"/>
          </a:p>
        </p:txBody>
      </p:sp>
      <p:sp>
        <p:nvSpPr>
          <p:cNvPr id="4" name="96f1a666-a6a6-40ea-a7b9-68b13b493ca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dcb791c0-9790-4b4c-81e9-1ba603d6ddf7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e6f59ba6-286f-4858-b386-70604fc098e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27978d3f-6ac0-4d44-8ab7-f4f5ea7b34e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Roadmap p.26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b6f9a76-fa9e-4ad9-baaf-b9cf6cfb337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Two: Five Case Studies</a:t>
            </a:r>
            <a:endParaRPr lang="en-US" sz="2800" dirty="0"/>
          </a:p>
        </p:txBody>
      </p:sp>
      <p:sp>
        <p:nvSpPr>
          <p:cNvPr id="3" name="e9a193d8-ba0b-4bfc-bc75-6a0c5da67f8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(FM)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(HCM)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(SCM)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5ef7032-88e9-44f2-90d8-290d0f1046f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56b81687-de3a-4a19-9ab4-68210f9e8c98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bc22918c-85ec-4cf3-8bd0-3da6aafa22f9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5" name="1b162510-c38b-4d38-967f-3f0f4e6991b4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(FM)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e62d6899-f8ea-4744-a54c-4896c0660367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e231b97d-e51a-4e52-9bd3-2b53dc2485b6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</a:t>
            </a:r>
            <a:endParaRPr lang="en-US" sz="1200" dirty="0"/>
          </a:p>
        </p:txBody>
      </p:sp>
      <p:sp>
        <p:nvSpPr>
          <p:cNvPr id="8" name="2b66fcc1-adcf-4111-9ab8-120c5b55d74e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(HCM)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ce6d9163-d777-4247-857f-6b5354b5a908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ce61c922-a5ce-4632-89b6-2d955f880113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</a:t>
            </a:r>
            <a:endParaRPr lang="en-US" sz="1200" dirty="0"/>
          </a:p>
        </p:txBody>
      </p:sp>
      <p:sp>
        <p:nvSpPr>
          <p:cNvPr id="11" name="0e6ac0c4-9e15-4a89-9eae-33f7707646a8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(SCM)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44a79932-9c4e-4c91-94d5-5d4e1f388013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8272bbbb-469f-4c4d-b019-30dfa1f6f1e0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</a:t>
            </a:r>
            <a:endParaRPr lang="en-US" sz="1200" dirty="0"/>
          </a:p>
        </p:txBody>
      </p:sp>
      <p:sp>
        <p:nvSpPr>
          <p:cNvPr id="14" name="efd2287b-49df-4daa-bef2-9f45a77b15c7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7a52cfc6-09a7-4145-914c-46a5cb91bd4c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a78ea002-d007-4ed5-b0ec-fbec81014cb9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</a:t>
            </a:r>
            <a:endParaRPr lang="en-US" sz="1200" dirty="0"/>
          </a:p>
        </p:txBody>
      </p:sp>
      <p:sp>
        <p:nvSpPr>
          <p:cNvPr id="17" name="30b9e95b-f90b-4da3-80a4-5e2309b1f121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fef7f04-ee69-4a7e-b5be-95658e8f3dc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1: Financial Management (FM) Transformation</a:t>
            </a:r>
            <a:endParaRPr lang="en-US" sz="2400" dirty="0"/>
          </a:p>
        </p:txBody>
      </p:sp>
      <p:sp>
        <p:nvSpPr>
          <p:cNvPr id="3" name="6c46d7ed-9332-4387-ac86-813c1d3c51d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(FM)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39b4eb0-d6f0-4115-979f-a129ad9a054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2: HR and Payroll (HCM) Transformation</a:t>
            </a:r>
            <a:endParaRPr lang="en-US" sz="2400" dirty="0"/>
          </a:p>
        </p:txBody>
      </p:sp>
      <p:sp>
        <p:nvSpPr>
          <p:cNvPr id="3" name="d6119289-6a86-4524-9fb1-00e3ac990213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(HCM)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262fc21-3a61-4662-969d-1cea5933182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3: Supply Chain Management (SCM) Transformation</a:t>
            </a:r>
            <a:endParaRPr lang="en-US" sz="2400" dirty="0"/>
          </a:p>
        </p:txBody>
      </p:sp>
      <p:sp>
        <p:nvSpPr>
          <p:cNvPr id="3" name="b16d2433-5453-47d0-a2c6-c06cf8d50445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(SCM)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43f18ab-ae8b-4876-8110-6fd8902c3f1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4: Sourcing &amp; Procurement Transformation</a:t>
            </a:r>
            <a:endParaRPr lang="en-US" sz="2400" dirty="0"/>
          </a:p>
        </p:txBody>
      </p:sp>
      <p:sp>
        <p:nvSpPr>
          <p:cNvPr id="3" name="43335307-9ec6-4f34-a969-6384da04156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df92d5d-8c89-4d62-91a2-2dfc82aebac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5: Manufacture Products Transformation</a:t>
            </a:r>
            <a:endParaRPr lang="en-US" sz="2400" dirty="0"/>
          </a:p>
        </p:txBody>
      </p:sp>
      <p:sp>
        <p:nvSpPr>
          <p:cNvPr id="3" name="db47d042-2152-4170-981a-cdf6366bb6fc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fc4d247-3f25-4b74-b0d3-8d979309f0b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IBM's Cloud ERP Case Studies</a:t>
            </a:r>
            <a:endParaRPr lang="en-US" sz="2800" dirty="0"/>
          </a:p>
        </p:txBody>
      </p:sp>
      <p:sp>
        <p:nvSpPr>
          <p:cNvPr id="3" name="3a806e50-3bec-437b-a8f8-619f30399759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Showcasing Transformation Across Key Industries</a:t>
            </a:r>
            <a:endParaRPr lang="en-US" sz="1400" dirty="0"/>
          </a:p>
        </p:txBody>
      </p:sp>
      <p:sp>
        <p:nvSpPr>
          <p:cNvPr id="4" name="4e204d9b-a1e2-4a18-9708-f8eb20029240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Financial Management, HR, Supply Chain, Sourcing &amp; Procurement, and Manufacturing transformations.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case study includes client challenges, solutions, and outcomes achieved.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Showcases IBM's strategic use of GenAI and low-code platforms.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cross-industry expertise and adaptability.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Emphasizes measurable business outcomes and KPIs.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IBM's commitment to governance and compliance.</a:t>
            </a:r>
            <a:endParaRPr lang="en-US" sz="1600" dirty="0"/>
          </a:p>
        </p:txBody>
      </p:sp>
      <p:sp>
        <p:nvSpPr>
          <p:cNvPr id="5" name="fc90244a-1184-492e-a290-597282daa226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13f81623-9adf-4727-843c-cd5cd17f2cab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Case Study Overview p.5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bd5ac93-90e2-4430-b7e9-e63919291c9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Case Studies</a:t>
            </a:r>
            <a:endParaRPr lang="en-US" sz="2400" dirty="0"/>
          </a:p>
        </p:txBody>
      </p:sp>
      <p:sp>
        <p:nvSpPr>
          <p:cNvPr id="3" name="09cd7564-3e95-43dc-bef7-6aa065f6e3ff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158ce836-b781-4a58-b279-810811aad423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Transformation</a:t>
            </a:r>
            <a:endParaRPr lang="en-US" sz="1200" dirty="0"/>
          </a:p>
        </p:txBody>
      </p:sp>
      <p:sp>
        <p:nvSpPr>
          <p:cNvPr id="5" name="0c3492d0-30b6-4873-91d9-c2c810e2fc2b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Banking / North America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30% reduction in financial closing time (12 months)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Public</a:t>
            </a:r>
            <a:endParaRPr lang="en-US" sz="1000" dirty="0"/>
          </a:p>
        </p:txBody>
      </p:sp>
      <p:sp>
        <p:nvSpPr>
          <p:cNvPr id="6" name="9172a518-9dd4-4b59-a116-1dd758f7ba4b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1ef4b242-297f-45bf-89fe-3b28cd195679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</a:t>
            </a:r>
            <a:endParaRPr lang="en-US" sz="1200" dirty="0"/>
          </a:p>
        </p:txBody>
      </p:sp>
      <p:sp>
        <p:nvSpPr>
          <p:cNvPr id="8" name="efb9275c-9244-4aac-ae84-c7cd24317114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Healthcare / Europe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25% increase in HR efficiency (9 months)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Public</a:t>
            </a:r>
            <a:endParaRPr lang="en-US" sz="1000" dirty="0"/>
          </a:p>
        </p:txBody>
      </p:sp>
      <p:sp>
        <p:nvSpPr>
          <p:cNvPr id="9" name="4c269230-3fc1-48b7-81c2-a963cf2e4e65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7b3ed350-b5e4-41f8-96a6-03bf7ef6367a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endParaRPr lang="en-US" sz="1200" dirty="0"/>
          </a:p>
        </p:txBody>
      </p:sp>
      <p:sp>
        <p:nvSpPr>
          <p:cNvPr id="11" name="6f6d391f-c7ce-4780-9930-a727fd734398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Retail / Asia-Pacific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40% improvement in supply chain visibility (14 months)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Public</a:t>
            </a:r>
            <a:endParaRPr lang="en-US" sz="1000" dirty="0"/>
          </a:p>
        </p:txBody>
      </p:sp>
      <p:sp>
        <p:nvSpPr>
          <p:cNvPr id="12" name="23c1c41f-2d7e-41fd-9431-9940e31fdc7c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423ed407-b944-4929-b35a-108040cff0ac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endParaRPr lang="en-US" sz="1200" dirty="0"/>
          </a:p>
        </p:txBody>
      </p:sp>
      <p:sp>
        <p:nvSpPr>
          <p:cNvPr id="14" name="c08cc1a0-5e0e-497e-9c1b-17025e86fddb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Manufacturing / Latin America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20% cost reduction in procurement (10 months)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Public</a:t>
            </a:r>
            <a:endParaRPr lang="en-US" sz="1000" dirty="0"/>
          </a:p>
        </p:txBody>
      </p:sp>
      <p:sp>
        <p:nvSpPr>
          <p:cNvPr id="15" name="3101d01f-8135-46df-af08-2be39c2b5658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72b9241f-95dc-495b-ab78-cbdababf5539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200" dirty="0"/>
          </a:p>
        </p:txBody>
      </p:sp>
      <p:sp>
        <p:nvSpPr>
          <p:cNvPr id="17" name="38526548-17a2-4826-9b25-f2cb91ba66f3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Automotive 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15% increase in production efficiency (18 months)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Public</a:t>
            </a:r>
            <a:endParaRPr lang="en-US" sz="1000" dirty="0"/>
          </a:p>
        </p:txBody>
      </p:sp>
      <p:sp>
        <p:nvSpPr>
          <p:cNvPr id="18" name="70c61b57-759d-493c-9d4e-2a86d14f15a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6e389e2c-1c46-4ca1-8966-139df9e7deb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Use Cases Overview p.9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f7ae6bf-f68d-4746-b0c7-50cd6917f6b5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Three: Questions and Answers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fabd6d-4dbe-4df3-8d8c-cbed8c08a78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Four: Slides on MQ and CC Submission</a:t>
            </a:r>
            <a:endParaRPr lang="en-US" sz="2800" dirty="0"/>
          </a:p>
        </p:txBody>
      </p:sp>
      <p:sp>
        <p:nvSpPr>
          <p:cNvPr id="3" name="bed325a0-4fea-42be-a7d1-558e19d4ba2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 Evaluation Criteria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– Proof Points and Client Examples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Capabilities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