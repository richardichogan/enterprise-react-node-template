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  <p:sldId r:id="rId13-created" id="258"/>
    <p:sldId r:id="rId14-created" id="259"/>
    <p:sldId r:id="rId15-created" id="260"/>
    <p:sldId r:id="rId16-created" id="261"/>
    <p:sldId r:id="rId17-created" id="262"/>
    <p:sldId r:id="rId18-created" id="263"/>
    <p:sldId r:id="rId19-created" id="264"/>
    <p:sldId r:id="rId20-created" id="265"/>
    <p:sldId r:id="rId21-created" id="266"/>
    <p:sldId r:id="rId22-created" id="267"/>
    <p:sldId r:id="rId23-created" id="268"/>
    <p:sldId r:id="rId24-created" id="269"/>
    <p:sldId r:id="rId25-created" id="270"/>
    <p:sldId r:id="rId26-created" id="271"/>
    <p:sldId r:id="rId27-created" id="272"/>
    <p:sldId r:id="rId28-created" id="273"/>
    <p:sldId r:id="rId29-created" id="274"/>
    <p:sldId r:id="rId30-created" id="275"/>
    <p:sldId r:id="rId31-created" id="276"/>
    <p:sldId r:id="rId32-created" id="277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Relationship Id="rId13-created" Type="http://schemas.openxmlformats.org/officeDocument/2006/relationships/slide" Target="slides/slide4.xml"/><Relationship Id="rId14-created" Type="http://schemas.openxmlformats.org/officeDocument/2006/relationships/slide" Target="slides/slide5.xml"/><Relationship Id="rId15-created" Type="http://schemas.openxmlformats.org/officeDocument/2006/relationships/slide" Target="slides/slide6.xml"/><Relationship Id="rId16-created" Type="http://schemas.openxmlformats.org/officeDocument/2006/relationships/slide" Target="slides/slide7.xml"/><Relationship Id="rId17-created" Type="http://schemas.openxmlformats.org/officeDocument/2006/relationships/slide" Target="slides/slide8.xml"/><Relationship Id="rId18-created" Type="http://schemas.openxmlformats.org/officeDocument/2006/relationships/slide" Target="slides/slide9.xml"/><Relationship Id="rId19-created" Type="http://schemas.openxmlformats.org/officeDocument/2006/relationships/slide" Target="slides/slide10.xml"/><Relationship Id="rId20-created" Type="http://schemas.openxmlformats.org/officeDocument/2006/relationships/slide" Target="slides/slide11.xml"/><Relationship Id="rId21-created" Type="http://schemas.openxmlformats.org/officeDocument/2006/relationships/slide" Target="slides/slide12.xml"/><Relationship Id="rId22-created" Type="http://schemas.openxmlformats.org/officeDocument/2006/relationships/slide" Target="slides/slide13.xml"/><Relationship Id="rId23-created" Type="http://schemas.openxmlformats.org/officeDocument/2006/relationships/slide" Target="slides/slide14.xml"/><Relationship Id="rId24-created" Type="http://schemas.openxmlformats.org/officeDocument/2006/relationships/slide" Target="slides/slide15.xml"/><Relationship Id="rId25-created" Type="http://schemas.openxmlformats.org/officeDocument/2006/relationships/slide" Target="slides/slide16.xml"/><Relationship Id="rId26-created" Type="http://schemas.openxmlformats.org/officeDocument/2006/relationships/slide" Target="slides/slide17.xml"/><Relationship Id="rId27-created" Type="http://schemas.openxmlformats.org/officeDocument/2006/relationships/slide" Target="slides/slide18.xml"/><Relationship Id="rId28-created" Type="http://schemas.openxmlformats.org/officeDocument/2006/relationships/slide" Target="slides/slide19.xml"/><Relationship Id="rId29-created" Type="http://schemas.openxmlformats.org/officeDocument/2006/relationships/slide" Target="slides/slide20.xml"/><Relationship Id="rId30-created" Type="http://schemas.openxmlformats.org/officeDocument/2006/relationships/slide" Target="slides/slide21.xml"/><Relationship Id="rId31-created" Type="http://schemas.openxmlformats.org/officeDocument/2006/relationships/slide" Target="slides/slide22.xml"/><Relationship Id="rId32-created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743a96a-be43-413e-acad-00e30fd3956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Analyst Briefing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9a7ef5d-74a0-41dd-8e6b-414955a3738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One: Vision and Execution</a:t>
            </a:r>
            <a:endParaRPr lang="en-US" sz="2800" dirty="0"/>
          </a:p>
        </p:txBody>
      </p:sp>
      <p:sp>
        <p:nvSpPr>
          <p:cNvPr id="3" name="3da8ad1a-1c3e-441b-bf5f-d338dd2cce4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Areas for Improvement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967673f-2310-4dac-bf61-6cb9f5e144b7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of IBM's Cloud ERP Services</a:t>
            </a:r>
            <a:endParaRPr lang="en-US" sz="2800" dirty="0"/>
          </a:p>
        </p:txBody>
      </p:sp>
      <p:sp>
        <p:nvSpPr>
          <p:cNvPr id="3" name="f4218d8a-db02-440f-a2a4-2883ef40120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and Key Achievements</a:t>
            </a:r>
            <a:endParaRPr lang="en-US" sz="1400" dirty="0"/>
          </a:p>
        </p:txBody>
      </p:sp>
      <p:sp>
        <p:nvSpPr>
          <p:cNvPr id="4" name="35ee2eea-8ee0-4dd7-a2e6-21bb0ad50286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practice has experienced significant growth, driven by strategic investments and acquisitions.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acquisitions have strengthened IBM's position in the Cloud ERP market, enhancing service delivery capabilities.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plans to invest in expanding its Cloud ERP capabilities over the next 12 months, focusing on innovation and client outcomes.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leverages proprietary tools and intellectual property to deliver tailored solutions across various industries.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partnerships with leading Cloud ERP providers enhance its service offerings and client reach.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management strategies ensure IBM maintains a skilled workforce to meet evolving client needs. [From: 2026-01-12T13-21-31-281Z_Live Briefing Guidelines for Cloud ERP Services, 2026.pdf - Page 3]</a:t>
            </a:r>
            <a:endParaRPr lang="en-US" sz="1600" dirty="0"/>
          </a:p>
        </p:txBody>
      </p:sp>
      <p:sp>
        <p:nvSpPr>
          <p:cNvPr id="5" name="d47cea57-679a-4ebc-ab3e-00143a0529b5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65e2349-a57d-4eb6-b085-60fcbe37b469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a17b24-8e9c-416f-9eb0-621ccccd9caa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 &amp; Innovation</a:t>
            </a:r>
            <a:endParaRPr lang="en-US" sz="2400" dirty="0"/>
          </a:p>
        </p:txBody>
      </p:sp>
      <p:sp>
        <p:nvSpPr>
          <p:cNvPr id="3" name="3866d066-637c-40d8-8346-16e23cddff9f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operates multiple Cloud ERP Centers of Excellence globally, fostering innovation and best practices.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assets include proprietary tools and IP, utilized across various industry sectors to enhance client outcomes.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hubs focus on leveraging AI and automation to improve operations and client services. [From: 2026-01-12T13-21-31-281Z_Live Briefing Guidelines for Cloud ERP Services, 2026.pdf - Page 3]</a:t>
            </a:r>
            <a:endParaRPr lang="en-US" sz="1400" dirty="0"/>
          </a:p>
        </p:txBody>
      </p:sp>
      <p:sp>
        <p:nvSpPr>
          <p:cNvPr id="4" name="453ef610-68c0-4030-9b8c-6cb0a73d4303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with Microsoft, Oracle, SAP, and Workday enhance IBM's Cloud ERP offerings.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attraction and retention strategies are key to maintaining a skilled workforce capable of driving innovation.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commitment to innovation is demonstrated through its proprietary platforms and use cases. [From: 2026-01-12T13-21-43-361Z_Magic_Quadrant_for_C_806200_ndx.pdf - Page 87]</a:t>
            </a:r>
            <a:endParaRPr lang="en-US" sz="1400" dirty="0"/>
          </a:p>
        </p:txBody>
      </p:sp>
      <p:sp>
        <p:nvSpPr>
          <p:cNvPr id="5" name="e345c409-fa34-491c-ac14-a191df424c72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ab16e5e2-5dcd-4a19-8c66-7b59eee1ae88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of Excellence: Multiple</a:t>
            </a:r>
            <a:endParaRPr lang="en-US" sz="1200" dirty="0"/>
          </a:p>
        </p:txBody>
      </p:sp>
      <p:sp>
        <p:nvSpPr>
          <p:cNvPr id="7" name="febcbeec-943a-4138-b7cc-084b34209ca3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presence</a:t>
            </a:r>
            <a:endParaRPr lang="en-US" sz="1000" dirty="0"/>
          </a:p>
        </p:txBody>
      </p:sp>
      <p:sp>
        <p:nvSpPr>
          <p:cNvPr id="8" name="7e6915e8-0606-4ada-9306-4fccf2429410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9" name="dc864d85-4ea1-4261-bd52-4a6ed3aae22f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1e8123f2-0eeb-4f35-bbe9-2f3ef51d440c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Partnerships: 4 Major</a:t>
            </a:r>
            <a:endParaRPr lang="en-US" sz="1200" dirty="0"/>
          </a:p>
        </p:txBody>
      </p:sp>
      <p:sp>
        <p:nvSpPr>
          <p:cNvPr id="11" name="958feca5-3cac-485f-91ee-4dd5ecb1d9dd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Microsoft, Oracle, SAP, Workday</a:t>
            </a:r>
            <a:endParaRPr lang="en-US" sz="1000" dirty="0"/>
          </a:p>
        </p:txBody>
      </p:sp>
      <p:sp>
        <p:nvSpPr>
          <p:cNvPr id="12" name="1507b232-e275-4605-9353-0c9877b86a84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13" name="93ea1463-77bc-4819-98c4-5b1410c498dc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d261b163-2927-4669-aea8-61750a88ad59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Hubs: Numerous</a:t>
            </a:r>
            <a:endParaRPr lang="en-US" sz="1200" dirty="0"/>
          </a:p>
        </p:txBody>
      </p:sp>
      <p:sp>
        <p:nvSpPr>
          <p:cNvPr id="15" name="1c6f1dd0-a52c-497e-96e9-9ffbe145e5d7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AI and automation</a:t>
            </a:r>
            <a:endParaRPr lang="en-US" sz="1000" dirty="0"/>
          </a:p>
        </p:txBody>
      </p:sp>
      <p:sp>
        <p:nvSpPr>
          <p:cNvPr id="16" name="f72efd33-d41b-4ff9-b1c3-76548a7953cf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17" name="8cb532c8-d225-49c0-b239-1125a3567aa3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a0747397-86b2-4d84-915d-33c51ac1eaf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96566a-a8ac-46af-8381-7eb6458292e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of IBM's Cloud ERP Services</a:t>
            </a:r>
            <a:endParaRPr lang="en-US" sz="2400" dirty="0"/>
          </a:p>
        </p:txBody>
      </p:sp>
      <p:sp>
        <p:nvSpPr>
          <p:cNvPr id="3" name="111d0752-5084-4988-a70e-fffeaa47a972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01f12437-45d9-49d3-87ba-482d715bcbac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Satisfaction</a:t>
            </a:r>
            <a:endParaRPr lang="en-US" sz="1200" dirty="0"/>
          </a:p>
        </p:txBody>
      </p:sp>
      <p:sp>
        <p:nvSpPr>
          <p:cNvPr id="5" name="fb40fa82-6854-4b9e-891a-c3b7292250f8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400" dirty="0"/>
          </a:p>
        </p:txBody>
      </p:sp>
      <p:sp>
        <p:nvSpPr>
          <p:cNvPr id="6" name="e67ba227-ae7f-4db4-97b4-699a2f1b59fc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positive feedback</a:t>
            </a:r>
            <a:endParaRPr lang="en-US" sz="1000" dirty="0"/>
          </a:p>
        </p:txBody>
      </p:sp>
      <p:sp>
        <p:nvSpPr>
          <p:cNvPr id="7" name="f8a60705-2fcb-40af-87c1-96362f3df923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2026-01-12T13-21-43-361Z_Magic_Quadrant_for_C_806200_ndx.pdf</a:t>
            </a:r>
            <a:endParaRPr lang="en-US" sz="900" dirty="0"/>
          </a:p>
        </p:txBody>
      </p:sp>
      <p:sp>
        <p:nvSpPr>
          <p:cNvPr id="8" name="db6730c1-e2bf-4217-8fde-057401406c5c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2c406bab-c01b-4c5a-ad24-c9138c51854f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Adoption</a:t>
            </a:r>
            <a:endParaRPr lang="en-US" sz="1200" dirty="0"/>
          </a:p>
        </p:txBody>
      </p:sp>
      <p:sp>
        <p:nvSpPr>
          <p:cNvPr id="10" name="cf7c4f37-4cfe-4021-a38a-68964e71ce4b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2400" dirty="0"/>
          </a:p>
        </p:txBody>
      </p:sp>
      <p:sp>
        <p:nvSpPr>
          <p:cNvPr id="11" name="6705276b-3485-4202-9a7f-0146c713d4b6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platforms and automation</a:t>
            </a:r>
            <a:endParaRPr lang="en-US" sz="1000" dirty="0"/>
          </a:p>
        </p:txBody>
      </p:sp>
      <p:sp>
        <p:nvSpPr>
          <p:cNvPr id="12" name="a31d56af-42ad-4ebd-bdd0-246950cefead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2026-01-12T13-21-43-361Z_Magic_Quadrant_for_C_806200_ndx.pdf</a:t>
            </a:r>
            <a:endParaRPr lang="en-US" sz="900" dirty="0"/>
          </a:p>
        </p:txBody>
      </p:sp>
      <p:sp>
        <p:nvSpPr>
          <p:cNvPr id="13" name="ecd80e72-df13-4729-8ad0-c19d41e1e506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9a3f2cf-98c9-4109-b351-48e4ce8b6089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Leadership</a:t>
            </a:r>
            <a:endParaRPr lang="en-US" sz="1200" dirty="0"/>
          </a:p>
        </p:txBody>
      </p:sp>
      <p:sp>
        <p:nvSpPr>
          <p:cNvPr id="15" name="0c966815-3bc9-4177-a731-784ba3516dd0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2400" dirty="0"/>
          </a:p>
        </p:txBody>
      </p:sp>
      <p:sp>
        <p:nvSpPr>
          <p:cNvPr id="16" name="9c374b86-599b-48ac-9b45-cf9121f35711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vision and execution</a:t>
            </a:r>
            <a:endParaRPr lang="en-US" sz="1000" dirty="0"/>
          </a:p>
        </p:txBody>
      </p:sp>
      <p:sp>
        <p:nvSpPr>
          <p:cNvPr id="17" name="c64f200c-690a-416a-9983-b19ebe74f652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2026-01-12T13-21-43-361Z_Magic_Quadrant_for_C_806200_ndx.pdf</a:t>
            </a:r>
            <a:endParaRPr lang="en-US" sz="900" dirty="0"/>
          </a:p>
        </p:txBody>
      </p:sp>
      <p:sp>
        <p:nvSpPr>
          <p:cNvPr id="18" name="4282b62b-e094-43fe-b791-1149b4dba6de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11788eee-3714-4166-bb2d-d8f089aba94c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2026-01-12T13-21-43-361Z_Magic_Quadrant_for_C_806200_ndx.pdf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5059fc1-8bee-4f43-a258-c0c3544ef0b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Positioning in Cloud ERP Services</a:t>
            </a:r>
            <a:endParaRPr lang="en-US" sz="2800" dirty="0"/>
          </a:p>
        </p:txBody>
      </p:sp>
      <p:sp>
        <p:nvSpPr>
          <p:cNvPr id="3" name="0901043b-dfab-40d7-b3b9-42b660a720c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 and Value Proposition</a:t>
            </a:r>
            <a:endParaRPr lang="en-US" sz="1400" dirty="0"/>
          </a:p>
        </p:txBody>
      </p:sp>
      <p:sp>
        <p:nvSpPr>
          <p:cNvPr id="4" name="6a5dffe9-7bcb-41d4-8aef-c15944a02589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are distinguished by their ability to deliver tailored business outcomes.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is a good fit for enterprises seeking comprehensive, industry-specific solutions.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value proposition centers on innovation, client-centric solutions, and strategic partnerships.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include a robust ecosystem of partners and a commitment to continuous improvement. [From: 2026-01-12T13-21-43-361Z_Magic_Quadrant_for_C_806200_ndx.pdf - Page 87]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for improvement involve enhancing regional focus and expanding in-country resources. [From: 2026-01-12T13-21-43-361Z_Magic_Quadrant_for_C_806200_ndx.pdf - Page 87]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focus on sustainability and impact aligns with evolving market demands. [From: 2026-01-12T13-21-14-435Z_Final 2022 S4HANA Svcs MQ VB IBM (02_15_22).pdf - Page 6]</a:t>
            </a:r>
            <a:endParaRPr lang="en-US" sz="1600" dirty="0"/>
          </a:p>
        </p:txBody>
      </p:sp>
      <p:sp>
        <p:nvSpPr>
          <p:cNvPr id="5" name="8571b0f3-413d-4696-a002-f4786bdb1d04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28160f69-eb2b-4fbe-ba2b-2134016d28a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3aa8fd5-bf97-4ad1-a85b-ddbf2646c32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&amp; Square Pegs in IBM's Cloud ERP Services</a:t>
            </a:r>
            <a:endParaRPr lang="en-US" sz="2400" dirty="0"/>
          </a:p>
        </p:txBody>
      </p:sp>
      <p:sp>
        <p:nvSpPr>
          <p:cNvPr id="3" name="e1513bed-547f-42b3-af59-25b5d2739c96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spots include large enterprises with complex, industry-specific needs.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deal sizes involve substantial scope and long-term engagements.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excels in environments that value innovation and strategic partnerships. [From: 2026-01-12T13-21-31-281Z_Live Briefing Guidelines for Cloud ERP Services, 2026.pdf - Page 3]</a:t>
            </a:r>
            <a:endParaRPr lang="en-US" sz="1400" dirty="0"/>
          </a:p>
        </p:txBody>
      </p:sp>
      <p:sp>
        <p:nvSpPr>
          <p:cNvPr id="4" name="800e70cc-300f-4834-9742-5c3b47df0e16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pegs include engagements with limited scope or short-term focus.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cultures resistant to change may pose challenges for IBM's transformative approach.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RFPs requiring rigid, non-customizable solutions are less desirable for IBM. [From: 2026-01-12T13-21-31-281Z_Live Briefing Guidelines for Cloud ERP Services, 2026.pdf - Page 3]</a:t>
            </a:r>
            <a:endParaRPr lang="en-US" sz="1400" dirty="0"/>
          </a:p>
        </p:txBody>
      </p:sp>
      <p:sp>
        <p:nvSpPr>
          <p:cNvPr id="5" name="3afd8bec-3757-4a35-95c8-2487dcffd892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f230ddf1-57b8-4235-8c52-b9251b7645d4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Client Type: Large Enterprises</a:t>
            </a:r>
            <a:endParaRPr lang="en-US" sz="1200" dirty="0"/>
          </a:p>
        </p:txBody>
      </p:sp>
      <p:sp>
        <p:nvSpPr>
          <p:cNvPr id="7" name="f7b82eae-6e6e-4dba-80a8-fdae1b493443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needs</a:t>
            </a:r>
            <a:endParaRPr lang="en-US" sz="1000" dirty="0"/>
          </a:p>
        </p:txBody>
      </p:sp>
      <p:sp>
        <p:nvSpPr>
          <p:cNvPr id="8" name="d739fc66-6aa3-4173-b0d5-f205267a1ce9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9" name="34dec69a-a9b7-4e12-9d22-0cbbd44c0b43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37f70f86-1466-4364-9e38-a6c3282ac053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Engagement: Long-term</a:t>
            </a:r>
            <a:endParaRPr lang="en-US" sz="1200" dirty="0"/>
          </a:p>
        </p:txBody>
      </p:sp>
      <p:sp>
        <p:nvSpPr>
          <p:cNvPr id="11" name="5c29b451-225d-4747-b9ac-33d22d069149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scope</a:t>
            </a:r>
            <a:endParaRPr lang="en-US" sz="1000" dirty="0"/>
          </a:p>
        </p:txBody>
      </p:sp>
      <p:sp>
        <p:nvSpPr>
          <p:cNvPr id="12" name="7cee79a0-048f-44c5-a069-84688ba3b8de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13" name="bf034e5a-fafa-48ba-9500-05743ac074dc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176744fe-b0fe-4b43-b07b-63ef70957480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Areas: Limited Scope</a:t>
            </a:r>
            <a:endParaRPr lang="en-US" sz="1200" dirty="0"/>
          </a:p>
        </p:txBody>
      </p:sp>
      <p:sp>
        <p:nvSpPr>
          <p:cNvPr id="15" name="88d27d94-f31e-464b-9e2c-09a46d052fb7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focus</a:t>
            </a:r>
            <a:endParaRPr lang="en-US" sz="1000" dirty="0"/>
          </a:p>
        </p:txBody>
      </p:sp>
      <p:sp>
        <p:nvSpPr>
          <p:cNvPr id="16" name="215f73f5-e212-44e9-8765-bd531192d218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17" name="ca7ea9fd-512e-4380-a8ed-77072b7aca74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9e708ebb-c43e-4b53-9ad6-d1fa23620c0e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5821570-82dc-4fd4-bc94-9ceb7fd03ff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 Strategies</a:t>
            </a:r>
            <a:endParaRPr lang="en-US" sz="2800" dirty="0"/>
          </a:p>
        </p:txBody>
      </p:sp>
      <p:sp>
        <p:nvSpPr>
          <p:cNvPr id="3" name="ac16ac14-80cb-46cb-b0b3-3d36f2d3432c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Challenges in Cloud ERP Engagements</a:t>
            </a:r>
            <a:endParaRPr lang="en-US" sz="1400" dirty="0"/>
          </a:p>
        </p:txBody>
      </p:sp>
      <p:sp>
        <p:nvSpPr>
          <p:cNvPr id="4" name="8c571089-8f46-4a6e-a082-38f35a348307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migration challenges are addressed through robust controls and governance frameworks.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risks are mitigated by comprehensive client engagement and support programs. [From: 2026-01-12T13-21-43-361Z_Magic_Quadrant_for_C_806200_ndx.pdf - Page 103]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issues are proactively managed through adherence to industry standards and regulations. [From: 2026-01-12T13-21-43-361Z_Magic_Quadrant_for_C_806200_ndx.pdf - Page 103]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GenAI governance ensures ethical and responsible use of AI technologies. [From: 2026-01-12T13-21-31-281Z_Live Briefing Guidelines for Cloud ERP Services, 2026.pdf - Page 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risks are minimized through a well-structured organizational framework and skilled workforce. [From: 2026-01-12T13-21-43-361Z_Magic_Quadrant_for_C_806200_ndx.pdf - Page 103]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risk mitigation strategies have resulted in improved client satisfaction and successful project outcomes. [From: 2026-01-12T13-21-43-361Z_Magic_Quadrant_for_C_806200_ndx.pdf - Page 103]</a:t>
            </a:r>
            <a:endParaRPr lang="en-US" sz="1600" dirty="0"/>
          </a:p>
        </p:txBody>
      </p:sp>
      <p:sp>
        <p:nvSpPr>
          <p:cNvPr id="5" name="2c85718b-6ed8-49fd-9a39-4432abedab11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ebd10237-45bc-4766-a20e-e4aa657d40bc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2026-01-12T13-21-43-361Z_Magic_Quadrant_for_C_806200_ndx.pdf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332458c-ef4a-480e-ae93-f280100fc66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Value Proposition, and Key Differentiators</a:t>
            </a:r>
            <a:endParaRPr lang="en-US" sz="2400" dirty="0"/>
          </a:p>
        </p:txBody>
      </p:sp>
      <p:sp>
        <p:nvSpPr>
          <p:cNvPr id="3" name="9a6858f0-078b-4438-aec9-c8b420bb6570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strategy focuses on delivering industry-specific, client-centric solutions.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proposition emphasizes innovation, strategic partnerships, and transformative outcomes. [From: 2026-01-12T13-21-31-281Z_Live Briefing Guidelines for Cloud ERP Services, 2026.pdf - Page 3]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differentiates itself through its commitment to sustainability and impact-driven solutions. [From: 2026-01-12T13-21-14-435Z_Final 2022 S4HANA Svcs MQ VB IBM (02_15_22).pdf - Page 6]</a:t>
            </a:r>
            <a:endParaRPr lang="en-US" sz="1400" dirty="0"/>
          </a:p>
        </p:txBody>
      </p:sp>
      <p:sp>
        <p:nvSpPr>
          <p:cNvPr id="4" name="30d1a5bb-4901-4fc3-a969-c897a08d3518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 include a robust ecosystem of partners and proprietary innovation platforms. [From: 2026-01-12T13-21-43-361Z_Magic_Quadrant_for_C_806200_ndx.pdf - Page 87]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strategic focus on automation enhances operational efficiency and client outcomes. [From: 2026-01-12T13-21-43-361Z_Magic_Quadrant_for_C_806200_ndx.pdf - Page 87]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is recognized for its ability to adapt to evolving market needs and deliver tailored solutions. [From: 2026-01-12T13-21-43-361Z_Magic_Quadrant_for_C_806200_ndx.pdf - Page 87]</a:t>
            </a:r>
            <a:endParaRPr lang="en-US" sz="1400" dirty="0"/>
          </a:p>
        </p:txBody>
      </p:sp>
      <p:sp>
        <p:nvSpPr>
          <p:cNvPr id="5" name="775e46ad-ead5-4b29-8ee3-0830862d84db"/>
          <p:cNvSpPr/>
          <p:nvPr/>
        </p:nvSpPr>
        <p:spPr>
          <a:xfrm>
            <a:off x="45720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6" name="283b0579-f314-4759-ab75-eaf296c47c55"/>
          <p:cNvSpPr/>
          <p:nvPr/>
        </p:nvSpPr>
        <p:spPr>
          <a:xfrm>
            <a:off x="54864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Focus: Industry-specific</a:t>
            </a:r>
            <a:endParaRPr lang="en-US" sz="1200" dirty="0"/>
          </a:p>
        </p:txBody>
      </p:sp>
      <p:sp>
        <p:nvSpPr>
          <p:cNvPr id="7" name="2333a71e-5cf0-44e9-8ffc-989bac8d8234"/>
          <p:cNvSpPr/>
          <p:nvPr/>
        </p:nvSpPr>
        <p:spPr>
          <a:xfrm>
            <a:off x="54864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Client-centric solutions</a:t>
            </a:r>
            <a:endParaRPr lang="en-US" sz="1000" dirty="0"/>
          </a:p>
        </p:txBody>
      </p:sp>
      <p:sp>
        <p:nvSpPr>
          <p:cNvPr id="8" name="437fe455-7d6f-4dea-8898-f0a9fa6f3260"/>
          <p:cNvSpPr/>
          <p:nvPr/>
        </p:nvSpPr>
        <p:spPr>
          <a:xfrm>
            <a:off x="54864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9" name="e6f0c4ad-cf2b-4ea5-9260-5e99eca35ad6"/>
          <p:cNvSpPr/>
          <p:nvPr/>
        </p:nvSpPr>
        <p:spPr>
          <a:xfrm>
            <a:off x="329184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ad23fb70-d606-4c8c-a6da-d5022f51c2a6"/>
          <p:cNvSpPr/>
          <p:nvPr/>
        </p:nvSpPr>
        <p:spPr>
          <a:xfrm>
            <a:off x="338328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 Innovative</a:t>
            </a:r>
            <a:endParaRPr lang="en-US" sz="1200" dirty="0"/>
          </a:p>
        </p:txBody>
      </p:sp>
      <p:sp>
        <p:nvSpPr>
          <p:cNvPr id="11" name="3e1c2ed4-002c-4526-b63c-3f304347c33f"/>
          <p:cNvSpPr/>
          <p:nvPr/>
        </p:nvSpPr>
        <p:spPr>
          <a:xfrm>
            <a:off x="338328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Transformative outcomes</a:t>
            </a:r>
            <a:endParaRPr lang="en-US" sz="1000" dirty="0"/>
          </a:p>
        </p:txBody>
      </p:sp>
      <p:sp>
        <p:nvSpPr>
          <p:cNvPr id="12" name="b1c5a0d5-fb4e-4360-980a-3a32e1f2b76e"/>
          <p:cNvSpPr/>
          <p:nvPr/>
        </p:nvSpPr>
        <p:spPr>
          <a:xfrm>
            <a:off x="338328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13" name="2192ebdf-d097-4488-a4f1-e04ffffd863e"/>
          <p:cNvSpPr/>
          <p:nvPr/>
        </p:nvSpPr>
        <p:spPr>
          <a:xfrm>
            <a:off x="6126480" y="5120640"/>
            <a:ext cx="2743200" cy="82296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93494560-52f5-440f-afd4-7667c5fe0f72"/>
          <p:cNvSpPr/>
          <p:nvPr/>
        </p:nvSpPr>
        <p:spPr>
          <a:xfrm>
            <a:off x="6217920" y="5166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Differentiators: Proprietary Platforms</a:t>
            </a:r>
            <a:endParaRPr lang="en-US" sz="1200" dirty="0"/>
          </a:p>
        </p:txBody>
      </p:sp>
      <p:sp>
        <p:nvSpPr>
          <p:cNvPr id="15" name="73dfce16-9a5b-4958-a113-ac5dae577704"/>
          <p:cNvSpPr/>
          <p:nvPr/>
        </p:nvSpPr>
        <p:spPr>
          <a:xfrm>
            <a:off x="6217920" y="5486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ecosystem</a:t>
            </a:r>
            <a:endParaRPr lang="en-US" sz="1000" dirty="0"/>
          </a:p>
        </p:txBody>
      </p:sp>
      <p:sp>
        <p:nvSpPr>
          <p:cNvPr id="16" name="15aba025-3be0-4892-8b18-59001b2c0b36"/>
          <p:cNvSpPr/>
          <p:nvPr/>
        </p:nvSpPr>
        <p:spPr>
          <a:xfrm>
            <a:off x="621792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2026-01-12T13-21-43-361Z_Magic_Quadrant_for_C_806200_ndx.pdf</a:t>
            </a:r>
            <a:endParaRPr lang="en-US" sz="900" dirty="0"/>
          </a:p>
        </p:txBody>
      </p:sp>
      <p:sp>
        <p:nvSpPr>
          <p:cNvPr id="17" name="16c47653-3ec7-46c1-82cd-c74163c90467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8" name="f401c622-4eaa-447f-a5fd-48113bb47cfb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f3f6037-cd17-45aa-8762-438d29d69254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Talent Management Strategies</a:t>
            </a:r>
            <a:endParaRPr lang="en-US" sz="2400" dirty="0"/>
          </a:p>
        </p:txBody>
      </p:sp>
      <p:sp>
        <p:nvSpPr>
          <p:cNvPr id="3" name="a2f09a99-0565-49c7-a304-8b1314cb9aa6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774b7f69-134f-464d-b84e-9cc3e8be5b43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Acquisition</a:t>
            </a:r>
            <a:endParaRPr lang="en-US" sz="1200" dirty="0"/>
          </a:p>
        </p:txBody>
      </p:sp>
      <p:sp>
        <p:nvSpPr>
          <p:cNvPr id="5" name="21ac0b9a-14a3-4521-8efe-d4b087a0a85e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2400" dirty="0"/>
          </a:p>
        </p:txBody>
      </p:sp>
      <p:sp>
        <p:nvSpPr>
          <p:cNvPr id="6" name="3186fa8f-041b-4a3b-b7b1-7dc09d94c104"/>
          <p:cNvSpPr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industry expertise</a:t>
            </a:r>
            <a:endParaRPr lang="en-US" sz="1000" dirty="0"/>
          </a:p>
        </p:txBody>
      </p:sp>
      <p:sp>
        <p:nvSpPr>
          <p:cNvPr id="7" name="88011b28-1f32-49fb-8083-3106d2797817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8" name="73afa2b0-2fbb-41db-a92e-7fa0fd5a3ecc"/>
          <p:cNvSpPr/>
          <p:nvPr/>
        </p:nvSpPr>
        <p:spPr>
          <a:xfrm>
            <a:off x="329184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9" name="4b57bb7d-3cae-4161-9302-8bbff3f80e14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10" name="71afa2eb-9c2b-452a-bf89-081058922e88"/>
          <p:cNvSpPr/>
          <p:nvPr/>
        </p:nvSpPr>
        <p:spPr>
          <a:xfrm>
            <a:off x="338328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2400" dirty="0"/>
          </a:p>
        </p:txBody>
      </p:sp>
      <p:sp>
        <p:nvSpPr>
          <p:cNvPr id="11" name="8597d8f8-8d01-4acf-a6f3-1d4605487d0b"/>
          <p:cNvSpPr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workforce stability</a:t>
            </a:r>
            <a:endParaRPr lang="en-US" sz="1000" dirty="0"/>
          </a:p>
        </p:txBody>
      </p:sp>
      <p:sp>
        <p:nvSpPr>
          <p:cNvPr id="12" name="7ee912eb-75f7-4082-b168-3ec9557429b2"/>
          <p:cNvSpPr/>
          <p:nvPr/>
        </p:nvSpPr>
        <p:spPr>
          <a:xfrm>
            <a:off x="33832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{TO_FILL}</a:t>
            </a:r>
            <a:endParaRPr lang="en-US" sz="900" dirty="0"/>
          </a:p>
        </p:txBody>
      </p:sp>
      <p:sp>
        <p:nvSpPr>
          <p:cNvPr id="13" name="e2c45916-4af8-4ca8-bc34-cbbe8825ccb2"/>
          <p:cNvSpPr/>
          <p:nvPr/>
        </p:nvSpPr>
        <p:spPr>
          <a:xfrm>
            <a:off x="6126480" y="1371600"/>
            <a:ext cx="274320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4" name="0a4e23fa-71bb-4e90-b36a-3a709b56d3db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Development</a:t>
            </a:r>
            <a:endParaRPr lang="en-US" sz="1200" dirty="0"/>
          </a:p>
        </p:txBody>
      </p:sp>
      <p:sp>
        <p:nvSpPr>
          <p:cNvPr id="15" name="812b6839-6c7d-46bb-8bbf-20a23bf32636"/>
          <p:cNvSpPr/>
          <p:nvPr/>
        </p:nvSpPr>
        <p:spPr>
          <a:xfrm>
            <a:off x="62179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2400" dirty="0"/>
          </a:p>
        </p:txBody>
      </p:sp>
      <p:sp>
        <p:nvSpPr>
          <p:cNvPr id="16" name="125e15d4-2717-4690-831a-3b5181dd0b79"/>
          <p:cNvSpPr/>
          <p:nvPr/>
        </p:nvSpPr>
        <p:spPr>
          <a:xfrm>
            <a:off x="6217920" y="2468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Up-skilling and re-skilling initiatives</a:t>
            </a:r>
            <a:endParaRPr lang="en-US" sz="1000" dirty="0"/>
          </a:p>
        </p:txBody>
      </p:sp>
      <p:sp>
        <p:nvSpPr>
          <p:cNvPr id="17" name="2b89f020-3fd9-4ec8-a3dd-a16124ca21fe"/>
          <p:cNvSpPr/>
          <p:nvPr/>
        </p:nvSpPr>
        <p:spPr>
          <a:xfrm>
            <a:off x="62179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2026-01-12T13-21-31-281Z_Live Briefing Guidelines for Cloud ERP Services, 2026.pdf</a:t>
            </a:r>
            <a:endParaRPr lang="en-US" sz="900" dirty="0"/>
          </a:p>
        </p:txBody>
      </p:sp>
      <p:sp>
        <p:nvSpPr>
          <p:cNvPr id="18" name="d38c71c5-49ee-41e2-b7db-e853b46dece1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9dc4411b-34bd-48d6-94bd-dfb51c318dca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5807b88-5e3e-4b0a-9ca7-488acce8d5b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Marketing and Sales Strategy</a:t>
            </a:r>
            <a:endParaRPr lang="en-US" sz="2800" dirty="0"/>
          </a:p>
        </p:txBody>
      </p:sp>
      <p:sp>
        <p:nvSpPr>
          <p:cNvPr id="3" name="771ef035-2acf-4c0d-b02b-9c0a95b127b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Market Leadership</a:t>
            </a:r>
            <a:endParaRPr lang="en-US" sz="1400" dirty="0"/>
          </a:p>
        </p:txBody>
      </p:sp>
      <p:sp>
        <p:nvSpPr>
          <p:cNvPr id="4" name="f7cccec7-30bd-4333-ac30-45dafce2b2ba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marketing strategy is characterized by clear, differentiated messaging that resonates with target audiences. [From: 2026-01-12T13-21-43-361Z_Magic_Quadrant_for_C_806200_ndx.pdf - Page 104]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strategy leverages a network of direct and indirect channels to maximize market reach. [From: 2026-01-12T13-21-43-361Z_Magic_Quadrant_for_C_806200_ndx.pdf - Page 104]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initiatives and thought leadership enhance IBM's brand visibility and client engagement. [From: 2026-01-12T13-21-43-361Z_Magic_Quadrant_for_C_806200_ndx.pdf - Page 103]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customer programs are designed to support client success and foster long-term relationships. [From: 2026-01-12T13-21-43-361Z_Magic_Quadrant_for_C_806200_ndx.pdf - Page 103]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maintains a strong focus on vertical and industry-specific marketing efforts. [From: 2026-01-12T13-21-43-361Z_Magic_Quadrant_for_C_806200_ndx.pdf - Page 87]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sales execution is aligned with its strategic goals, ensuring effective client engagement and solution delivery. [From: 2026-01-12T13-21-43-361Z_Magic_Quadrant_for_C_806200_ndx.pdf - Page 104]</a:t>
            </a:r>
            <a:endParaRPr lang="en-US" sz="1600" dirty="0"/>
          </a:p>
        </p:txBody>
      </p:sp>
      <p:sp>
        <p:nvSpPr>
          <p:cNvPr id="5" name="b7b88d09-59af-4ac0-9c17-61f14d6e889e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c91398d5-124a-4111-b6b2-3fd1a819abde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2026-01-12T13-21-43-361Z_Magic_Quadrant_for_C_806200_ndx.pdf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e8af8c-fe05-4771-ad77-4d22dbfdb21f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Two: Five Case Studies</a:t>
            </a:r>
            <a:endParaRPr lang="en-US" sz="2800" dirty="0"/>
          </a:p>
        </p:txBody>
      </p:sp>
      <p:sp>
        <p:nvSpPr>
          <p:cNvPr id="3" name="fd769265-ff60-41a2-a29a-96d97f6b25b8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(FM)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(HCM)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(SCM)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 Products Transformation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28b3ef6-d134-4024-a9b7-a1d21bdba6b6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2f8abc55-ba1d-45b9-a299-fd4a54507d70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8b35e586-cee2-45f3-b788-627545106996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5" name="20e3590f-f7b3-45c9-8349-4d581bb943b5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d6277241-2d9f-426c-8e65-572b9791c471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50dd7c7a-14f9-44d4-8235-41742f9aa15f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</a:t>
            </a:r>
            <a:endParaRPr lang="en-US" sz="1200" dirty="0"/>
          </a:p>
        </p:txBody>
      </p:sp>
      <p:sp>
        <p:nvSpPr>
          <p:cNvPr id="8" name="d5872653-ab51-433d-bbd6-8c0c427cb58c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ed0f0f3a-03f8-4c6e-b2a5-ba6f07c81e70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de79eb97-4e4d-4ba0-a302-92ecf00fe33c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</a:t>
            </a:r>
            <a:endParaRPr lang="en-US" sz="1200" dirty="0"/>
          </a:p>
        </p:txBody>
      </p:sp>
      <p:sp>
        <p:nvSpPr>
          <p:cNvPr id="11" name="897c2b91-f6bb-402e-afbe-46692c936939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73b493ba-b4df-46ae-b195-580dff81a401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5f1b941e-466a-4623-ad2a-c3fe7283c972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</a:t>
            </a:r>
            <a:endParaRPr lang="en-US" sz="1200" dirty="0"/>
          </a:p>
        </p:txBody>
      </p:sp>
      <p:sp>
        <p:nvSpPr>
          <p:cNvPr id="14" name="1392151f-69ec-45cc-a4ce-6a797a5daaf8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5eaaabff-7b20-4bc2-a698-5637686c26df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b56e86d6-2246-4755-8cc7-aaee5102d262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</a:t>
            </a:r>
            <a:endParaRPr lang="en-US" sz="1200" dirty="0"/>
          </a:p>
        </p:txBody>
      </p:sp>
      <p:sp>
        <p:nvSpPr>
          <p:cNvPr id="17" name="6b5f8669-5fdf-4b83-8765-bdfd990558e8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6eadbe-8b5a-4bf1-9350-c812625ddbbd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Financial Management (FM) Transformation</a:t>
            </a:r>
            <a:endParaRPr lang="en-US" sz="2400" dirty="0"/>
          </a:p>
        </p:txBody>
      </p:sp>
      <p:sp>
        <p:nvSpPr>
          <p:cNvPr id="3" name="fe54ec5e-a92b-4e5a-bdfe-32237bf90bcf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 (FM)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6b544d5-fd7a-4554-8ca8-3fe2683903a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HR and Payroll (HCM) Transformation</a:t>
            </a:r>
            <a:endParaRPr lang="en-US" sz="2400" dirty="0"/>
          </a:p>
        </p:txBody>
      </p:sp>
      <p:sp>
        <p:nvSpPr>
          <p:cNvPr id="3" name="6cba2fdd-070f-4afd-ae7d-3ef93904b30f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 (HCM)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ce1bd8-1f88-4b9c-9189-0d05185d4f0b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3: Supply Chain Management (SCM) Transformation</a:t>
            </a:r>
            <a:endParaRPr lang="en-US" sz="2400" dirty="0"/>
          </a:p>
        </p:txBody>
      </p:sp>
      <p:sp>
        <p:nvSpPr>
          <p:cNvPr id="3" name="7cc7efab-2836-4a18-a716-9fd2f1fffe8a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 (SCM)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7b2062a-3238-4fc3-b34b-26312772e4b9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4: Sourcing &amp; Procurement Transformation</a:t>
            </a:r>
            <a:endParaRPr lang="en-US" sz="2400" dirty="0"/>
          </a:p>
        </p:txBody>
      </p:sp>
      <p:sp>
        <p:nvSpPr>
          <p:cNvPr id="3" name="a8663f72-0a04-43e7-8a0a-b192f5a3c677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24a32d7-36dd-4564-952c-55ae3a64634f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5: Manufacture Products Transformation</a:t>
            </a:r>
            <a:endParaRPr lang="en-US" sz="2400" dirty="0"/>
          </a:p>
        </p:txBody>
      </p:sp>
      <p:sp>
        <p:nvSpPr>
          <p:cNvPr id="3" name="d422db47-cc45-4240-ae4e-799f8270784b"/>
          <p:cNvSpPr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Manufacture Products Transformation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Capabilities/IP: {TO_FILL}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{TO_FILL} ({TO_FILL})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d894a0f-9a8a-4a23-8b6c-4830901f098b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Case Studies</a:t>
            </a:r>
            <a:endParaRPr lang="en-US" sz="2800" dirty="0"/>
          </a:p>
        </p:txBody>
      </p:sp>
      <p:sp>
        <p:nvSpPr>
          <p:cNvPr id="3" name="3f62238d-d7a9-484f-8aae-4450cc4fb5f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IBM's Cloud ERP Services Case Studies</a:t>
            </a:r>
            <a:endParaRPr lang="en-US" sz="1400" dirty="0"/>
          </a:p>
        </p:txBody>
      </p:sp>
      <p:sp>
        <p:nvSpPr>
          <p:cNvPr id="4" name="f1a3416e-43c7-48a2-b8da-6d38cf447641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case studies cover Financial Management, HR and Payroll, Supply Chain Management, Sourcing &amp; Procurement, and Manufacturing Products transformations. [From: 2026-01-12T13-21-31-281Z_Live Briefing Guidelines for Cloud ERP Services, 2026.pdf - Page 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case study includes client problem, solution proposed, benefits derived, and capabilities utilized. [From: 2026-01-12T13-21-24-419Z_Gartner MQ &amp; CC Cloud ERP Services Q1 2026 Kick Off.pptx - Page 14]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studies demonstrate IBM's strategic execution and innovative solutions in Cloud ERP services. [From: 2026-01-12T13-21-31-281Z_Live Briefing Guidelines for Cloud ERP Services, 2026.pdf - Page 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Cloud ERP Services are designed to address complex client challenges across various sectors. [From: 2026-01-12T13-21-24-419Z_Gartner MQ &amp; CC Cloud ERP Services Q1 2026 Kick Off.pptx - Page 15]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studies provide proof points and client examples to illustrate IBM's capabilities. [From: 2026-01-12T13-21-31-281Z_Live Briefing Guidelines for Cloud ERP Services, 2026.pdf - Page 9]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approach is tailored to meet the specific needs of each client, ensuring successful outcomes. [From: 2026-01-12T13-21-24-419Z_Gartner MQ &amp; CC Cloud ERP Services Q1 2026 Kick Off.pptx - Page 19]</a:t>
            </a:r>
            <a:endParaRPr lang="en-US" sz="1600" dirty="0"/>
          </a:p>
        </p:txBody>
      </p:sp>
      <p:sp>
        <p:nvSpPr>
          <p:cNvPr id="5" name="7743ba69-b1c8-4dbd-8263-ae3199d5ac2d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6" name="9866830d-36ee-4322-9be1-f7e06a0ec5f1"/>
          <p:cNvSpPr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2026.pdf; 2026-01-12T13-21-24-419Z_Gartner MQ &amp; CC Cloud ERP Services Q1 2026 Kick Off.pptx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b472d53-8541-4796-8fed-8e9273f2fee8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Overview</a:t>
            </a:r>
            <a:endParaRPr lang="en-US" sz="2400" dirty="0"/>
          </a:p>
        </p:txBody>
      </p:sp>
      <p:sp>
        <p:nvSpPr>
          <p:cNvPr id="3" name="2caa0ef8-0140-48e3-96df-89b46b2ca272"/>
          <p:cNvSpPr/>
          <p:nvPr/>
        </p:nvSpPr>
        <p:spPr>
          <a:xfrm>
            <a:off x="45720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81695b4f-5b61-4114-97ef-2727b465e537"/>
          <p:cNvSpPr/>
          <p:nvPr/>
        </p:nvSpPr>
        <p:spPr>
          <a:xfrm>
            <a:off x="54864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Management Transformation</a:t>
            </a:r>
            <a:endParaRPr lang="en-US" sz="1200" dirty="0"/>
          </a:p>
        </p:txBody>
      </p:sp>
      <p:sp>
        <p:nvSpPr>
          <p:cNvPr id="5" name="b666d3d1-9f16-430f-a4fa-6542c48b5a24"/>
          <p:cNvSpPr/>
          <p:nvPr/>
        </p:nvSpPr>
        <p:spPr>
          <a:xfrm>
            <a:off x="54864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Financial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6" name="d993b74d-4cb5-4670-8837-a552946cc22d"/>
          <p:cNvSpPr/>
          <p:nvPr/>
        </p:nvSpPr>
        <p:spPr>
          <a:xfrm>
            <a:off x="4480560" y="137160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7" name="06db394e-05b3-42c0-a900-1aa9db65ea39"/>
          <p:cNvSpPr/>
          <p:nvPr/>
        </p:nvSpPr>
        <p:spPr>
          <a:xfrm>
            <a:off x="457200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Payroll Transformation</a:t>
            </a:r>
            <a:endParaRPr lang="en-US" sz="1200" dirty="0"/>
          </a:p>
        </p:txBody>
      </p:sp>
      <p:sp>
        <p:nvSpPr>
          <p:cNvPr id="8" name="be0e306b-d55f-4ae7-a923-f1224da728b0"/>
          <p:cNvSpPr/>
          <p:nvPr/>
        </p:nvSpPr>
        <p:spPr>
          <a:xfrm>
            <a:off x="4572000" y="17373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HR and Payroll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9" name="7e663ecf-2349-4821-ad1a-c1fb6260813b"/>
          <p:cNvSpPr/>
          <p:nvPr/>
        </p:nvSpPr>
        <p:spPr>
          <a:xfrm>
            <a:off x="45720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0" name="29179e47-00a5-4b7e-8341-a5b2945f08a9"/>
          <p:cNvSpPr/>
          <p:nvPr/>
        </p:nvSpPr>
        <p:spPr>
          <a:xfrm>
            <a:off x="54864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Management Transformation</a:t>
            </a:r>
            <a:endParaRPr lang="en-US" sz="1200" dirty="0"/>
          </a:p>
        </p:txBody>
      </p:sp>
      <p:sp>
        <p:nvSpPr>
          <p:cNvPr id="11" name="1c3022eb-aac2-41b5-9afa-8adad43f806e"/>
          <p:cNvSpPr/>
          <p:nvPr/>
        </p:nvSpPr>
        <p:spPr>
          <a:xfrm>
            <a:off x="54864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Supply Chain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2" name="cd36c209-2ab2-4391-8ee9-33f79cf90d08"/>
          <p:cNvSpPr/>
          <p:nvPr/>
        </p:nvSpPr>
        <p:spPr>
          <a:xfrm>
            <a:off x="4480560" y="301752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3" name="fc6985b2-4d27-4a6c-b199-421cf59e6264"/>
          <p:cNvSpPr/>
          <p:nvPr/>
        </p:nvSpPr>
        <p:spPr>
          <a:xfrm>
            <a:off x="457200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&amp; Procurement Transformation</a:t>
            </a:r>
            <a:endParaRPr lang="en-US" sz="1200" dirty="0"/>
          </a:p>
        </p:txBody>
      </p:sp>
      <p:sp>
        <p:nvSpPr>
          <p:cNvPr id="14" name="44c31dbe-b306-4f0d-8893-40fdbf717205"/>
          <p:cNvSpPr/>
          <p:nvPr/>
        </p:nvSpPr>
        <p:spPr>
          <a:xfrm>
            <a:off x="4572000" y="33832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Sourcing &amp; Procurement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5" name="36cd6e22-70e8-42df-9997-2be666e4e2b2"/>
          <p:cNvSpPr/>
          <p:nvPr/>
        </p:nvSpPr>
        <p:spPr>
          <a:xfrm>
            <a:off x="2468880" y="4663440"/>
            <a:ext cx="3474720" cy="1463040"/>
          </a:xfrm>
          <a:prstGeom prst="rect">
            <a:avLst/>
          </a:prstGeom>
          <a:solidFill>
            <a:srgbClr val="F4F4F4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6" name="6fdf5cd5-0261-439c-8f58-d515058a2d3f"/>
          <p:cNvSpPr/>
          <p:nvPr/>
        </p:nvSpPr>
        <p:spPr>
          <a:xfrm>
            <a:off x="256032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Products Transformation</a:t>
            </a:r>
            <a:endParaRPr lang="en-US" sz="1200" dirty="0"/>
          </a:p>
        </p:txBody>
      </p:sp>
      <p:sp>
        <p:nvSpPr>
          <p:cNvPr id="17" name="e997fb66-7b4e-4604-9348-c17b141268fb"/>
          <p:cNvSpPr/>
          <p:nvPr/>
        </p:nvSpPr>
        <p:spPr>
          <a:xfrm>
            <a:off x="2560320" y="5029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Manufacturing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Industry/Region: {TO_FILL} / {TO_FILL}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{TO_FILL} ({TO_FILL})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{TO_FILL}</a:t>
            </a:r>
            <a:endParaRPr lang="en-US" sz="1000" dirty="0"/>
          </a:p>
        </p:txBody>
      </p:sp>
      <p:sp>
        <p:nvSpPr>
          <p:cNvPr id="18" name="7cab58a4-1710-4447-9fc1-27693ea67bcf"/>
          <p:cNvSpPr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9" name="e2a184e1-2226-4139-a616-f6183b6c96c0"/>
          <p:cNvSpPr/>
          <p:nvPr/>
        </p:nvSpPr>
        <p:spPr>
          <a:xfrm>
            <a:off x="548640" y="6355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A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Evidence: 2026-01-12T13-21-31-281Z_Live Briefing Guidelines for Cloud ERP Services, 2026.pdf; 2026-01-12T13-21-24-419Z_Gartner MQ &amp; CC Cloud ERP Services Q1 2026 Kick Off.pptx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93fdd56-a427-46da-9687-ef749699731a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Three: Questions and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5972cf-f4a9-4c90-b2a0-d60a2cd179b6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Four: Slides on MQ and CC Submission</a:t>
            </a:r>
            <a:endParaRPr lang="en-US" sz="2800" dirty="0"/>
          </a:p>
        </p:txBody>
      </p:sp>
      <p:sp>
        <p:nvSpPr>
          <p:cNvPr id="3" name="76059513-1eb1-4046-98df-673ceb08743f"/>
          <p:cNvSpPr/>
          <p:nvPr/>
        </p:nvSpPr>
        <p:spPr>
          <a:xfrm>
            <a:off x="457200" y="18288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 Evaluation Criteria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– Proof Points and Client Examples</a:t>
            </a:r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Capabilities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