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</p:sldMasterIdLst>
  <p:notesMasterIdLst>
    <p:notesMasterId r:id="rId3"/>
  </p:notesMasterIdLst>
  <p:handoutMasterIdLst>
    <p:handoutMasterId r:id="rId4"/>
  </p:handoutMasterIdLst>
  <p:sldIdLst>
    <p:sldId r:id="rId11-created" id="256"/>
    <p:sldId r:id="rId12-created" id="257"/>
    <p:sldId r:id="rId13-created" id="258"/>
    <p:sldId r:id="rId14-created" id="259"/>
    <p:sldId r:id="rId15-created" id="260"/>
    <p:sldId r:id="rId16-created" id="261"/>
    <p:sldId r:id="rId17-created" id="262"/>
    <p:sldId r:id="rId18-created" id="263"/>
    <p:sldId r:id="rId19-created" id="264"/>
    <p:sldId r:id="rId20-created" id="265"/>
    <p:sldId r:id="rId21-created" id="266"/>
    <p:sldId r:id="rId22-created" id="267"/>
    <p:sldId r:id="rId23-created" id="268"/>
    <p:sldId r:id="rId24-created" id="269"/>
    <p:sldId r:id="rId25-created" id="270"/>
    <p:sldId r:id="rId26-created" id="271"/>
    <p:sldId r:id="rId27-created" id="272"/>
    <p:sldId r:id="rId28-created" id="273"/>
    <p:sldId r:id="rId29-created" id="274"/>
    <p:sldId r:id="rId30-created" id="275"/>
    <p:sldId r:id="rId31-created" id="276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240C83-B322-10D6-062F-819233246F17}" name="Diana Stanciulescu" initials="DS" userId="S::diana.stanciulescu@ro.ibm.com::8457c4d8-b183-4fb8-9506-2337bdfae6b8" providerId="AD"/>
  <p188:author id="{471F5894-9527-7E5F-AE6F-3881B44FA2B8}" name="Gabriel Barbu" initials="" userId="S::gabriel.barbu@ibm.com::3d0c1c4c-23d9-4258-9226-f99453c1293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26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94"/>
    <p:restoredTop sz="96327"/>
  </p:normalViewPr>
  <p:slideViewPr>
    <p:cSldViewPr snapToGrid="0" snapToObjects="1">
      <p:cViewPr varScale="1">
        <p:scale>
          <a:sx n="46" d="100"/>
          <a:sy n="46" d="100"/>
        </p:scale>
        <p:origin x="108" y="288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Relationship Id="rId11-created" Type="http://schemas.openxmlformats.org/officeDocument/2006/relationships/slide" Target="slides/slide2.xml"/><Relationship Id="rId12-created" Type="http://schemas.openxmlformats.org/officeDocument/2006/relationships/slide" Target="slides/slide3.xml"/><Relationship Id="rId13-created" Type="http://schemas.openxmlformats.org/officeDocument/2006/relationships/slide" Target="slides/slide4.xml"/><Relationship Id="rId14-created" Type="http://schemas.openxmlformats.org/officeDocument/2006/relationships/slide" Target="slides/slide5.xml"/><Relationship Id="rId15-created" Type="http://schemas.openxmlformats.org/officeDocument/2006/relationships/slide" Target="slides/slide6.xml"/><Relationship Id="rId16-created" Type="http://schemas.openxmlformats.org/officeDocument/2006/relationships/slide" Target="slides/slide7.xml"/><Relationship Id="rId17-created" Type="http://schemas.openxmlformats.org/officeDocument/2006/relationships/slide" Target="slides/slide8.xml"/><Relationship Id="rId18-created" Type="http://schemas.openxmlformats.org/officeDocument/2006/relationships/slide" Target="slides/slide9.xml"/><Relationship Id="rId19-created" Type="http://schemas.openxmlformats.org/officeDocument/2006/relationships/slide" Target="slides/slide10.xml"/><Relationship Id="rId20-created" Type="http://schemas.openxmlformats.org/officeDocument/2006/relationships/slide" Target="slides/slide11.xml"/><Relationship Id="rId21-created" Type="http://schemas.openxmlformats.org/officeDocument/2006/relationships/slide" Target="slides/slide12.xml"/><Relationship Id="rId22-created" Type="http://schemas.openxmlformats.org/officeDocument/2006/relationships/slide" Target="slides/slide13.xml"/><Relationship Id="rId23-created" Type="http://schemas.openxmlformats.org/officeDocument/2006/relationships/slide" Target="slides/slide14.xml"/><Relationship Id="rId24-created" Type="http://schemas.openxmlformats.org/officeDocument/2006/relationships/slide" Target="slides/slide15.xml"/><Relationship Id="rId25-created" Type="http://schemas.openxmlformats.org/officeDocument/2006/relationships/slide" Target="slides/slide16.xml"/><Relationship Id="rId26-created" Type="http://schemas.openxmlformats.org/officeDocument/2006/relationships/slide" Target="slides/slide17.xml"/><Relationship Id="rId27-created" Type="http://schemas.openxmlformats.org/officeDocument/2006/relationships/slide" Target="slides/slide18.xml"/><Relationship Id="rId28-created" Type="http://schemas.openxmlformats.org/officeDocument/2006/relationships/slide" Target="slides/slide19.xml"/><Relationship Id="rId29-created" Type="http://schemas.openxmlformats.org/officeDocument/2006/relationships/slide" Target="slides/slide20.xml"/><Relationship Id="rId30-created" Type="http://schemas.openxmlformats.org/officeDocument/2006/relationships/slide" Target="slides/slide21.xml"/><Relationship Id="rId31-created" Type="http://schemas.openxmlformats.org/officeDocument/2006/relationships/slide" Target="slides/slide2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Arial"/>
      <a:buChar char="–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Arial" panose="020B0604020202020204" pitchFamily="34" charset="0"/>
      <a:buChar char="•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Arial"/>
      <a:buChar char="–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Arial" charset="-120"/>
      <a:buChar char="»"/>
      <a:tabLst/>
      <a:defRPr sz="2000" b="0" i="0" kern="1200">
        <a:solidFill>
          <a:schemeClr val="bg1"/>
        </a:solidFill>
        <a:latin typeface="Arial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24387175" cy="121951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-1"/>
            <a:ext cx="24387175" cy="12195175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7043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0468" y="12479147"/>
            <a:ext cx="11038445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71499"/>
            <a:ext cx="11043132" cy="125786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0825"/>
            <a:ext cx="10099675" cy="9147175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69913"/>
            <a:ext cx="11043132" cy="12580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4942078" cy="421005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6675" y="574675"/>
            <a:ext cx="4953000" cy="11617318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6" y="574675"/>
            <a:ext cx="4941888" cy="11620500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6491" cy="2663825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4" y="301625"/>
            <a:ext cx="17141825" cy="8832850"/>
          </a:xfrm>
        </p:spPr>
        <p:txBody>
          <a:bodyPr/>
          <a:lstStyle>
            <a:lvl1pPr>
              <a:defRPr sz="16800" b="0" i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9909175" cy="420967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7252" y="384048"/>
            <a:ext cx="11042073" cy="87784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434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1025" y="311735"/>
            <a:ext cx="14649450" cy="10356265"/>
          </a:xfrm>
        </p:spPr>
        <p:txBody>
          <a:bodyPr/>
          <a:lstStyle>
            <a:lvl1pPr>
              <a:lnSpc>
                <a:spcPct val="100000"/>
              </a:lnSpc>
              <a:defRPr sz="8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576072"/>
            <a:ext cx="7623175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9994" y="9628222"/>
            <a:ext cx="11050588" cy="3353065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3587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2"/>
            <a:ext cx="7620000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7422" y="9628222"/>
            <a:ext cx="11049000" cy="335429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63093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7"/>
            <a:ext cx="4951413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68263" y="359806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334654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362979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0675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594475"/>
            <a:ext cx="11045952" cy="534009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025" y="307086"/>
            <a:ext cx="4949825" cy="533558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307086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7850" y="6097732"/>
            <a:ext cx="232346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1025" y="6594475"/>
            <a:ext cx="4946904" cy="534009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4048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2897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57517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957821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5125969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914082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9526645"/>
            <a:ext cx="4951411" cy="2668530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9670409"/>
            <a:ext cx="7620000" cy="25247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576072"/>
            <a:ext cx="4942078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247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70675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044825"/>
            <a:ext cx="0" cy="91454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047999"/>
            <a:ext cx="4951413" cy="9156701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048000"/>
            <a:ext cx="495300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8859500" y="576072"/>
            <a:ext cx="495935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59500" y="3048000"/>
            <a:ext cx="495935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3" y="3048000"/>
            <a:ext cx="4942078" cy="45783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6828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8031" y="3047999"/>
            <a:ext cx="494212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7" y="3047999"/>
            <a:ext cx="4941886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3142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384048"/>
            <a:ext cx="4942078" cy="3117978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2" y="384048"/>
            <a:ext cx="4951414" cy="220126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153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5153" y="3047999"/>
            <a:ext cx="10096500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3047999"/>
            <a:ext cx="10099675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3047999"/>
            <a:ext cx="100965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6491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1"/>
            <a:ext cx="4949825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71"/>
            <a:ext cx="4941888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2078" cy="3995927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3087"/>
            <a:ext cx="4953000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3087"/>
            <a:ext cx="4941888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9476" cy="421017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6" cy="3995927"/>
          </a:xfrm>
        </p:spPr>
        <p:txBody>
          <a:bodyPr rIns="0"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6675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42078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4949825" cy="4210177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31105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16790"/>
            <a:ext cx="4951413" cy="9188588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24765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3642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1" y="83820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2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4000"/>
            <a:ext cx="4948428" cy="3048000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8199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2" y="576072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3872"/>
            <a:ext cx="11044239" cy="4572128"/>
          </a:xfrm>
        </p:spPr>
        <p:txBody>
          <a:bodyPr rIns="457200"/>
          <a:lstStyle>
            <a:lvl1pPr>
              <a:lnSpc>
                <a:spcPct val="11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3088"/>
            <a:ext cx="4953000" cy="49447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3089"/>
            <a:ext cx="4959350" cy="49447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70674"/>
            <a:ext cx="4956048" cy="494690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70675"/>
            <a:ext cx="4953000" cy="494690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E66173E-891D-82A4-82E3-E5AEA6E5A2A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7DC8C2E8-4EA9-1F1F-90D5-4F81A603270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810613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297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3" y="576072"/>
            <a:ext cx="4942078" cy="3995928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384048"/>
            <a:ext cx="11036994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2DDB6A26-5D86-B23B-6F3C-2C3CB5694F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45FB691-1306-6B38-5976-DCC6B131E6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297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49D1F57-CBD7-AB1F-5A3C-1CE58F2696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17AC693-6388-34F4-29E0-3DC728E297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415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4" y="576071"/>
            <a:ext cx="4945063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6415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6673850"/>
            <a:ext cx="4945062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499" y="1524000"/>
            <a:ext cx="4956048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1524000"/>
            <a:ext cx="4953000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523999"/>
            <a:ext cx="4946904" cy="399909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499" y="7623594"/>
            <a:ext cx="4956048" cy="39982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63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63500" y="7623594"/>
            <a:ext cx="4956048" cy="399829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623594"/>
            <a:ext cx="4946904" cy="39982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83300"/>
            <a:ext cx="0" cy="61118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3041649"/>
            <a:ext cx="4946904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164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76073"/>
            <a:ext cx="11041253" cy="1257160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2422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71500"/>
            <a:ext cx="17137063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7850" y="571500"/>
            <a:ext cx="23226713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9248" y="3044825"/>
            <a:ext cx="2462402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9248" y="6096000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79248" y="9140825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766675" y="3044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2766675" y="6096000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2766675" y="9140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3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71499"/>
            <a:ext cx="17145000" cy="1162367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1527049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7500" y="12782487"/>
            <a:ext cx="5524500" cy="425450"/>
          </a:xfrm>
        </p:spPr>
        <p:txBody>
          <a:bodyPr anchor="b" anchorCtr="0"/>
          <a:lstStyle>
            <a:lvl1pPr>
              <a:defRPr sz="1600" b="0" i="0">
                <a:latin typeface="Arial" panose="020B06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9164AB-EDCE-C638-F61C-8C578896FB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1025" y="12896850"/>
            <a:ext cx="4946650" cy="311150"/>
          </a:xfrm>
        </p:spPr>
        <p:txBody>
          <a:bodyPr anchor="b" anchorCtr="0"/>
          <a:lstStyle>
            <a:lvl1pPr>
              <a:defRPr sz="1600" b="0" i="0">
                <a:latin typeface="Arial" panose="020B0604020202020204" pitchFamily="34" charset="0"/>
              </a:defRPr>
            </a:lvl1pPr>
            <a:lvl2pPr>
              <a:defRPr sz="1600" b="0" i="0">
                <a:latin typeface="Arial" panose="020B0503050203000203" pitchFamily="34" charset="0"/>
              </a:defRPr>
            </a:lvl2pPr>
            <a:lvl3pPr>
              <a:defRPr sz="1600" b="0" i="0">
                <a:latin typeface="Arial" panose="020B0503050203000203" pitchFamily="34" charset="0"/>
              </a:defRPr>
            </a:lvl3pPr>
            <a:lvl4pPr>
              <a:defRPr sz="1600" b="0" i="0">
                <a:latin typeface="Arial" panose="020B0503050203000203" pitchFamily="34" charset="0"/>
              </a:defRPr>
            </a:lvl4pPr>
            <a:lvl5pPr>
              <a:defRPr sz="16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US" dirty="0"/>
              <a:t>Footer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7F82DC0-D267-F23F-7E4C-1C2FF243E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US" dirty="0"/>
              <a:t>Lorem ipsum dolor sit amet donec quam felis ultricies nec pellentesque eu pretium quis sem. Nulla conset massa </a:t>
            </a:r>
            <a:br>
              <a:rPr lang="en-US" dirty="0"/>
            </a:br>
            <a:r>
              <a:rPr lang="en-US" dirty="0"/>
              <a:t>quis enim.</a:t>
            </a:r>
          </a:p>
        </p:txBody>
      </p:sp>
    </p:spTree>
    <p:extLst>
      <p:ext uri="{BB962C8B-B14F-4D97-AF65-F5344CB8AC3E}">
        <p14:creationId xmlns:p14="http://schemas.microsoft.com/office/powerpoint/2010/main" val="326491035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2422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62675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2422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3500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71922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60829" y="12951714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46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024" y="1282328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Footer text (optional)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3" r:id="rId1"/>
    <p:sldLayoutId id="2147483964" r:id="rId2"/>
    <p:sldLayoutId id="2147483965" r:id="rId3"/>
    <p:sldLayoutId id="2147483966" r:id="rId4"/>
    <p:sldLayoutId id="2147483967" r:id="rId5"/>
    <p:sldLayoutId id="2147483968" r:id="rId6"/>
    <p:sldLayoutId id="2147483969" r:id="rId7"/>
    <p:sldLayoutId id="2147483970" r:id="rId8"/>
    <p:sldLayoutId id="2147483971" r:id="rId9"/>
    <p:sldLayoutId id="2147483972" r:id="rId10"/>
    <p:sldLayoutId id="2147483973" r:id="rId11"/>
    <p:sldLayoutId id="2147483974" r:id="rId12"/>
    <p:sldLayoutId id="2147483975" r:id="rId13"/>
    <p:sldLayoutId id="2147483976" r:id="rId14"/>
    <p:sldLayoutId id="2147483977" r:id="rId15"/>
    <p:sldLayoutId id="2147483978" r:id="rId16"/>
    <p:sldLayoutId id="2147483979" r:id="rId17"/>
    <p:sldLayoutId id="2147483980" r:id="rId18"/>
    <p:sldLayoutId id="2147483981" r:id="rId19"/>
    <p:sldLayoutId id="2147483982" r:id="rId20"/>
    <p:sldLayoutId id="2147483983" r:id="rId21"/>
    <p:sldLayoutId id="2147483984" r:id="rId22"/>
    <p:sldLayoutId id="2147483985" r:id="rId23"/>
    <p:sldLayoutId id="2147483986" r:id="rId24"/>
    <p:sldLayoutId id="2147483987" r:id="rId25"/>
    <p:sldLayoutId id="2147483988" r:id="rId26"/>
    <p:sldLayoutId id="2147483989" r:id="rId27"/>
    <p:sldLayoutId id="2147483990" r:id="rId28"/>
    <p:sldLayoutId id="2147483991" r:id="rId29"/>
    <p:sldLayoutId id="2147483992" r:id="rId30"/>
    <p:sldLayoutId id="2147483993" r:id="rId31"/>
    <p:sldLayoutId id="2147483994" r:id="rId32"/>
    <p:sldLayoutId id="2147483995" r:id="rId33"/>
    <p:sldLayoutId id="2147483996" r:id="rId34"/>
    <p:sldLayoutId id="2147483997" r:id="rId35"/>
    <p:sldLayoutId id="2147483998" r:id="rId36"/>
    <p:sldLayoutId id="2147483999" r:id="rId37"/>
    <p:sldLayoutId id="2147484000" r:id="rId38"/>
    <p:sldLayoutId id="2147484001" r:id="rId39"/>
    <p:sldLayoutId id="2147484002" r:id="rId40"/>
    <p:sldLayoutId id="2147484003" r:id="rId41"/>
    <p:sldLayoutId id="2147484004" r:id="rId42"/>
    <p:sldLayoutId id="2147484005" r:id="rId43"/>
    <p:sldLayoutId id="2147484006" r:id="rId44"/>
    <p:sldLayoutId id="2147484007" r:id="rId45"/>
    <p:sldLayoutId id="2147484008" r:id="rId46"/>
    <p:sldLayoutId id="2147484009" r:id="rId47"/>
    <p:sldLayoutId id="2147484010" r:id="rId48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 userDrawn="1">
          <p15:clr>
            <a:srgbClr val="EE5396"/>
          </p15:clr>
        </p15:guide>
        <p15:guide id="20" orient="horz" pos="958" userDrawn="1">
          <p15:clr>
            <a:srgbClr val="EE5396"/>
          </p15:clr>
        </p15:guide>
        <p15:guide id="25" orient="horz" pos="7682" userDrawn="1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 userDrawn="1">
          <p15:clr>
            <a:srgbClr val="EE5396"/>
          </p15:clr>
        </p15:guide>
        <p15:guide id="32" orient="horz" pos="6720" userDrawn="1">
          <p15:clr>
            <a:srgbClr val="EE5396"/>
          </p15:clr>
        </p15:guide>
        <p15:guide id="33" orient="horz" pos="2880" userDrawn="1">
          <p15:clr>
            <a:srgbClr val="EE5396"/>
          </p15:clr>
        </p15:guide>
        <p15:guide id="34" orient="horz" pos="4800" userDrawn="1">
          <p15:clr>
            <a:srgbClr val="EE5396"/>
          </p15:clr>
        </p15:guide>
        <p15:guide id="35" orient="horz" pos="5758" userDrawn="1">
          <p15:clr>
            <a:srgbClr val="EE5396"/>
          </p15:clr>
        </p15:guide>
        <p15:guide id="36" orient="horz" pos="8284" userDrawn="1">
          <p15:clr>
            <a:srgbClr val="9FCC3B"/>
          </p15:clr>
        </p15:guide>
        <p15:guide id="37" orient="horz" pos="3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6a0f0d8-22b5-4388-9799-fb193a89a5cd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Analyst Briefing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d6fcb08-5011-4d85-af01-ac64da4317f6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One: Vision and Execution</a:t>
            </a:r>
            <a:endParaRPr lang="en-US" sz="2800" dirty="0"/>
          </a:p>
        </p:txBody>
      </p:sp>
      <p:sp>
        <p:nvSpPr>
          <p:cNvPr id="3" name="941d1aa9-63fd-46d0-b186-34b3acac33f8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Centers of Excellence &amp; Innovation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&amp; Areas for Improvement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Spots &amp; Square Pegs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and Mitigation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Strategy, Value Proposition, and Key Differentiators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2db576e-794c-4e3f-9d2f-b79a3451894e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Vision for Cloud ERP Services</a:t>
            </a:r>
            <a:endParaRPr lang="en-US" sz="2800" dirty="0"/>
          </a:p>
        </p:txBody>
      </p:sp>
      <p:sp>
        <p:nvSpPr>
          <p:cNvPr id="3" name="046ec97e-c99e-4666-a8b3-13f489561c0c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Transformative Business Outcomes</a:t>
            </a:r>
            <a:endParaRPr lang="en-US" sz="1400" dirty="0"/>
          </a:p>
        </p:txBody>
      </p:sp>
      <p:sp>
        <p:nvSpPr>
          <p:cNvPr id="4" name="f47319f1-c1f4-466a-a3a6-a58e96aa7c51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has transformed its portfolio to lead the shift to cloud ERP, reducing technical debt and adopting new IT models. [From: Microsoft MQ &amp; CC_Cloud-ERP-Services_IBM_05-Dec-2025.xlsx - Sales Strategy L]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strategy involves comprehensive cloud migration and ERP transformation capabilities with an end-to-end approach. [From: Microsoft MQ &amp; CC_Cloud-ERP-Services_IBM_05-Dec-2025.xlsx - Sales Strategy L]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global presence spans 65 countries with over 160,000 consultants, offering advisory, transformation, implementation, and managed services. [From: 2026-01-12T13-21-24-419Z_Gartner MQ &amp; CC Cloud ERP Services Q1 2026 Kick Off.pptx - Page 6]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leverage cross-IBM capabilities, including IBM Technology, IBM Research, and the Institute for Business Value, to deliver innovation. [From: 2026-01-12T13-21-24-419Z_Gartner MQ &amp; CC Cloud ERP Services Q1 2026 Kick Off.pptx - Page 6]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partnerships with SAP, Oracle, Microsoft, and Workday enhance our ability to deliver tailored solutions. [From: 2026-01-12T13-21-14-435Z_Final 2022 S4HANA Svcs MQ VB IBM (02_15_22).pdf - Page 5]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 emphasizes a strategic and transformational methodology, unlocking the full potential of cloud capabilities. [From: 2026-01-12T13-21-43-361Z_Magic_Quadrant_for_C_806200_ndx.pdf - Page 41]</a:t>
            </a:r>
            <a:endParaRPr lang="en-US" sz="1600" dirty="0"/>
          </a:p>
        </p:txBody>
      </p:sp>
      <p:sp>
        <p:nvSpPr>
          <p:cNvPr id="5" name="c7c32992-a6d7-48e7-b70c-f2bcb8d34f2b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e4ce5007-d5d7-487c-8702-173afd774c31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Microsoft MQ &amp; CC_Cloud-ERP-Services_IBM_05-Dec-2025.xlsx; 2026-01-12T13-21-24-419Z_Gartner MQ &amp; CC Cloud ERP Services Q1 2026 Kick Off.pptx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9e0a989-1402-4445-bbc3-9bc9fb2aec14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Cloud ERP Solutions</a:t>
            </a:r>
            <a:endParaRPr lang="en-US" sz="2400" dirty="0"/>
          </a:p>
        </p:txBody>
      </p:sp>
      <p:sp>
        <p:nvSpPr>
          <p:cNvPr id="3" name="1fa004c9-3ab0-4922-babd-c0b1f5aea2f9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conducts thorough research on client industry and challenges to identify key pain points. [From: Microsoft MQ &amp; CC_Cloud-ERP-Services_IBM_05-Dec-2025.xlsx - Sales Strategy L]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tailored solutions blend IBM's capabilities with client-specific requirements, using a use case-based approach. [From: Microsoft MQ &amp; CC_Cloud-ERP-Services_IBM_05-Dec-2025.xlsx - Sales Strategy L]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offer ERP Roadmap Planning to assess current solutions and identify opportunities for value enhancement. [From: Microsoft MQ &amp; CC_Cloud-ERP-Services_IBM_05-Dec-2025.xlsx - Sales Strategy L]</a:t>
            </a:r>
            <a:endParaRPr lang="en-US" sz="1400" dirty="0"/>
          </a:p>
        </p:txBody>
      </p:sp>
      <p:sp>
        <p:nvSpPr>
          <p:cNvPr id="4" name="ccb03061-7688-481d-ab97-9100f8385eec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 Capacity model provides scalable support for client-driven improvements. [From: Microsoft MQ &amp; CC_Cloud-ERP-Services_IBM_05-Dec-2025.xlsx - Sales Strategy L]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Garage methodology ensures co-creation and co-execution of solutions with clients. [From: Microsoft MQ &amp; CC_Cloud-ERP-Services_IBM_05-Dec-2025.xlsx - Sales Strategy L]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commercial proposition leverages global delivery with local input for optimized services at competitive prices. [From: Microsoft MQ &amp; CC_Cloud-ERP-Services_IBM_05-Dec-2025.xlsx - Sales Strategy L]</a:t>
            </a:r>
            <a:endParaRPr lang="en-US" sz="1400" dirty="0"/>
          </a:p>
        </p:txBody>
      </p:sp>
      <p:sp>
        <p:nvSpPr>
          <p:cNvPr id="5" name="3db2a6ff-8c94-46bb-a5c6-830e94e26cfd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7333fde8-5674-4f45-903e-0779102d806b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Countries: 65+</a:t>
            </a:r>
            <a:endParaRPr lang="en-US" sz="1200" dirty="0"/>
          </a:p>
        </p:txBody>
      </p:sp>
      <p:sp>
        <p:nvSpPr>
          <p:cNvPr id="7" name="26ac6270-f259-4a13-8d54-6c556bd74b1d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Presence</a:t>
            </a:r>
            <a:endParaRPr lang="en-US" sz="1000" dirty="0"/>
          </a:p>
        </p:txBody>
      </p:sp>
      <p:sp>
        <p:nvSpPr>
          <p:cNvPr id="8" name="dc492717-c861-4c9a-9fe4-4dfe8a999d2f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[From: 2026-01-12T13-21-24-419Z_Gartner MQ &amp; CC Cloud ERP Services Q1 2026 Kick Off.pptx - Page 6]</a:t>
            </a:r>
            <a:endParaRPr lang="en-US" sz="900" dirty="0"/>
          </a:p>
        </p:txBody>
      </p:sp>
      <p:sp>
        <p:nvSpPr>
          <p:cNvPr id="9" name="0efc764b-2abe-465d-94e1-2297121f80a4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f354d599-38f3-48aa-be98-27614cd7c375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Consultants: 160,000+</a:t>
            </a:r>
            <a:endParaRPr lang="en-US" sz="1200" dirty="0"/>
          </a:p>
        </p:txBody>
      </p:sp>
      <p:sp>
        <p:nvSpPr>
          <p:cNvPr id="11" name="d8d48c9f-f48b-4c34-9035-815548666b88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Capabilities</a:t>
            </a:r>
            <a:endParaRPr lang="en-US" sz="1000" dirty="0"/>
          </a:p>
        </p:txBody>
      </p:sp>
      <p:sp>
        <p:nvSpPr>
          <p:cNvPr id="12" name="57e4bf61-fe5a-465b-921e-8e88d3e521a2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[From: 2026-01-12T13-21-24-419Z_Gartner MQ &amp; CC Cloud ERP Services Q1 2026 Kick Off.pptx - Page 6]</a:t>
            </a:r>
            <a:endParaRPr lang="en-US" sz="900" dirty="0"/>
          </a:p>
        </p:txBody>
      </p:sp>
      <p:sp>
        <p:nvSpPr>
          <p:cNvPr id="13" name="4239a1a0-4e44-422b-996a-c40a11e71e95"/>
          <p:cNvSpPr/>
          <p:nvPr/>
        </p:nvSpPr>
        <p:spPr>
          <a:xfrm>
            <a:off x="612648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0bbd837b-7f03-46b6-849b-fc98dad8dfb7"/>
          <p:cNvSpPr/>
          <p:nvPr/>
        </p:nvSpPr>
        <p:spPr>
          <a:xfrm>
            <a:off x="621792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Rate: 76-100%</a:t>
            </a:r>
            <a:endParaRPr lang="en-US" sz="1200" dirty="0"/>
          </a:p>
        </p:txBody>
      </p:sp>
      <p:sp>
        <p:nvSpPr>
          <p:cNvPr id="15" name="0ceea688-072d-4994-b80e-d262aa008e76"/>
          <p:cNvSpPr/>
          <p:nvPr/>
        </p:nvSpPr>
        <p:spPr>
          <a:xfrm>
            <a:off x="621792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Cloud Services</a:t>
            </a:r>
            <a:endParaRPr lang="en-US" sz="1000" dirty="0"/>
          </a:p>
        </p:txBody>
      </p:sp>
      <p:sp>
        <p:nvSpPr>
          <p:cNvPr id="16" name="eabd6f80-dba0-4078-9248-a4b6c27ae77e"/>
          <p:cNvSpPr/>
          <p:nvPr/>
        </p:nvSpPr>
        <p:spPr>
          <a:xfrm>
            <a:off x="621792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[From: Microsoft MQ &amp; CC_Cloud-ERP-Services_IBM_05-Dec-2025.xlsx - Market Responsiveness-Record M]</a:t>
            </a:r>
            <a:endParaRPr lang="en-US" sz="900" dirty="0"/>
          </a:p>
        </p:txBody>
      </p:sp>
      <p:sp>
        <p:nvSpPr>
          <p:cNvPr id="17" name="46a2c1ea-db35-4466-95f4-1799427fa71a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8" name="aa7a78aa-6df0-48a2-adf7-7ba5eef1147a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Microsoft MQ &amp; CC_Cloud-ERP-Services_IBM_05-Dec-2025.xlsx; 2026-01-12T13-21-24-419Z_Gartner MQ &amp; CC Cloud ERP Services Q1 2026 Kick Off.pptx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9a50195-c1de-47e8-9520-124d4a13b5df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 in 2025</a:t>
            </a:r>
            <a:endParaRPr lang="en-US" sz="2400" dirty="0"/>
          </a:p>
        </p:txBody>
      </p:sp>
      <p:sp>
        <p:nvSpPr>
          <p:cNvPr id="3" name="523a9fa9-648a-4569-b11f-ecb1e8d01f94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4689608d-234f-4067-ac28-71b14b17c4d1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Certifications</a:t>
            </a:r>
            <a:endParaRPr lang="en-US" sz="1200" dirty="0"/>
          </a:p>
        </p:txBody>
      </p:sp>
      <p:sp>
        <p:nvSpPr>
          <p:cNvPr id="5" name="a7434029-e643-498d-8719-84a8c1f209da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4,000+</a:t>
            </a:r>
            <a:endParaRPr lang="en-US" sz="2400" dirty="0"/>
          </a:p>
        </p:txBody>
      </p:sp>
      <p:sp>
        <p:nvSpPr>
          <p:cNvPr id="6" name="1c02b89b-f119-43eb-a52f-34ba652e7df9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Expertise Development</a:t>
            </a:r>
            <a:endParaRPr lang="en-US" sz="1000" dirty="0"/>
          </a:p>
        </p:txBody>
      </p:sp>
      <p:sp>
        <p:nvSpPr>
          <p:cNvPr id="7" name="eec0a22c-a243-4f97-9b41-accbb4b2fbfc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[From: 2026-01-12T13-34-54-775Z_MQ - 2024 - Cloud ERP Services Submission 6-21-24 (FINAL).pptx - Page 14]</a:t>
            </a:r>
            <a:endParaRPr lang="en-US" sz="900" dirty="0"/>
          </a:p>
        </p:txBody>
      </p:sp>
      <p:sp>
        <p:nvSpPr>
          <p:cNvPr id="8" name="6c46df54-5b87-46f0-abc3-96db4fe14ee6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da121a38-45b6-43f5-96c3-b12c356a1f4d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Implementations</a:t>
            </a:r>
            <a:endParaRPr lang="en-US" sz="1200" dirty="0"/>
          </a:p>
        </p:txBody>
      </p:sp>
      <p:sp>
        <p:nvSpPr>
          <p:cNvPr id="10" name="48230328-2ac3-4292-bf17-5ae77e8d4193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800+</a:t>
            </a:r>
            <a:endParaRPr lang="en-US" sz="2400" dirty="0"/>
          </a:p>
        </p:txBody>
      </p:sp>
      <p:sp>
        <p:nvSpPr>
          <p:cNvPr id="11" name="95ec76f4-5392-451a-acb0-9334848dcb19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Experience</a:t>
            </a:r>
            <a:endParaRPr lang="en-US" sz="1000" dirty="0"/>
          </a:p>
        </p:txBody>
      </p:sp>
      <p:sp>
        <p:nvSpPr>
          <p:cNvPr id="12" name="d9f23278-bf22-49f9-95d8-e0a31fb0393d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[From: 2026-01-12T13-21-24-419Z_Gartner MQ &amp; CC Cloud ERP Services Q1 2026 Kick Off.pptx - Page 7]</a:t>
            </a:r>
            <a:endParaRPr lang="en-US" sz="900" dirty="0"/>
          </a:p>
        </p:txBody>
      </p:sp>
      <p:sp>
        <p:nvSpPr>
          <p:cNvPr id="13" name="cdf18806-75b5-47fa-a82b-d4ab28da4fb0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5879d8ec-0524-4f90-b800-f901d5b44a7e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Agencies</a:t>
            </a:r>
            <a:endParaRPr lang="en-US" sz="1200" dirty="0"/>
          </a:p>
        </p:txBody>
      </p:sp>
      <p:sp>
        <p:nvSpPr>
          <p:cNvPr id="15" name="08347cb9-b52e-4963-ba67-ccfff06973c0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2400" dirty="0"/>
          </a:p>
        </p:txBody>
      </p:sp>
      <p:sp>
        <p:nvSpPr>
          <p:cNvPr id="16" name="dc0d974e-99ed-4a7a-af46-b94733cb6a2e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Sector Engagement</a:t>
            </a:r>
            <a:endParaRPr lang="en-US" sz="1000" dirty="0"/>
          </a:p>
        </p:txBody>
      </p:sp>
      <p:sp>
        <p:nvSpPr>
          <p:cNvPr id="17" name="cf4c8cfe-42c4-43c4-8dc8-57041c87b5d1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[From: 2026-01-12T13-21-24-419Z_Gartner MQ &amp; CC Cloud ERP Services Q1 2026 Kick Off.pptx - Page 7]</a:t>
            </a:r>
            <a:endParaRPr lang="en-US" sz="900" dirty="0"/>
          </a:p>
        </p:txBody>
      </p:sp>
      <p:sp>
        <p:nvSpPr>
          <p:cNvPr id="18" name="d05543e5-1e1f-40d6-9f2b-b6c45dc884dc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87521cf2-55f3-4d3b-9791-ed6f606258e2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2026-01-12T13-34-54-775Z_MQ - 2024 - Cloud ERP Services Submission 6-21-24 (FINAL).pptx; 2026-01-12T13-21-24-419Z_Gartner MQ &amp; CC Cloud ERP Services Q1 2026 Kick Off.pptx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8ca52af-b7f4-4591-a45a-d9328e97251d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Investments and Priorities</a:t>
            </a:r>
            <a:endParaRPr lang="en-US" sz="2800" dirty="0"/>
          </a:p>
        </p:txBody>
      </p:sp>
      <p:sp>
        <p:nvSpPr>
          <p:cNvPr id="3" name="73da52a9-a664-4676-87c2-8517938c94e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Enhancing Delivery Effectiveness</a:t>
            </a:r>
            <a:endParaRPr lang="en-US" sz="1400" dirty="0"/>
          </a:p>
        </p:txBody>
      </p:sp>
      <p:sp>
        <p:nvSpPr>
          <p:cNvPr id="4" name="b5d6df35-8623-4ef3-805a-5d2d5606b51e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investments in GenAI capabilities aim to expand client-focused solutions and improve service delivery productivity. [From: Microsoft MQ &amp; CC_Cloud-ERP-Services_IBM_05-Dec-2025.xlsx - Innovation H]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made significant investments in building new offerings like Rapid Discovery and Sustainability solutions. [From: Microsoft MQ &amp; CC_Cloud-ERP-Services_IBM_05-Dec-2025.xlsx - Market Understanding - H]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investments include expanding industry and cross-industry implementation tools and accelerators. [From: Microsoft MQ &amp; CC_Cloud-ERP-Services_IBM_05-Dec-2025.xlsx - Market Understanding - H]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Delivery Central Platform leverages AI and machine learning to automate and augment delivery. [From: Microsoft MQ &amp; CC_Cloud-ERP-Services_IBM_05-Dec-2025.xlsx - Market Understanding - H]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invested in continuous training and certifications to maintain leadership in emerging technologies. [From: Microsoft MQ &amp; CC_Cloud-ERP-Services_IBM_05-Dec-2025.xlsx - Innovation H]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partnerships enhance our ability to deliver tailored solutions across major ERP platforms. [From: 2026-01-12T13-21-14-435Z_Final 2022 S4HANA Svcs MQ VB IBM (02_15_22).pdf - Page 5]</a:t>
            </a:r>
            <a:endParaRPr lang="en-US" sz="1600" dirty="0"/>
          </a:p>
        </p:txBody>
      </p:sp>
      <p:sp>
        <p:nvSpPr>
          <p:cNvPr id="5" name="a23bdb2b-acb7-4d37-8a1e-5405abf6c4b8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d8565b65-019c-4f6b-84c0-6f439d7f4503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Microsoft MQ &amp; CC_Cloud-ERP-Services_IBM_05-Dec-2025.xlsx; 2026-01-12T13-21-14-435Z_Final 2022 S4HANA Svcs MQ VB IBM (02_15_22).pdf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936fa3a-4a47-4f4c-b01f-24f925b31275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ERP Centers of Excellence</a:t>
            </a:r>
            <a:endParaRPr lang="en-US" sz="2400" dirty="0"/>
          </a:p>
        </p:txBody>
      </p:sp>
      <p:sp>
        <p:nvSpPr>
          <p:cNvPr id="3" name="4b5fbdc0-9679-401a-834c-372e5e006f60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Hubs and Labs</a:t>
            </a:r>
            <a:endParaRPr lang="en-US" sz="1200" dirty="0"/>
          </a:p>
        </p:txBody>
      </p:sp>
      <p:sp>
        <p:nvSpPr>
          <p:cNvPr id="4" name="9fd5d17d-2e0e-4253-a231-e184afee2e8b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structure not recognized</a:t>
            </a:r>
            <a:endParaRPr lang="en-US" sz="1400" dirty="0"/>
          </a:p>
        </p:txBody>
      </p:sp>
      <p:sp>
        <p:nvSpPr>
          <p:cNvPr id="5" name="2fe8236b-c57e-4bd6-a4b0-834830a2ec1d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check slide data</a:t>
            </a:r>
            <a:endParaRPr lang="en-US" sz="1400" dirty="0"/>
          </a:p>
        </p:txBody>
      </p:sp>
      <p:sp>
        <p:nvSpPr>
          <p:cNvPr id="6" name="d79f3d08-c783-4d0c-8b1e-38179066298e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7" name="637c1bbe-c024-46e8-9204-d9960344e3cd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2026-01-12T13-21-14-435Z_Final 2022 S4HANA Svcs MQ VB IBM (02_15_22).pdf; 2026-01-12T13-34-54-775Z_MQ - 2024 - Cloud ERP Services Submission 6-21-24 (FINAL).pptx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39d3a46-6ba8-4845-b2d4-6f996b20d96d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and Areas for Improvement</a:t>
            </a:r>
            <a:endParaRPr lang="en-US" sz="2800" dirty="0"/>
          </a:p>
        </p:txBody>
      </p:sp>
      <p:sp>
        <p:nvSpPr>
          <p:cNvPr id="3" name="ce1e52fc-119c-4fbe-9cdf-9226971334be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Position in Cloud ERP Services</a:t>
            </a:r>
            <a:endParaRPr lang="en-US" sz="1400" dirty="0"/>
          </a:p>
        </p:txBody>
      </p:sp>
      <p:sp>
        <p:nvSpPr>
          <p:cNvPr id="4" name="c9517285-3f6d-4fce-b82b-45f7fec730cd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global breadth and depth include capabilities in 65 countries and over 160,000 consultants. [From: 2026-01-12T13-21-24-419Z_Gartner MQ &amp; CC Cloud ERP Services Q1 2026 Kick Off.pptx - Page 6]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experience in manufacturing and government sectors with over 800 implementations. [From: 2026-01-12T13-21-24-419Z_Gartner MQ &amp; CC Cloud ERP Services Q1 2026 Kick Off.pptx - Page 7]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investment in AI-enabled delivery platforms enhances productivity and collaboration. [From: 2026-01-12T13-21-24-419Z_Gartner MQ &amp; CC Cloud ERP Services Q1 2026 Kick Off.pptx - Page 7]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ESG experience despite partnerships with consultancy firms for sustainability integration. [From: 2026-01-12T13-21-24-419Z_Gartner MQ &amp; CC Cloud ERP Services Q1 2026 Kick Off.pptx - Page 8]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approach may be resource-intensive for clients seeking tactical implementations. [From: 2026-01-12T13-21-43-361Z_Magic_Quadrant_for_C_806200_ndx.pdf - Page 41]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SAP and Oracle platforms, with smaller emphasis on Workday and Microsoft. [From: 2026-01-12T13-21-43-361Z_Magic_Quadrant_for_C_806200_ndx.pdf - Page 41]</a:t>
            </a:r>
            <a:endParaRPr lang="en-US" sz="1600" dirty="0"/>
          </a:p>
        </p:txBody>
      </p:sp>
      <p:sp>
        <p:nvSpPr>
          <p:cNvPr id="5" name="f902bea2-9cd2-440e-9477-654a0d9bf96b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8e735cec-3a90-474e-83d8-67ee5a738951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2026-01-12T13-21-24-419Z_Gartner MQ &amp; CC Cloud ERP Services Q1 2026 Kick Off.pptx; 2026-01-12T13-21-43-361Z_Magic_Quadrant_for_C_806200_ndx.pdf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65beec5-5040-45b7-9075-8adb107cc516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and Mitigation Strategies</a:t>
            </a:r>
            <a:endParaRPr lang="en-US" sz="2400" dirty="0"/>
          </a:p>
        </p:txBody>
      </p:sp>
      <p:sp>
        <p:nvSpPr>
          <p:cNvPr id="3" name="39942596-594d-4b9a-a4b8-80d748b951f5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Successful Cloud ERP Engagements</a:t>
            </a:r>
            <a:endParaRPr lang="en-US" sz="1200" dirty="0"/>
          </a:p>
        </p:txBody>
      </p:sp>
      <p:sp>
        <p:nvSpPr>
          <p:cNvPr id="4" name="fed93444-1285-4242-b517-9afbf265ea71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structure not recognized</a:t>
            </a:r>
            <a:endParaRPr lang="en-US" sz="1400" dirty="0"/>
          </a:p>
        </p:txBody>
      </p:sp>
      <p:sp>
        <p:nvSpPr>
          <p:cNvPr id="5" name="579231e7-5543-4cbb-80ef-1a5570f270de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check slide data</a:t>
            </a:r>
            <a:endParaRPr lang="en-US" sz="1400" dirty="0"/>
          </a:p>
        </p:txBody>
      </p:sp>
      <p:sp>
        <p:nvSpPr>
          <p:cNvPr id="6" name="9431c696-eb30-4f38-9087-88e9ecd2cd17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7" name="ca9457c1-eb82-4b67-b481-6389a8e1f705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Microsoft MQ &amp; CC_Cloud-ERP-Services_IBM_05-Dec-2025.xlsx; 2026-01-12T13-21-43-361Z_Magic_Quadrant_for_C_806200_ndx.pdf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29227fb-5bfe-4b2a-b92f-5ab64d2b5e8d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Strategy, Value Proposition, and Key Differentiators</a:t>
            </a:r>
            <a:endParaRPr lang="en-US" sz="2800" dirty="0"/>
          </a:p>
        </p:txBody>
      </p:sp>
      <p:sp>
        <p:nvSpPr>
          <p:cNvPr id="3" name="8584cb5e-0419-41a3-9ade-72c33cbc16a5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Unique Position in Cloud ERP Services</a:t>
            </a:r>
            <a:endParaRPr lang="en-US" sz="1400" dirty="0"/>
          </a:p>
        </p:txBody>
      </p:sp>
      <p:sp>
        <p:nvSpPr>
          <p:cNvPr id="4" name="d1257df4-9f50-4ee5-aa81-3abc21450da0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strategy involves converting legacy on-premises services into cloud ERP transformation engagements. [From: Microsoft MQ &amp; CC_Cloud-ERP-Services_IBM_05-Dec-2025.xlsx - Sales Strategy L]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value proposition emphasizes tailored solutions aligned with client objectives, using IBM Garage methodology. [From: Microsoft MQ &amp; CC_Cloud-ERP-Services_IBM_05-Dec-2025.xlsx - Sales Strategy L]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partnerships with major ERP platforms enhance our ability to deliver comprehensive solutions. [From: 2026-01-12T13-21-14-435Z_Final 2022 S4HANA Svcs MQ VB IBM (02_15_22).pdf - Page 5]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investments in GenAI capabilities improve productivity and client outcomes. [From: Microsoft MQ &amp; CC_Cloud-ERP-Services_IBM_05-Dec-2025.xlsx - Innovation H]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global delivery capability ensures optimized ERP services at competitive prices. [From: Microsoft MQ &amp; CC_Cloud-ERP-Services_IBM_05-Dec-2025.xlsx - Sales Strategy L]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is a good fit for clients seeking strategic and transformational cloud ERP solutions. [From: 2026-01-12T13-21-43-361Z_Magic_Quadrant_for_C_806200_ndx.pdf - Page 41]</a:t>
            </a:r>
            <a:endParaRPr lang="en-US" sz="1600" dirty="0"/>
          </a:p>
        </p:txBody>
      </p:sp>
      <p:sp>
        <p:nvSpPr>
          <p:cNvPr id="5" name="83df934b-fba0-4811-b118-1c7a2cd29bec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506c5d4f-06cd-4043-b6dc-25a43bd184a7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Microsoft MQ &amp; CC_Cloud-ERP-Services_IBM_05-Dec-2025.xlsx; 2026-01-12T13-21-14-435Z_Final 2022 S4HANA Svcs MQ VB IBM (02_15_22).pdf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b7000e5-0057-44b5-93b1-77a4a47264e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Two: Five Case Studies</a:t>
            </a:r>
            <a:endParaRPr lang="en-US" sz="2800" dirty="0"/>
          </a:p>
        </p:txBody>
      </p:sp>
      <p:sp>
        <p:nvSpPr>
          <p:cNvPr id="3" name="8539352c-13b6-4393-ad03-0c829b69e936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Management Transformation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and Payroll Transformation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Management Transformation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Sourcing &amp; Procurement Transformation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 Products Transformation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2cbd42e-6a93-481f-b3b6-96cb8db599fb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Overview</a:t>
            </a:r>
            <a:endParaRPr lang="en-US" sz="2400" dirty="0"/>
          </a:p>
        </p:txBody>
      </p:sp>
      <p:sp>
        <p:nvSpPr>
          <p:cNvPr id="3" name="38c9e3bb-aec8-496b-838f-792e60a17d19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725fe1cd-385b-4e2f-9f13-3209d828ce68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1</a:t>
            </a:r>
            <a:endParaRPr lang="en-US" sz="1200" dirty="0"/>
          </a:p>
        </p:txBody>
      </p:sp>
      <p:sp>
        <p:nvSpPr>
          <p:cNvPr id="5" name="6993f210-ce2e-40d9-a995-70e0acbd241b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Financial Management Transformation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6" name="bef44569-4ddd-4bfa-a378-fbb1069b3096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3dcc6d88-8bcc-4ec6-a86b-c8845117fe76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2</a:t>
            </a:r>
            <a:endParaRPr lang="en-US" sz="1200" dirty="0"/>
          </a:p>
        </p:txBody>
      </p:sp>
      <p:sp>
        <p:nvSpPr>
          <p:cNvPr id="8" name="2b2e2e44-c589-406e-8b53-ef3fd685382e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HR and Payroll Transformation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9" name="1bb7bde3-6e28-43ae-8dde-0a94b9ec31c8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059d58f7-9481-4c6e-b1f0-7af8b4e018ac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3</a:t>
            </a:r>
            <a:endParaRPr lang="en-US" sz="1200" dirty="0"/>
          </a:p>
        </p:txBody>
      </p:sp>
      <p:sp>
        <p:nvSpPr>
          <p:cNvPr id="11" name="e5659fcd-1d01-4f16-932e-aa1a1341814b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Supply Chain Management Transformation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2" name="f1ba62ef-aa8a-4904-a638-b8f4037a2b77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225e43b4-3962-4934-a685-1073fae4127d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4</a:t>
            </a:r>
            <a:endParaRPr lang="en-US" sz="1200" dirty="0"/>
          </a:p>
        </p:txBody>
      </p:sp>
      <p:sp>
        <p:nvSpPr>
          <p:cNvPr id="14" name="08163363-3370-49c7-b26d-fb356bb3a04d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Sourcing &amp; Procurement Transformation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5" name="01cdb615-1966-4d58-bf92-a5a1b040d81b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5418e53e-0c24-4783-ae11-55d78809d59e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5</a:t>
            </a:r>
            <a:endParaRPr lang="en-US" sz="1200" dirty="0"/>
          </a:p>
        </p:txBody>
      </p:sp>
      <p:sp>
        <p:nvSpPr>
          <p:cNvPr id="17" name="4339045a-91fd-44ee-ba3c-072365ec13ac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Manufacture Products Transformation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82ff05a-c884-4b7d-a430-8b8cccca2f9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1: Financial Management Transformation</a:t>
            </a:r>
            <a:endParaRPr lang="en-US" sz="2400" dirty="0"/>
          </a:p>
        </p:txBody>
      </p:sp>
      <p:sp>
        <p:nvSpPr>
          <p:cNvPr id="3" name="a886459c-8092-4eb4-aec3-b0ea1e3c8ec2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Financial Management Transformation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6f5f354-6d01-4115-b98a-a8cf40fee81d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2: HR and Payroll Transformation</a:t>
            </a:r>
            <a:endParaRPr lang="en-US" sz="2400" dirty="0"/>
          </a:p>
        </p:txBody>
      </p:sp>
      <p:sp>
        <p:nvSpPr>
          <p:cNvPr id="3" name="c58473fc-dbc1-4391-a4e1-f8bda8dddcb7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HR and Payroll Transformation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a69af9d-8cbd-4782-8f0e-37d4c9f53f8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3: Supply Chain Management Transformation</a:t>
            </a:r>
            <a:endParaRPr lang="en-US" sz="2400" dirty="0"/>
          </a:p>
        </p:txBody>
      </p:sp>
      <p:sp>
        <p:nvSpPr>
          <p:cNvPr id="3" name="c3f194f5-800c-422d-b973-3c966f0a676b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Supply Chain Management Transformation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1f3de27-b286-4fb9-8991-b7d5759e1b74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4: Sourcing &amp; Procurement Transformation</a:t>
            </a:r>
            <a:endParaRPr lang="en-US" sz="2400" dirty="0"/>
          </a:p>
        </p:txBody>
      </p:sp>
      <p:sp>
        <p:nvSpPr>
          <p:cNvPr id="3" name="f2b72103-324f-461c-a32f-884b9382f539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Sourcing &amp; Procurement Transformation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008389-e5ea-4158-be73-ade07c895c9f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5: Manufacture Products Transformation</a:t>
            </a:r>
            <a:endParaRPr lang="en-US" sz="2400" dirty="0"/>
          </a:p>
        </p:txBody>
      </p:sp>
      <p:sp>
        <p:nvSpPr>
          <p:cNvPr id="3" name="e54887ae-a52e-45b1-8b30-adfba177db7a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Manufacture Products Transformation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28ebdd1-83b0-4f07-a81f-f3fc28ca0a39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Overview</a:t>
            </a:r>
            <a:endParaRPr lang="en-US" sz="2400" dirty="0"/>
          </a:p>
        </p:txBody>
      </p:sp>
      <p:sp>
        <p:nvSpPr>
          <p:cNvPr id="3" name="9766fba3-78d3-4782-9fe8-453213d7fa18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1148b117-f620-466a-9786-f97e736ccc98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Management Transformation</a:t>
            </a:r>
            <a:endParaRPr lang="en-US" sz="1200" dirty="0"/>
          </a:p>
        </p:txBody>
      </p:sp>
      <p:sp>
        <p:nvSpPr>
          <p:cNvPr id="5" name="df5fa03a-8048-4c98-9371-84385c80ac3f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Financial Management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Finance / Global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6" name="83836a2a-6133-4762-9afc-d21ed75407af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00d93929-ccd7-4a96-8931-d95ae739b5a3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and Payroll Transformation</a:t>
            </a:r>
            <a:endParaRPr lang="en-US" sz="1200" dirty="0"/>
          </a:p>
        </p:txBody>
      </p:sp>
      <p:sp>
        <p:nvSpPr>
          <p:cNvPr id="8" name="fe2c7ec5-30e9-427b-ae07-a1fa7eeb16fd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Human Capital Management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Industrial Products / Global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9" name="d8b6f334-c016-440d-8512-79acc1ad02c2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28f52722-2360-4b75-a15d-42eabaeeaa88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Management Transformation</a:t>
            </a:r>
            <a:endParaRPr lang="en-US" sz="1200" dirty="0"/>
          </a:p>
        </p:txBody>
      </p:sp>
      <p:sp>
        <p:nvSpPr>
          <p:cNvPr id="11" name="aeda7117-35b5-4c48-9af5-d7487a902c78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Supply Chain Management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Life Sciences / Global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2" name="40575cbf-4ded-43e8-8593-9cb8cb0a6cae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91bc96bb-2be9-459a-a607-22ba0129ebe1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Sourcing &amp; Procurement Transformation</a:t>
            </a:r>
            <a:endParaRPr lang="en-US" sz="1200" dirty="0"/>
          </a:p>
        </p:txBody>
      </p:sp>
      <p:sp>
        <p:nvSpPr>
          <p:cNvPr id="14" name="f576d27d-8f9e-4d20-96e6-ff886a2d62c3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Sourcing &amp; Procurement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Manufacturing / Global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5" name="c090aac4-76e2-4f49-9140-247fcbb7d388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3b3a2424-e8a6-4c11-91a8-ac736476b45a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 Products Transformation</a:t>
            </a:r>
            <a:endParaRPr lang="en-US" sz="1200" dirty="0"/>
          </a:p>
        </p:txBody>
      </p:sp>
      <p:sp>
        <p:nvSpPr>
          <p:cNvPr id="17" name="273e8021-b105-4f9e-9f58-df1db23ad285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Manufacturing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Manufacturing / Global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8" name="8b56ce2b-a73c-4473-8b1b-c2109475f4e6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75a3ac24-8cee-4a0b-809b-2b5a6d97f0ba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refs; KB paths; public URLs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3ebf8ce-00a6-4ac2-9853-6c029f3c20e9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Three: Questions and Answers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fcba07a-8647-4107-9605-2820f0707b37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Four: Slides on MQ and CC Submission</a:t>
            </a:r>
            <a:endParaRPr lang="en-US" sz="2800" dirty="0"/>
          </a:p>
        </p:txBody>
      </p:sp>
      <p:sp>
        <p:nvSpPr>
          <p:cNvPr id="3" name="e1e8573f-5ea2-4cac-9dda-1649d645c4fd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 Evaluation Criteria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– Proof Points and Client Examples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Capabilities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8d897b1-133d-4733-9a25-bf7b4555f2a7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IBM's Cloud ERP Services</a:t>
            </a:r>
            <a:endParaRPr lang="en-US" sz="2800" dirty="0"/>
          </a:p>
        </p:txBody>
      </p:sp>
      <p:sp>
        <p:nvSpPr>
          <p:cNvPr id="3" name="c2cfe5cd-fa89-499f-849b-196a0108ab19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the Stage for MQ and CC Submission</a:t>
            </a:r>
            <a:endParaRPr lang="en-US" sz="1400" dirty="0"/>
          </a:p>
        </p:txBody>
      </p:sp>
      <p:sp>
        <p:nvSpPr>
          <p:cNvPr id="4" name="b782b29e-f8c1-476e-94f5-9eba0f9adcf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positioned as a Leader in previous Gartner Magic Quadrant for Cloud ERP Services. [From: Gartner MQ &amp; CC Cloud ERP Services Q1 2026 Kick Off.pptx - Page 3]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 expected March 2026, with approx 17 vendors including Accenture, Capgemini, KPMG. [From: Gartner MQ &amp; CC Cloud ERP Services Q1 2026 Kick Off.pptx - Page 3]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vision focuses on delivering comprehensive Cloud ERP solutions that align with evolving industry needs. [From: Welcome Packet for Cloud ERP Services, 2026[66].pdf - Page 15]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ERP capabilities span 65 countries with over 160,000 consultants. [From: Gartner MQ &amp; CC Cloud ERP Services Q1 2026 Kick Off.pptx - Page 6]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leverages cross-IBM capabilities such as IBM Technology, IBM Research, and watsonx.ai to deliver innovation. [From: Gartner MQ &amp; CC Cloud ERP Services Q1 2026 Kick Off.pptx - Page 6]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manufacturing and government experience with over 800 implementations in manufacturing and 130 government agencies. [From: Gartner MQ &amp; CC Cloud ERP Services Q1 2026 Kick Off.pptx - Page 7]</a:t>
            </a:r>
            <a:endParaRPr lang="en-US" sz="1600" dirty="0"/>
          </a:p>
        </p:txBody>
      </p:sp>
      <p:sp>
        <p:nvSpPr>
          <p:cNvPr id="5" name="74d8b432-84d6-48db-9c31-55539af752e3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ec73d01f-1369-4eb5-bf32-9fac5028b04f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Gartner MQ &amp; CC Cloud ERP Services Q1 2026 Kick Off.pptx - Pages 3, 6, 7; Welcome Packet for Cloud ERP Services, 2026[66].pdf - Page 15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72223183" id="{0A77C87C-1F66-5942-BF6F-687B96EEF514}" vid="{0EA68F6A-F767-2E42-87CF-AE74C22B1D55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IBM presentation template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Diana Stanciulescu</dc:creator>
  <cp:keywords/>
  <dc:description/>
  <cp:lastModifiedBy>Richard Hogan</cp:lastModifiedBy>
  <cp:revision>2</cp:revision>
  <cp:lastPrinted>2019-04-25T15:14:05Z</cp:lastPrinted>
  <dcterms:created xsi:type="dcterms:W3CDTF">2024-10-31T10:55:27Z</dcterms:created>
  <dcterms:modified xsi:type="dcterms:W3CDTF">2026-01-15T13:14:55Z</dcterms:modified>
  <cp:category/>
</cp:coreProperties>
</file>