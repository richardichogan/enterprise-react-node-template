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r:id="rId11-created" id="256"/>
    <p:sldId r:id="rId12-created" id="257"/>
    <p:sldId r:id="rId13-created" id="258"/>
    <p:sldId r:id="rId14-created" id="259"/>
    <p:sldId r:id="rId15-created" id="260"/>
    <p:sldId r:id="rId16-created" id="261"/>
    <p:sldId r:id="rId17-created" id="262"/>
    <p:sldId r:id="rId18-created" id="263"/>
    <p:sldId r:id="rId19-created" id="264"/>
    <p:sldId r:id="rId20-created" id="265"/>
    <p:sldId r:id="rId21-created" id="266"/>
    <p:sldId r:id="rId22-created" id="267"/>
    <p:sldId r:id="rId23-created" id="268"/>
    <p:sldId r:id="rId24-created" id="269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6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6327"/>
  </p:normalViewPr>
  <p:slideViewPr>
    <p:cSldViewPr snapToGrid="0" snapToObjects="1">
      <p:cViewPr varScale="1">
        <p:scale>
          <a:sx n="46" d="100"/>
          <a:sy n="46" d="100"/>
        </p:scale>
        <p:origin x="108" y="28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Relationship Id="rId11-created" Type="http://schemas.openxmlformats.org/officeDocument/2006/relationships/slide" Target="slides/slide2.xml"/><Relationship Id="rId12-created" Type="http://schemas.openxmlformats.org/officeDocument/2006/relationships/slide" Target="slides/slide3.xml"/><Relationship Id="rId13-created" Type="http://schemas.openxmlformats.org/officeDocument/2006/relationships/slide" Target="slides/slide4.xml"/><Relationship Id="rId14-created" Type="http://schemas.openxmlformats.org/officeDocument/2006/relationships/slide" Target="slides/slide5.xml"/><Relationship Id="rId15-created" Type="http://schemas.openxmlformats.org/officeDocument/2006/relationships/slide" Target="slides/slide6.xml"/><Relationship Id="rId16-created" Type="http://schemas.openxmlformats.org/officeDocument/2006/relationships/slide" Target="slides/slide7.xml"/><Relationship Id="rId17-created" Type="http://schemas.openxmlformats.org/officeDocument/2006/relationships/slide" Target="slides/slide8.xml"/><Relationship Id="rId18-created" Type="http://schemas.openxmlformats.org/officeDocument/2006/relationships/slide" Target="slides/slide9.xml"/><Relationship Id="rId19-created" Type="http://schemas.openxmlformats.org/officeDocument/2006/relationships/slide" Target="slides/slide10.xml"/><Relationship Id="rId20-created" Type="http://schemas.openxmlformats.org/officeDocument/2006/relationships/slide" Target="slides/slide11.xml"/><Relationship Id="rId21-created" Type="http://schemas.openxmlformats.org/officeDocument/2006/relationships/slide" Target="slides/slide12.xml"/><Relationship Id="rId22-created" Type="http://schemas.openxmlformats.org/officeDocument/2006/relationships/slide" Target="slides/slide13.xml"/><Relationship Id="rId23-created" Type="http://schemas.openxmlformats.org/officeDocument/2006/relationships/slide" Target="slides/slide14.xml"/><Relationship Id="rId24-created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Char char="•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Arial" charset="-120"/>
      <a:buChar char="»"/>
      <a:tabLst/>
      <a:defRPr sz="2000" b="0" i="0" kern="1200">
        <a:solidFill>
          <a:schemeClr val="bg1"/>
        </a:solidFill>
        <a:latin typeface="Arial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0468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0825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301625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434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025" y="311735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994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7422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63093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359806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62979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" y="307086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708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25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47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3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6828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3087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3087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6675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8199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3088"/>
            <a:ext cx="4953000" cy="49447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3089"/>
            <a:ext cx="4959350" cy="49447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70674"/>
            <a:ext cx="4956048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70675"/>
            <a:ext cx="4953000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E66173E-891D-82A4-82E3-E5AEA6E5A2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DC8C2E8-4EA9-1F1F-90D5-4F81A60327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3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4" y="576071"/>
            <a:ext cx="4945063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6673850"/>
            <a:ext cx="4945062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9248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9248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9248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66675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66675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66675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1499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164AB-EDCE-C638-F61C-8C578896F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25" y="12896850"/>
            <a:ext cx="4946650" cy="3111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503050203000203" pitchFamily="34" charset="0"/>
              </a:defRPr>
            </a:lvl2pPr>
            <a:lvl3pPr>
              <a:defRPr sz="1600" b="0" i="0">
                <a:latin typeface="Arial" panose="020B0503050203000203" pitchFamily="34" charset="0"/>
              </a:defRPr>
            </a:lvl3pPr>
            <a:lvl4pPr>
              <a:defRPr sz="1600" b="0" i="0">
                <a:latin typeface="Arial" panose="020B0503050203000203" pitchFamily="34" charset="0"/>
              </a:defRPr>
            </a:lvl4pPr>
            <a:lvl5pPr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Footer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F82DC0-D267-F23F-7E4C-1C2FF243E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Lorem ipsum dolor sit amet donec quam felis ultricies nec pellentesque eu pretium quis sem. Nulla conset massa </a:t>
            </a:r>
            <a:br>
              <a:rPr lang="en-US" dirty="0"/>
            </a:br>
            <a:r>
              <a:rPr lang="en-US" dirty="0"/>
              <a:t>quis enim.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60829" y="12951714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4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91" r:id="rId29"/>
    <p:sldLayoutId id="2147483992" r:id="rId30"/>
    <p:sldLayoutId id="2147483993" r:id="rId31"/>
    <p:sldLayoutId id="2147483994" r:id="rId32"/>
    <p:sldLayoutId id="2147483995" r:id="rId33"/>
    <p:sldLayoutId id="2147483996" r:id="rId34"/>
    <p:sldLayoutId id="2147483997" r:id="rId35"/>
    <p:sldLayoutId id="2147483998" r:id="rId36"/>
    <p:sldLayoutId id="2147483999" r:id="rId37"/>
    <p:sldLayoutId id="2147484000" r:id="rId38"/>
    <p:sldLayoutId id="2147484001" r:id="rId39"/>
    <p:sldLayoutId id="2147484002" r:id="rId40"/>
    <p:sldLayoutId id="2147484003" r:id="rId41"/>
    <p:sldLayoutId id="2147484004" r:id="rId42"/>
    <p:sldLayoutId id="2147484005" r:id="rId43"/>
    <p:sldLayoutId id="2147484006" r:id="rId44"/>
    <p:sldLayoutId id="2147484007" r:id="rId45"/>
    <p:sldLayoutId id="2147484008" r:id="rId46"/>
    <p:sldLayoutId id="2147484009" r:id="rId47"/>
    <p:sldLayoutId id="2147484010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1cf781c-5d05-4202-baee-6053eac0326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Analyst Briefing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f77ee69-f02b-4157-bc4c-892aa2258867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One: Vision and Execution</a:t>
            </a:r>
            <a:endParaRPr lang="en-US" sz="2800" dirty="0"/>
          </a:p>
        </p:txBody>
      </p:sp>
      <p:sp>
        <p:nvSpPr>
          <p:cNvPr id="3" name="7c4bb91b-9a1e-43b5-8fcb-99e7a97b1d5f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 of Excellence &amp; Innovation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&amp; Areas for Improvement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Spots &amp; Square Pegs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Mitigation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Value Proposition, and Key Differentiators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2b6a11f-93c1-4674-8fc8-f5877e5dccc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Vision for Cloud ERP Services</a:t>
            </a:r>
            <a:endParaRPr lang="en-US" sz="2800" dirty="0"/>
          </a:p>
        </p:txBody>
      </p:sp>
      <p:sp>
        <p:nvSpPr>
          <p:cNvPr id="3" name="51c6abe1-6f46-4aed-8324-06da84fe3b15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Capabilities and Achievements</a:t>
            </a:r>
            <a:endParaRPr lang="en-US" sz="1400" dirty="0"/>
          </a:p>
        </p:txBody>
      </p:sp>
      <p:sp>
        <p:nvSpPr>
          <p:cNvPr id="4" name="d318592e-d798-46d9-a88e-8f42380b29b6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160,000+ consultants globally, showcasing IBM's extensive reach and expertise [From: 2026-01-12T13-34-54-775Z_MQ - 2024 - Cloud ERP Services Submission 6-21-24 (FINAL).pptx - Page 7]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in over 65 countries, ensuring global delivery capabilities [From: 2026-01-12T13-34-54-775Z_MQ - 2024 - Cloud ERP Services Submission 6-21-24 (FINAL).pptx - Page 7]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116K+ Strategic Partner certifications, reinforcing IBM's commitment to quality and expertise [From: 2026-01-12T13-34-54-775Z_MQ - 2024 - Cloud ERP Services Submission 6-21-24 (FINAL).pptx - Page 7]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Offerings including Advisory, Transformation, Implementation, Managed Services [From: 2026-01-12T13-34-54-775Z_MQ - 2024 - Cloud ERP Services Submission 6-21-24 (FINAL).pptx - Page 7]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capabilities across Industries, Lines of Business and ERP Products such as SAP, Oracle, Microsoft, Workday [From: 2026-01-12T13-34-54-775Z_MQ - 2024 - Cloud ERP Services Submission 6-21-24 (FINAL).pptx - Page 7]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acquisitions and planned investments to enhance service delivery and innovation [From: 2026-01-12T13-21-14-435Z_Final 2022 S4HANA Svcs MQ VB IBM (02_15_22).pdf - Page 60]</a:t>
            </a:r>
            <a:endParaRPr lang="en-US" sz="1600" dirty="0"/>
          </a:p>
        </p:txBody>
      </p:sp>
      <p:sp>
        <p:nvSpPr>
          <p:cNvPr id="5" name="a94130d2-9660-47b1-b349-7feb80b2e26f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4d5eba51-9392-483e-b1d5-f43b8d72153a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refs; KB paths; public URLs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e31c15d-166a-41b6-b335-a63c52565d89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Two: Five Case Studies</a:t>
            </a:r>
            <a:endParaRPr lang="en-US" sz="2800" dirty="0"/>
          </a:p>
        </p:txBody>
      </p:sp>
      <p:sp>
        <p:nvSpPr>
          <p:cNvPr id="3" name="55d7bacc-6c15-4193-989c-65c510c3cfce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Management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and Payroll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Management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&amp; Procurement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 Products Transformation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f7f195a-b013-48d1-87db-20b5a767507e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Overview</a:t>
            </a:r>
            <a:endParaRPr lang="en-US" sz="2400" dirty="0"/>
          </a:p>
        </p:txBody>
      </p:sp>
      <p:sp>
        <p:nvSpPr>
          <p:cNvPr id="3" name="99e5557b-e3cd-4c5f-9bfa-ece820eb3242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6978eddc-3505-4ed6-a9bc-b9a2cc3a9bf1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</a:t>
            </a:r>
            <a:endParaRPr lang="en-US" sz="1200" dirty="0"/>
          </a:p>
        </p:txBody>
      </p:sp>
      <p:sp>
        <p:nvSpPr>
          <p:cNvPr id="5" name="cbbdd2b4-100a-45ce-9430-848cde53e614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a50547b7-fb1b-4d24-abda-c1b81c0e14a2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f8999c36-cc50-47e0-960c-6a7eedba6049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</a:t>
            </a:r>
            <a:endParaRPr lang="en-US" sz="1200" dirty="0"/>
          </a:p>
        </p:txBody>
      </p:sp>
      <p:sp>
        <p:nvSpPr>
          <p:cNvPr id="8" name="14f9cd4c-5db7-49e3-a508-159877163428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HR and Payroll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be062866-3607-48db-861b-9ca6b0fbb67c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f4a978f5-61f1-42c0-abf5-4b6df71a08a9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3</a:t>
            </a:r>
            <a:endParaRPr lang="en-US" sz="1200" dirty="0"/>
          </a:p>
        </p:txBody>
      </p:sp>
      <p:sp>
        <p:nvSpPr>
          <p:cNvPr id="11" name="fdf5b00a-eb31-44b8-92a3-3621a3644abc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57da1f26-6d23-43dc-979a-7d98a36aa9fd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1efe9e65-3883-416e-9db8-12b9bb0b61f1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4</a:t>
            </a:r>
            <a:endParaRPr lang="en-US" sz="1200" dirty="0"/>
          </a:p>
        </p:txBody>
      </p:sp>
      <p:sp>
        <p:nvSpPr>
          <p:cNvPr id="14" name="a4ff8ea0-8310-4fa5-abe6-0e4e9a012be5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8268c248-d044-40e1-a6d6-b33e2fdb4d09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c7af3502-9aee-4f1c-8bc6-85a0a5cd1566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5</a:t>
            </a:r>
            <a:endParaRPr lang="en-US" sz="1200" dirty="0"/>
          </a:p>
        </p:txBody>
      </p:sp>
      <p:sp>
        <p:nvSpPr>
          <p:cNvPr id="17" name="3cedc0df-4420-4360-b2f2-883b39693137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Manufacture Products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650878a-4778-489b-bee8-de7989e22af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1: Financial Management Transformation</a:t>
            </a:r>
            <a:endParaRPr lang="en-US" sz="2400" dirty="0"/>
          </a:p>
        </p:txBody>
      </p:sp>
      <p:sp>
        <p:nvSpPr>
          <p:cNvPr id="3" name="9e366983-a71b-4fc5-a584-37f4a9844e47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a568444-2f54-4e75-8798-2012126814a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2: HR and Payroll Transformation</a:t>
            </a:r>
            <a:endParaRPr lang="en-US" sz="2400" dirty="0"/>
          </a:p>
        </p:txBody>
      </p:sp>
      <p:sp>
        <p:nvSpPr>
          <p:cNvPr id="3" name="76e15352-4b8e-41b4-ad25-eb22d0948364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HR and Payroll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f4e18af-fcfe-4587-927c-faba0b06a04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3: Supply Chain Management Transformation</a:t>
            </a:r>
            <a:endParaRPr lang="en-US" sz="2400" dirty="0"/>
          </a:p>
        </p:txBody>
      </p:sp>
      <p:sp>
        <p:nvSpPr>
          <p:cNvPr id="3" name="2620691b-e01f-4fce-9c5f-f1b0070ab2d5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85e76d6-363c-45c8-b201-f0b99b804a2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4: Sourcing &amp; Procurement Transformation</a:t>
            </a:r>
            <a:endParaRPr lang="en-US" sz="2400" dirty="0"/>
          </a:p>
        </p:txBody>
      </p:sp>
      <p:sp>
        <p:nvSpPr>
          <p:cNvPr id="3" name="3bbf06ac-a690-47f7-815e-fa0413aecd09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10a7148-1b13-483c-b305-ae2bbebcb7f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5: Manufacture Products Transformation</a:t>
            </a:r>
            <a:endParaRPr lang="en-US" sz="2400" dirty="0"/>
          </a:p>
        </p:txBody>
      </p:sp>
      <p:sp>
        <p:nvSpPr>
          <p:cNvPr id="3" name="e46d4f56-4a2b-4086-9cd3-ba1fb9e9e0af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Manufacture Products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d5f5424-0dd7-448b-9e4e-8f1a27d6b73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Five Case Studies</a:t>
            </a:r>
            <a:endParaRPr lang="en-US" sz="2400" dirty="0"/>
          </a:p>
        </p:txBody>
      </p:sp>
      <p:sp>
        <p:nvSpPr>
          <p:cNvPr id="3" name="1d416edd-3308-4e8d-b260-1639628bd4ee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2705b5a9-a1a3-44fb-bcc9-71251aa10dd2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Management Transformation</a:t>
            </a:r>
            <a:endParaRPr lang="en-US" sz="1200" dirty="0"/>
          </a:p>
        </p:txBody>
      </p:sp>
      <p:sp>
        <p:nvSpPr>
          <p:cNvPr id="5" name="6037db59-0720-479e-8c6b-506551b28108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 (FM)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1fadbe16-bfe5-4725-ba9c-51f4c39fe4de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2af0f702-d864-45a7-8ae5-96166b228ffa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and Payroll Transformation</a:t>
            </a:r>
            <a:endParaRPr lang="en-US" sz="1200" dirty="0"/>
          </a:p>
        </p:txBody>
      </p:sp>
      <p:sp>
        <p:nvSpPr>
          <p:cNvPr id="8" name="e00090e6-8f00-49e2-95ca-112a6e7fddde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HR and Payroll (HCM)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Industrial Products / Global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320K employees with access to Workday (2023)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Existing Client</a:t>
            </a:r>
            <a:endParaRPr lang="en-US" sz="1000" dirty="0"/>
          </a:p>
        </p:txBody>
      </p:sp>
      <p:sp>
        <p:nvSpPr>
          <p:cNvPr id="9" name="b8bf9263-47b2-41d3-8abd-e043fabf44ce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9a933399-a969-42ed-8d1a-afe150cad84b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Management Transformation</a:t>
            </a:r>
            <a:endParaRPr lang="en-US" sz="1200" dirty="0"/>
          </a:p>
        </p:txBody>
      </p:sp>
      <p:sp>
        <p:nvSpPr>
          <p:cNvPr id="11" name="94d72714-ed35-4887-b742-05d493331d73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 (SCM)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0a0e290f-5971-42ce-9dbc-31f2bfa932e9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dbac4536-a4e3-472b-8ea6-aaf75fdec35f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&amp; Procurement Transformation</a:t>
            </a:r>
            <a:endParaRPr lang="en-US" sz="1200" dirty="0"/>
          </a:p>
        </p:txBody>
      </p:sp>
      <p:sp>
        <p:nvSpPr>
          <p:cNvPr id="14" name="48d6fb84-3d7f-40f0-afbd-64b7d92e262c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4cd27747-e43a-441b-be65-acfd7c68dfc4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9db49288-cfef-4401-9d6a-0ff0aaa7bee0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 Products Transformation</a:t>
            </a:r>
            <a:endParaRPr lang="en-US" sz="1200" dirty="0"/>
          </a:p>
        </p:txBody>
      </p:sp>
      <p:sp>
        <p:nvSpPr>
          <p:cNvPr id="17" name="4a33660a-8c7d-461d-8dad-c58e1e6f0a99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Manufacture Products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d2df083e-e67c-4e51-b77f-a76ff7cc8c06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8206d53d-f9d9-441b-813f-f636a646cb9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refs; KB paths; public URLs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0ccab8b-cb55-4d88-a05d-6e60886e102c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Three: Questions and Answers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cb14f39-712d-475a-bf46-01807b70f8ca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Four: Slides on MQ and CC Submission</a:t>
            </a:r>
            <a:endParaRPr lang="en-US" sz="2800" dirty="0"/>
          </a:p>
        </p:txBody>
      </p:sp>
      <p:sp>
        <p:nvSpPr>
          <p:cNvPr id="3" name="74f015e4-95d4-49c7-930c-29a2b11e8a5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 Evaluation Criteria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– Proof Points and Client Examples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Capabilities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f3be7f4-b726-4a68-8ce9-68aa1cd45d8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Overview</a:t>
            </a:r>
            <a:endParaRPr lang="en-US" sz="2800" dirty="0"/>
          </a:p>
        </p:txBody>
      </p:sp>
      <p:sp>
        <p:nvSpPr>
          <p:cNvPr id="3" name="b391091b-de3a-4af2-8c3a-b21f56b54a8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Transformative Business Outcomes</a:t>
            </a:r>
            <a:endParaRPr lang="en-US" sz="1400" dirty="0"/>
          </a:p>
        </p:txBody>
      </p:sp>
      <p:sp>
        <p:nvSpPr>
          <p:cNvPr id="4" name="64481369-e541-4444-b6ac-e6b1d59bb409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leverages SAP, Oracle, Microsoft, and Workday platforms to deliver comprehensive ERP solutions. [From: 2026-01-12T13-34-54-775Z_MQ - 2024 - Cloud ERP Services Submission 6-21-24 (FINAL).pptx - Page 6]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160,000+ consultants globally with skills in over 65 countries. [From: 2026-01-12T13-34-54-775Z_MQ - 2024 - Cloud ERP Services Submission 6-21-24 (FINAL).pptx - Page 7]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partnerships enhance ERP capabilities and client outcomes. [From: 2026-01-12T13-34-54-775Z_MQ - 2024 - Cloud ERP Services Submission 6-21-24 (FINAL).pptx - Page 5]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Garage and Rapid Discovery are key differentiators in delivering innovation. [From: 2026-01-12T13-34-54-775Z_MQ - 2024 - Cloud ERP Services Submission 6-21-24 (FINAL).pptx - Page 6]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expertise across industries and lines of business. [From: 2026-01-12T13-34-54-775Z_MQ - 2024 - Cloud ERP Services Submission 6-21-24 (FINAL).pptx - Page 6]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proprietary tools and assets enhance delivery efficiency. [From: 2026-01-12T13-34-54-775Z_MQ - 2024 - Cloud ERP Services Submission 6-21-24 (FINAL).pptx - Page 8]</a:t>
            </a:r>
            <a:endParaRPr lang="en-US" sz="1600" dirty="0"/>
          </a:p>
        </p:txBody>
      </p:sp>
      <p:sp>
        <p:nvSpPr>
          <p:cNvPr id="5" name="90082d8e-cbf8-4cab-b698-66d8bd9b38dc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5c62c47b-e14e-4c2c-b5bb-6a5a48eadbaa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2026-01-12T13-34-54-775Z_MQ - 2024 - Cloud ERP Services Submission 6-21-24 (FINAL).pptx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Richard Hogan</cp:lastModifiedBy>
  <cp:revision>2</cp:revision>
  <cp:lastPrinted>2019-04-25T15:14:05Z</cp:lastPrinted>
  <dcterms:created xsi:type="dcterms:W3CDTF">2024-10-31T10:55:27Z</dcterms:created>
  <dcterms:modified xsi:type="dcterms:W3CDTF">2026-01-15T13:14:55Z</dcterms:modified>
  <cp:category/>
</cp:coreProperties>
</file>