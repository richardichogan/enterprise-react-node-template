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  <p:sldId r:id="rId13-created" id="258"/>
    <p:sldId r:id="rId14-created" id="259"/>
    <p:sldId r:id="rId15-created" id="260"/>
    <p:sldId r:id="rId16-created" id="261"/>
    <p:sldId r:id="rId17-created" id="262"/>
    <p:sldId r:id="rId18-created" id="263"/>
    <p:sldId r:id="rId19-created" id="264"/>
    <p:sldId r:id="rId20-created" id="265"/>
    <p:sldId r:id="rId21-created" id="266"/>
    <p:sldId r:id="rId22-created" id="267"/>
    <p:sldId r:id="rId23-created" id="268"/>
    <p:sldId r:id="rId24-created" id="269"/>
    <p:sldId r:id="rId25-created" id="270"/>
    <p:sldId r:id="rId26-created" id="271"/>
    <p:sldId r:id="rId27-created" id="272"/>
    <p:sldId r:id="rId28-created" id="273"/>
    <p:sldId r:id="rId29-created" id="274"/>
    <p:sldId r:id="rId30-created" id="275"/>
    <p:sldId r:id="rId31-created" id="276"/>
    <p:sldId r:id="rId32-created" id="277"/>
    <p:sldId r:id="rId33-created" id="278"/>
    <p:sldId r:id="rId34-created" id="279"/>
    <p:sldId r:id="rId35-created" id="280"/>
    <p:sldId r:id="rId36-created" id="281"/>
    <p:sldId r:id="rId37-created" id="282"/>
    <p:sldId r:id="rId38-created" id="283"/>
    <p:sldId r:id="rId39-created" id="284"/>
    <p:sldId r:id="rId40-created" id="285"/>
    <p:sldId r:id="rId41-created" id="286"/>
    <p:sldId r:id="rId42-created" id="287"/>
    <p:sldId r:id="rId43-created" id="288"/>
    <p:sldId r:id="rId44-created" id="289"/>
    <p:sldId r:id="rId45-created" id="290"/>
    <p:sldId r:id="rId46-created" id="291"/>
    <p:sldId r:id="rId47-created" id="292"/>
    <p:sldId r:id="rId48-created" id="293"/>
    <p:sldId r:id="rId49-created" id="294"/>
    <p:sldId r:id="rId50-created" id="295"/>
    <p:sldId r:id="rId51-created" id="296"/>
    <p:sldId r:id="rId52-created" id="297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Relationship Id="rId13-created" Type="http://schemas.openxmlformats.org/officeDocument/2006/relationships/slide" Target="slides/slide4.xml"/><Relationship Id="rId14-created" Type="http://schemas.openxmlformats.org/officeDocument/2006/relationships/slide" Target="slides/slide5.xml"/><Relationship Id="rId15-created" Type="http://schemas.openxmlformats.org/officeDocument/2006/relationships/slide" Target="slides/slide6.xml"/><Relationship Id="rId16-created" Type="http://schemas.openxmlformats.org/officeDocument/2006/relationships/slide" Target="slides/slide7.xml"/><Relationship Id="rId17-created" Type="http://schemas.openxmlformats.org/officeDocument/2006/relationships/slide" Target="slides/slide8.xml"/><Relationship Id="rId18-created" Type="http://schemas.openxmlformats.org/officeDocument/2006/relationships/slide" Target="slides/slide9.xml"/><Relationship Id="rId19-created" Type="http://schemas.openxmlformats.org/officeDocument/2006/relationships/slide" Target="slides/slide10.xml"/><Relationship Id="rId20-created" Type="http://schemas.openxmlformats.org/officeDocument/2006/relationships/slide" Target="slides/slide11.xml"/><Relationship Id="rId21-created" Type="http://schemas.openxmlformats.org/officeDocument/2006/relationships/slide" Target="slides/slide12.xml"/><Relationship Id="rId22-created" Type="http://schemas.openxmlformats.org/officeDocument/2006/relationships/slide" Target="slides/slide13.xml"/><Relationship Id="rId23-created" Type="http://schemas.openxmlformats.org/officeDocument/2006/relationships/slide" Target="slides/slide14.xml"/><Relationship Id="rId24-created" Type="http://schemas.openxmlformats.org/officeDocument/2006/relationships/slide" Target="slides/slide15.xml"/><Relationship Id="rId25-created" Type="http://schemas.openxmlformats.org/officeDocument/2006/relationships/slide" Target="slides/slide16.xml"/><Relationship Id="rId26-created" Type="http://schemas.openxmlformats.org/officeDocument/2006/relationships/slide" Target="slides/slide17.xml"/><Relationship Id="rId27-created" Type="http://schemas.openxmlformats.org/officeDocument/2006/relationships/slide" Target="slides/slide18.xml"/><Relationship Id="rId28-created" Type="http://schemas.openxmlformats.org/officeDocument/2006/relationships/slide" Target="slides/slide19.xml"/><Relationship Id="rId29-created" Type="http://schemas.openxmlformats.org/officeDocument/2006/relationships/slide" Target="slides/slide20.xml"/><Relationship Id="rId30-created" Type="http://schemas.openxmlformats.org/officeDocument/2006/relationships/slide" Target="slides/slide21.xml"/><Relationship Id="rId31-created" Type="http://schemas.openxmlformats.org/officeDocument/2006/relationships/slide" Target="slides/slide22.xml"/><Relationship Id="rId32-created" Type="http://schemas.openxmlformats.org/officeDocument/2006/relationships/slide" Target="slides/slide23.xml"/><Relationship Id="rId33-created" Type="http://schemas.openxmlformats.org/officeDocument/2006/relationships/slide" Target="slides/slide24.xml"/><Relationship Id="rId34-created" Type="http://schemas.openxmlformats.org/officeDocument/2006/relationships/slide" Target="slides/slide25.xml"/><Relationship Id="rId35-created" Type="http://schemas.openxmlformats.org/officeDocument/2006/relationships/slide" Target="slides/slide26.xml"/><Relationship Id="rId36-created" Type="http://schemas.openxmlformats.org/officeDocument/2006/relationships/slide" Target="slides/slide27.xml"/><Relationship Id="rId37-created" Type="http://schemas.openxmlformats.org/officeDocument/2006/relationships/slide" Target="slides/slide28.xml"/><Relationship Id="rId38-created" Type="http://schemas.openxmlformats.org/officeDocument/2006/relationships/slide" Target="slides/slide29.xml"/><Relationship Id="rId39-created" Type="http://schemas.openxmlformats.org/officeDocument/2006/relationships/slide" Target="slides/slide30.xml"/><Relationship Id="rId40-created" Type="http://schemas.openxmlformats.org/officeDocument/2006/relationships/slide" Target="slides/slide31.xml"/><Relationship Id="rId41-created" Type="http://schemas.openxmlformats.org/officeDocument/2006/relationships/slide" Target="slides/slide32.xml"/><Relationship Id="rId42-created" Type="http://schemas.openxmlformats.org/officeDocument/2006/relationships/slide" Target="slides/slide33.xml"/><Relationship Id="rId43-created" Type="http://schemas.openxmlformats.org/officeDocument/2006/relationships/slide" Target="slides/slide34.xml"/><Relationship Id="rId44-created" Type="http://schemas.openxmlformats.org/officeDocument/2006/relationships/slide" Target="slides/slide35.xml"/><Relationship Id="rId45-created" Type="http://schemas.openxmlformats.org/officeDocument/2006/relationships/slide" Target="slides/slide36.xml"/><Relationship Id="rId46-created" Type="http://schemas.openxmlformats.org/officeDocument/2006/relationships/slide" Target="slides/slide37.xml"/><Relationship Id="rId47-created" Type="http://schemas.openxmlformats.org/officeDocument/2006/relationships/slide" Target="slides/slide38.xml"/><Relationship Id="rId48-created" Type="http://schemas.openxmlformats.org/officeDocument/2006/relationships/slide" Target="slides/slide39.xml"/><Relationship Id="rId49-created" Type="http://schemas.openxmlformats.org/officeDocument/2006/relationships/slide" Target="slides/slide40.xml"/><Relationship Id="rId50-created" Type="http://schemas.openxmlformats.org/officeDocument/2006/relationships/slide" Target="slides/slide41.xml"/><Relationship Id="rId51-created" Type="http://schemas.openxmlformats.org/officeDocument/2006/relationships/slide" Target="slides/slide42.xml"/><Relationship Id="rId52-created" Type="http://schemas.openxmlformats.org/officeDocument/2006/relationships/slide" Target="slides/slide4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1a84fa0-5caa-4940-8a74-eab759a289c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Analyst Briefing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418a4ab-92ac-4b2d-9d76-4decef8d0c2b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abae2b62-9af3-4495-87f1-0b15a8da9ccc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Overview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3756e30-c715-4a77-bdc6-88306edbd72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Comprehensive Cloud ERP Services</a:t>
            </a:r>
            <a:endParaRPr lang="en-US" sz="2800" dirty="0"/>
          </a:p>
        </p:txBody>
      </p:sp>
      <p:sp>
        <p:nvSpPr>
          <p:cNvPr id="3" name="a39e2a47-f63b-4d3d-8770-193aaae16560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growth through innovation and execution</a:t>
            </a:r>
            <a:endParaRPr lang="en-US" sz="1400" dirty="0"/>
          </a:p>
        </p:txBody>
      </p:sp>
      <p:sp>
        <p:nvSpPr>
          <p:cNvPr id="4" name="e67de78b-18b5-42e4-b0f6-e85588269ef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provides modular structures and scalable delivery models for Microsoft Dynamics 365 Finance and Supply Chain Management.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allow clients to adjust scope, sequencing, and investment as priorities evolve, ensuring flexibility and agility.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is organized into modular packages such as solution design, D365 configuration, and data migration.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Resourcing flexibility through scalable onshore, nearshore, and offshore delivery pools.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change control enables introduction of new D365 capabilities while maintaining transparency.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flexibility through modular pricing, scaling clauses, and optional packages for D365 capabilities.</a:t>
            </a:r>
            <a:endParaRPr lang="en-US" sz="1600" dirty="0"/>
          </a:p>
        </p:txBody>
      </p:sp>
      <p:sp>
        <p:nvSpPr>
          <p:cNvPr id="5" name="dace1270-482e-4e17-8bfc-e435edc2bdf8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7f31e086-799b-4204-b07e-77fd41cfe7e8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RFI § Sales Execution-Pricing 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f05e20d-dea5-4390-804b-2c8aea9ff76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Understanding and Strategic Positioning</a:t>
            </a:r>
            <a:endParaRPr lang="en-US" sz="2400" dirty="0"/>
          </a:p>
        </p:txBody>
      </p:sp>
      <p:sp>
        <p:nvSpPr>
          <p:cNvPr id="3" name="a5246e94-de0e-44e0-b783-e6b92860bd96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talent management strategy focuses on attracting and retaining top cloud ERP consultants.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 initiatives ensure proficiency in key technologies and platforms.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Consulting Career Framework empowers employees to direct their own career paths.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culture fostered through regular reflections and career coaching.</a:t>
            </a:r>
            <a:endParaRPr lang="en-US" sz="1400" dirty="0"/>
          </a:p>
        </p:txBody>
      </p:sp>
      <p:sp>
        <p:nvSpPr>
          <p:cNvPr id="4" name="37cbeec8-6549-4e25-9b8a-daeecbd1c25b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aligns talent strategies with business goals, focusing on client-centricity and cost efficiency.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and efficiency practices enhance talent management effectiveness.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of inclusion and allyship encourages positive contributions and authenticity.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aspiration to eliminate, simplify, and automate tasks for enhanced efficiency.</a:t>
            </a:r>
            <a:endParaRPr lang="en-US" sz="1400" dirty="0"/>
          </a:p>
        </p:txBody>
      </p:sp>
      <p:sp>
        <p:nvSpPr>
          <p:cNvPr id="5" name="72a5c1ea-1e23-4664-86d7-043a597f4f63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820d94ee-1105-4f6b-94c3-946338c78acf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 Rate: 94%</a:t>
            </a:r>
            <a:endParaRPr lang="en-US" sz="1200" dirty="0"/>
          </a:p>
        </p:txBody>
      </p:sp>
      <p:sp>
        <p:nvSpPr>
          <p:cNvPr id="7" name="c136fcf3-636f-4934-a284-1a647b085384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4802401b-739d-4693-97f3-4322ebebd4ac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9" name="4dfdae0c-9df0-474a-9c45-8f4b6644cf97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4c4e94b7-a87a-4846-987c-00345b8176e1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Implementation Time: 8.3 months</a:t>
            </a:r>
            <a:endParaRPr lang="en-US" sz="1200" dirty="0"/>
          </a:p>
        </p:txBody>
      </p:sp>
      <p:sp>
        <p:nvSpPr>
          <p:cNvPr id="11" name="1575ec62-0e55-4513-aa1e-da9b9f8addb0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industry average of 12 months</a:t>
            </a:r>
            <a:endParaRPr lang="en-US" sz="1000" dirty="0"/>
          </a:p>
        </p:txBody>
      </p:sp>
      <p:sp>
        <p:nvSpPr>
          <p:cNvPr id="12" name="6421fb1f-fbe6-48f7-a65b-e742e49884ea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2025</a:t>
            </a:r>
            <a:endParaRPr lang="en-US" sz="900" dirty="0"/>
          </a:p>
        </p:txBody>
      </p:sp>
      <p:sp>
        <p:nvSpPr>
          <p:cNvPr id="13" name="21c1422f-b6d7-4e04-8eab-0fecff345910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0187b6d7-736c-4344-8750-2242a5096623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 $127M</a:t>
            </a:r>
            <a:endParaRPr lang="en-US" sz="1200" dirty="0"/>
          </a:p>
        </p:txBody>
      </p:sp>
      <p:sp>
        <p:nvSpPr>
          <p:cNvPr id="15" name="4415349a-2033-4a78-8286-a61d96ecb654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1000" dirty="0"/>
          </a:p>
        </p:txBody>
      </p:sp>
      <p:sp>
        <p:nvSpPr>
          <p:cNvPr id="16" name="44626844-5604-49b9-a381-c59d2c3cfb5b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</a:t>
            </a:r>
            <a:endParaRPr lang="en-US" sz="900" dirty="0"/>
          </a:p>
        </p:txBody>
      </p:sp>
      <p:sp>
        <p:nvSpPr>
          <p:cNvPr id="17" name="f1aef708-b5fa-4cfe-a2c8-e0ba6c4a5c58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6007c628-1b7b-4685-b0a5-e57a82428b3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Operations H; RFI § Financial Performance Q3 2025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7a9da61-bc09-4448-ad10-04affb377dc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Metrics</a:t>
            </a:r>
            <a:endParaRPr lang="en-US" sz="2400" dirty="0"/>
          </a:p>
        </p:txBody>
      </p:sp>
      <p:sp>
        <p:nvSpPr>
          <p:cNvPr id="3" name="0ebb56fb-7d99-423a-ada8-f7ab8276c79f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4f593cc1-0019-4ab5-91e3-bd561e10758d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Implementations</a:t>
            </a:r>
            <a:endParaRPr lang="en-US" sz="1200" dirty="0"/>
          </a:p>
        </p:txBody>
      </p:sp>
      <p:sp>
        <p:nvSpPr>
          <p:cNvPr id="5" name="cd8f563b-572b-499b-85ff-9271065e64cd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2400" dirty="0"/>
          </a:p>
        </p:txBody>
      </p:sp>
      <p:sp>
        <p:nvSpPr>
          <p:cNvPr id="6" name="af6b7e42-b575-48cd-ac93-1a4567771007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23 countries</a:t>
            </a:r>
            <a:endParaRPr lang="en-US" sz="1000" dirty="0"/>
          </a:p>
        </p:txBody>
      </p:sp>
      <p:sp>
        <p:nvSpPr>
          <p:cNvPr id="7" name="b3d8e53f-3b1d-4185-80d6-031e96c528e3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8" name="085ac0e5-0f25-40ba-ae78-9a4accd111cc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b55d3159-f5fb-4ee0-8aa9-90f9e4b535e2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Expansion</a:t>
            </a:r>
            <a:endParaRPr lang="en-US" sz="1200" dirty="0"/>
          </a:p>
        </p:txBody>
      </p:sp>
      <p:sp>
        <p:nvSpPr>
          <p:cNvPr id="10" name="ac6d19b6-ecc5-49cf-935f-59d8e316ecfd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</a:t>
            </a:r>
            <a:endParaRPr lang="en-US" sz="2400" dirty="0"/>
          </a:p>
        </p:txBody>
      </p:sp>
      <p:sp>
        <p:nvSpPr>
          <p:cNvPr id="11" name="3e5bb934-a60f-4b59-97af-48e7637e987c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consultants added in 2025</a:t>
            </a:r>
            <a:endParaRPr lang="en-US" sz="1000" dirty="0"/>
          </a:p>
        </p:txBody>
      </p:sp>
      <p:sp>
        <p:nvSpPr>
          <p:cNvPr id="12" name="208774a2-a30f-4935-a260-91a3f3afbe60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13" name="40b96a27-0e70-48b0-a20c-ce03b0c7aa47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0d665593-60ad-464e-aa51-8a696224bff2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Investment</a:t>
            </a:r>
            <a:endParaRPr lang="en-US" sz="1200" dirty="0"/>
          </a:p>
        </p:txBody>
      </p:sp>
      <p:sp>
        <p:nvSpPr>
          <p:cNvPr id="15" name="7081dc69-09ec-4fbb-8792-859534830241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$23M</a:t>
            </a:r>
            <a:endParaRPr lang="en-US" sz="2400" dirty="0"/>
          </a:p>
        </p:txBody>
      </p:sp>
      <p:sp>
        <p:nvSpPr>
          <p:cNvPr id="16" name="d190749e-856e-4582-b2c7-09a8e99bec01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automation tools launched Q2 2025</a:t>
            </a:r>
            <a:endParaRPr lang="en-US" sz="1000" dirty="0"/>
          </a:p>
        </p:txBody>
      </p:sp>
      <p:sp>
        <p:nvSpPr>
          <p:cNvPr id="17" name="64a269e8-bfa0-484d-b29b-884751ec7ea9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</a:t>
            </a:r>
            <a:endParaRPr lang="en-US" sz="900" dirty="0"/>
          </a:p>
        </p:txBody>
      </p:sp>
      <p:sp>
        <p:nvSpPr>
          <p:cNvPr id="18" name="be0ae287-eeb9-45c1-8c63-79bd0951ab0a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4ac8aaca-9e2a-4bd8-80e0-33f40e5a59cf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RFI § Operations H; RFI § Financial Performance Q3 2025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0371a2b-08e5-49c4-8135-df7e324b517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e0ab02b1-02f6-488e-b732-ff43a98f217d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35539a8d-241a-4565-ad72-4fa84a0e0518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a4df747a-e950-4f64-bdcf-4d241ed101d8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87ecabc2-26e1-4899-acf2-71f866d98cc3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1ad4b837-e205-4761-8cee-a504ef0e1a94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080ab7a7-f5ae-4549-9f17-e9b60802a0ea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fd248851-4fa8-4d25-8fd1-ea608d9705ab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e5ba4290-195b-4e9d-8400-2fe9e669703e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890b5d2d-c039-41ec-a3fa-cf8e0ac4f7aa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8f68f4a7-78b5-4e68-8a2c-271a59f53343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8e4b75bd-b911-4fd4-b4a2-7b02c47477de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ebd4456d-e6ea-4ffe-8566-f9e45e801295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122270ef-8e20-47f4-8b7e-bcc18971fa80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05e6479e-7253-47fd-841d-79ee6ac45e4c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792f3159-cef7-4a1e-a067-13d51b0dc22b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d78411a2-239c-40eb-9d03-6d11e4f8fbc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b4539cd8-6da8-454a-9ff4-ea8e871e982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6360174-2dd0-4107-b2cf-67a2e1bf518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5fe78c7f-0043-4c4c-91e0-d8a1c941aaab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1a62e37c-e6c1-463f-ab49-28f9dfba6e1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96d1d438-8419-49df-9b72-179650f9e55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a58740c-6c49-4df8-9c15-55a1867737a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b3577c42-651d-4134-a258-949ecfb70749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e80bba74-b960-4ae3-b491-4afb0ed80778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c02724fd-bc9a-4854-b11b-33ea5dff44f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1cdd04-41e9-4909-8d90-8c31a31064a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6a90dbde-acfb-47a1-b277-16c798954fc0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1a5cba07-d01a-4f0a-8a50-ad676098385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d84022c3-31cd-4317-ade4-1117c16a330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e473712-4791-4037-89f8-33a03852175d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2800" dirty="0"/>
          </a:p>
        </p:txBody>
      </p:sp>
      <p:sp>
        <p:nvSpPr>
          <p:cNvPr id="3" name="dac79d5f-2241-4b75-95b8-c9d654858067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Market Trends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Insights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98c8172-bd45-4a6a-befb-71f0048d8c8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Market Leadership in Cloud ERP</a:t>
            </a:r>
            <a:endParaRPr lang="en-US" sz="2800" dirty="0"/>
          </a:p>
        </p:txBody>
      </p:sp>
      <p:sp>
        <p:nvSpPr>
          <p:cNvPr id="3" name="2b8f7d19-0f05-4d1d-bf18-ac4bcad8febc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insights and customer-centric approach</a:t>
            </a:r>
            <a:endParaRPr lang="en-US" sz="1400" dirty="0"/>
          </a:p>
        </p:txBody>
      </p:sp>
      <p:sp>
        <p:nvSpPr>
          <p:cNvPr id="4" name="d94f155b-bfff-404b-9e4a-2eaca7d2391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have been deployed in 47 implementations across 23 countries, showcasing global reach.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Cloud ERP services reached $127M in Q3 2025, indicating a 24% increase from the previous year.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average implementation time of 8.3 months is significantly lower than the industry average of 12 months.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retention rate stands at 94% in 2025, with 67% of clients expanding their scope within the first year.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has added 850 certified consultants in 2025, bringing the total to 3,200 globally, enhancing service delivery.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AI-powered automation tools reached $23M in Q2 2025, driving innovation and efficiency.</a:t>
            </a:r>
            <a:endParaRPr lang="en-US" sz="1600" dirty="0"/>
          </a:p>
        </p:txBody>
      </p:sp>
      <p:sp>
        <p:nvSpPr>
          <p:cNvPr id="5" name="be9f3754-7685-4cf3-b5d9-f790d933f57d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c0879ed8-cb6d-4bc7-b768-5948e6d9e066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2cc1b4-2c14-4f02-abd6-3bfd4d70351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Market Responsiveness and Track Record</a:t>
            </a:r>
            <a:endParaRPr lang="en-US" sz="2400" dirty="0"/>
          </a:p>
        </p:txBody>
      </p:sp>
      <p:sp>
        <p:nvSpPr>
          <p:cNvPr id="3" name="7607f269-a5b0-4979-8c99-7b2651cf549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employs advanced analytics to monitor market trends and customer feedback in real-time.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has established a dedicated team for rapid response to emerging customer requirements.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partnerships enhance its ability to deliver tailored solutions across various industries.</a:t>
            </a:r>
            <a:endParaRPr lang="en-US" sz="1400" dirty="0"/>
          </a:p>
        </p:txBody>
      </p:sp>
      <p:sp>
        <p:nvSpPr>
          <p:cNvPr id="4" name="19f7d04f-85d6-4c26-b609-6ba864a9dffa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roadmap promises have been consistently met, reinforcing trust with clients and analysts.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has a proven track record of delivering against business outcomes, evidenced by client success stories.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flexible pricing models and contract structures cater to diverse client needs, enhancing market competitiveness.</a:t>
            </a:r>
            <a:endParaRPr lang="en-US" sz="1400" dirty="0"/>
          </a:p>
        </p:txBody>
      </p:sp>
      <p:sp>
        <p:nvSpPr>
          <p:cNvPr id="5" name="a3820b43-e1c6-4383-86a0-15c274d11219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3a633acd-520d-4fd0-8523-50fb7554d3b7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 Rate: 94%</a:t>
            </a:r>
            <a:endParaRPr lang="en-US" sz="1200" dirty="0"/>
          </a:p>
        </p:txBody>
      </p:sp>
      <p:sp>
        <p:nvSpPr>
          <p:cNvPr id="7" name="03aff922-cddd-44a4-a0b7-8b31a4471255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3a4854cd-8c0e-4230-9da7-443487c2ed1d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9" name="bfaf5600-35f7-401d-8339-18a2e5f0b8e7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1376c18f-8456-4908-ba8c-7f847109b625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 24%</a:t>
            </a:r>
            <a:endParaRPr lang="en-US" sz="1200" dirty="0"/>
          </a:p>
        </p:txBody>
      </p:sp>
      <p:sp>
        <p:nvSpPr>
          <p:cNvPr id="11" name="f0d2fb72-8a3d-4291-80a9-e5b1c3061589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 YoY</a:t>
            </a:r>
            <a:endParaRPr lang="en-US" sz="1000" dirty="0"/>
          </a:p>
        </p:txBody>
      </p:sp>
      <p:sp>
        <p:nvSpPr>
          <p:cNvPr id="12" name="85b5e1e4-4d39-48c4-8502-29b76d28c258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13" name="a5257c63-d2dc-4387-b4e4-313d0c8d9a35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ea43292f-4409-40ba-9d14-672dd5838931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Time: 8.3 months</a:t>
            </a:r>
            <a:endParaRPr lang="en-US" sz="1200" dirty="0"/>
          </a:p>
        </p:txBody>
      </p:sp>
      <p:sp>
        <p:nvSpPr>
          <p:cNvPr id="15" name="46b02d21-6dba-48f4-bec7-7c0f77c55d72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12 months industry average</a:t>
            </a:r>
            <a:endParaRPr lang="en-US" sz="1000" dirty="0"/>
          </a:p>
        </p:txBody>
      </p:sp>
      <p:sp>
        <p:nvSpPr>
          <p:cNvPr id="16" name="133e446f-2e0b-417f-a634-6c47df161925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2025</a:t>
            </a:r>
            <a:endParaRPr lang="en-US" sz="900" dirty="0"/>
          </a:p>
        </p:txBody>
      </p:sp>
      <p:sp>
        <p:nvSpPr>
          <p:cNvPr id="17" name="43f223d4-22b0-41b5-9539-8b1a68c0b0c0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f2904af8-1132-45a4-9977-deb230d02a32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Market Responsiveness p.21;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b50510-b244-4a07-8b33-58fea72702c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of IBM's Cloud ERP Services</a:t>
            </a:r>
            <a:endParaRPr lang="en-US" sz="2400" dirty="0"/>
          </a:p>
        </p:txBody>
      </p:sp>
      <p:sp>
        <p:nvSpPr>
          <p:cNvPr id="3" name="aa79baa1-9727-4749-a04b-f589e303add3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7dc8f48a-3c35-4fb7-9a2a-4ef2fcd4fad4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Implementations</a:t>
            </a:r>
            <a:endParaRPr lang="en-US" sz="1200" dirty="0"/>
          </a:p>
        </p:txBody>
      </p:sp>
      <p:sp>
        <p:nvSpPr>
          <p:cNvPr id="5" name="ebc4e9cf-1407-4f3b-a999-269cc91234d0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2400" dirty="0"/>
          </a:p>
        </p:txBody>
      </p:sp>
      <p:sp>
        <p:nvSpPr>
          <p:cNvPr id="6" name="95a19b57-9f61-40c8-8827-2dbf3ec52b99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7" name="7e4712cf-9600-475f-b73c-7ad5a9aa6b30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8" name="692deeca-ee27-40b0-8766-bb4fb5fef943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106ec37b-071e-458a-a34c-f133fa489dec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Consultants</a:t>
            </a:r>
            <a:endParaRPr lang="en-US" sz="1200" dirty="0"/>
          </a:p>
        </p:txBody>
      </p:sp>
      <p:sp>
        <p:nvSpPr>
          <p:cNvPr id="10" name="3800f2e9-f2a1-4872-9df1-a0f2393f7dfc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3,200</a:t>
            </a:r>
            <a:endParaRPr lang="en-US" sz="2400" dirty="0"/>
          </a:p>
        </p:txBody>
      </p:sp>
      <p:sp>
        <p:nvSpPr>
          <p:cNvPr id="11" name="0c1a70f2-483e-4cc8-83fe-7dbb524bb498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d3fde243-e8d8-4301-96aa-b0acb453bb43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3" name="c1412e33-df0c-4942-8e7d-bbf68de563a4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4dcc5c05-9853-4c42-9f24-6774ae16b2b5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Investment</a:t>
            </a:r>
            <a:endParaRPr lang="en-US" sz="1200" dirty="0"/>
          </a:p>
        </p:txBody>
      </p:sp>
      <p:sp>
        <p:nvSpPr>
          <p:cNvPr id="15" name="846c8e09-9121-46f7-837e-09333b453779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$23M</a:t>
            </a:r>
            <a:endParaRPr lang="en-US" sz="2400" dirty="0"/>
          </a:p>
        </p:txBody>
      </p:sp>
      <p:sp>
        <p:nvSpPr>
          <p:cNvPr id="16" name="c5af16d3-e97d-4504-bb50-e3c21736cf2e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000" dirty="0"/>
          </a:p>
        </p:txBody>
      </p:sp>
      <p:sp>
        <p:nvSpPr>
          <p:cNvPr id="17" name="a0e205d1-cb31-4c10-9726-c08b60fdc51a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18" name="43060feb-87f1-4691-b56e-ac106c8e36b2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8d66b8dc-1fb2-490b-8354-de4feb63ba8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cbdf8a7-3147-4923-82d1-9b8c9b12a71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Customer Needs in Cloud ERP</a:t>
            </a:r>
            <a:endParaRPr lang="en-US" sz="2800" dirty="0"/>
          </a:p>
        </p:txBody>
      </p:sp>
      <p:sp>
        <p:nvSpPr>
          <p:cNvPr id="3" name="d915dbdc-3b1f-4398-8f80-08daf5852b4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solutions for diverse industries</a:t>
            </a:r>
            <a:endParaRPr lang="en-US" sz="1400" dirty="0"/>
          </a:p>
        </p:txBody>
      </p:sp>
      <p:sp>
        <p:nvSpPr>
          <p:cNvPr id="4" name="9d15435e-24cb-4e03-bfb3-df3e19c2907c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industry-specific solutions cater to sectors such as finance, healthcare, and manufacturing.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leverages its extensive partner ecosystem to enhance solution delivery and customization.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customer-centric approach involves co-creating solutions with clients to ensure alignment with business goals.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focus on business outcome contracts ensures measurable success for clients.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flexible pricing models accommodate different budgetary constraints and business models.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investment in GenAI and low-code technologies enables rapid adaptation to client needs.</a:t>
            </a:r>
            <a:endParaRPr lang="en-US" sz="1600" dirty="0"/>
          </a:p>
        </p:txBody>
      </p:sp>
      <p:sp>
        <p:nvSpPr>
          <p:cNvPr id="5" name="d2a39498-77d4-4eda-8828-21a9b9a398be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34e78867-7dba-4281-a32d-d348692ad506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Vertical/Industry Strategy p.17; RFI § Offering Strategy p.17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fd0f3b-fcb1-4c4c-9fe6-58969c751de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Partnerships and Ecosystem</a:t>
            </a:r>
            <a:endParaRPr lang="en-US" sz="2400" dirty="0"/>
          </a:p>
        </p:txBody>
      </p:sp>
      <p:sp>
        <p:nvSpPr>
          <p:cNvPr id="3" name="64330186-9471-4a72-b361-496dab0f2204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collaborates with leading technology providers to integrate cutting-edge solutions into its Cloud ERP services.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partnerships with global SIs and ISVs enhance its ability to deliver comprehensive solutions.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alliances with hyperscalers like AWS and Azure provide scalable infrastructure for Cloud ERP deployments.</a:t>
            </a:r>
            <a:endParaRPr lang="en-US" sz="1400" dirty="0"/>
          </a:p>
        </p:txBody>
      </p:sp>
      <p:sp>
        <p:nvSpPr>
          <p:cNvPr id="4" name="e6627afd-dbfb-4428-9909-6f71dba18d82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partnerships enable IBM to offer a wide range of solutions tailored to specific industry needs.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partner ecosystem supports rapid deployment and integration of Cloud ERP solutions.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Collaborations with industry leaders reinforce IBM's position as a trusted advisor in the Cloud ERP space.</a:t>
            </a:r>
            <a:endParaRPr lang="en-US" sz="1400" dirty="0"/>
          </a:p>
        </p:txBody>
      </p:sp>
      <p:sp>
        <p:nvSpPr>
          <p:cNvPr id="5" name="0a271266-2b81-4aca-88b2-3296b6922172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6f6442ab-ec2b-40ed-925c-68a2153158b1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SI Partners: 15+</a:t>
            </a:r>
            <a:endParaRPr lang="en-US" sz="1200" dirty="0"/>
          </a:p>
        </p:txBody>
      </p:sp>
      <p:sp>
        <p:nvSpPr>
          <p:cNvPr id="7" name="9bd1e251-8681-4085-ab78-0f134421ed19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22eaadbd-4721-42dc-8199-33416588281e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Partner Ecosystem p.21</a:t>
            </a:r>
            <a:endParaRPr lang="en-US" sz="900" dirty="0"/>
          </a:p>
        </p:txBody>
      </p:sp>
      <p:sp>
        <p:nvSpPr>
          <p:cNvPr id="9" name="40f039e4-b158-48cf-b2df-8fe2f29985ac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9f78e486-7e19-4701-bcc2-e11f5da8405e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ISV Partners: 20+</a:t>
            </a:r>
            <a:endParaRPr lang="en-US" sz="1200" dirty="0"/>
          </a:p>
        </p:txBody>
      </p:sp>
      <p:sp>
        <p:nvSpPr>
          <p:cNvPr id="11" name="fa2847da-bdd5-4351-b1fc-51efca567fd2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195c2592-70a8-4e82-9212-81669173c755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Partner Ecosystem p.21</a:t>
            </a:r>
            <a:endParaRPr lang="en-US" sz="900" dirty="0"/>
          </a:p>
        </p:txBody>
      </p:sp>
      <p:sp>
        <p:nvSpPr>
          <p:cNvPr id="13" name="2bc65a35-1979-4714-9430-e01d136d6c34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cd028103-c958-4431-9165-2a4453e9a87d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Hyperscaler Alliances: AWS, Azure</a:t>
            </a:r>
            <a:endParaRPr lang="en-US" sz="1200" dirty="0"/>
          </a:p>
        </p:txBody>
      </p:sp>
      <p:sp>
        <p:nvSpPr>
          <p:cNvPr id="15" name="b2fd9439-9265-442a-ae31-d04330447f24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6" name="04ead220-f9f8-44b3-974f-0cc640d54a37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Partner Ecosystem p.21</a:t>
            </a:r>
            <a:endParaRPr lang="en-US" sz="900" dirty="0"/>
          </a:p>
        </p:txBody>
      </p:sp>
      <p:sp>
        <p:nvSpPr>
          <p:cNvPr id="17" name="4a7ae278-a2c0-43f2-b7f2-e6aafd5af00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35d9abe0-3c38-41d2-8cd5-adafdc991bb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Partner Ecosystem p.21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8c5e84f-b107-4238-b8aa-a4d4c5adcbb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Strength and Operational Maturity</a:t>
            </a:r>
            <a:endParaRPr lang="en-US" sz="2400" dirty="0"/>
          </a:p>
        </p:txBody>
      </p:sp>
      <p:sp>
        <p:nvSpPr>
          <p:cNvPr id="3" name="09787854-9a1c-4e9e-8797-aff00a5ffa64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7f97ce4a-481e-4eed-8a10-4806743981e3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5" name="d6aadabf-c75f-45e2-83d1-90e1b8b3410e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400" dirty="0"/>
          </a:p>
        </p:txBody>
      </p:sp>
      <p:sp>
        <p:nvSpPr>
          <p:cNvPr id="6" name="33730c5d-ed82-4b33-a421-2d29bc8cd187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 YoY</a:t>
            </a:r>
            <a:endParaRPr lang="en-US" sz="1000" dirty="0"/>
          </a:p>
        </p:txBody>
      </p:sp>
      <p:sp>
        <p:nvSpPr>
          <p:cNvPr id="7" name="73b2719d-e812-43e7-92a3-ad21b5f98554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8" name="3a965fe3-d471-4c9c-83f9-de451813c9d1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37e0dfae-e11a-434f-8a1d-251b114e99c5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</a:t>
            </a:r>
            <a:endParaRPr lang="en-US" sz="1200" dirty="0"/>
          </a:p>
        </p:txBody>
      </p:sp>
      <p:sp>
        <p:nvSpPr>
          <p:cNvPr id="10" name="7ebd0a4f-d8fc-496b-a5dd-bad788786c26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400" dirty="0"/>
          </a:p>
        </p:txBody>
      </p:sp>
      <p:sp>
        <p:nvSpPr>
          <p:cNvPr id="11" name="28e5ba8a-a88d-45d1-a3e4-4cca1392682c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bd8c8106-d30e-4508-959a-81abd89194a9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3" name="d0d46421-5324-46ef-9d7e-c5cb3141e2a2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600d01ad-92c6-4a4a-8c53-4ebae99706d4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Innovation</a:t>
            </a:r>
            <a:endParaRPr lang="en-US" sz="1200" dirty="0"/>
          </a:p>
        </p:txBody>
      </p:sp>
      <p:sp>
        <p:nvSpPr>
          <p:cNvPr id="15" name="9bb9cb00-0725-437f-a4ce-0de85eff193b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$23M</a:t>
            </a:r>
            <a:endParaRPr lang="en-US" sz="2400" dirty="0"/>
          </a:p>
        </p:txBody>
      </p:sp>
      <p:sp>
        <p:nvSpPr>
          <p:cNvPr id="16" name="b538fb04-7e47-4ea2-992e-a06804062688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000" dirty="0"/>
          </a:p>
        </p:txBody>
      </p:sp>
      <p:sp>
        <p:nvSpPr>
          <p:cNvPr id="17" name="71b63d30-c6a6-4f4d-abb9-51838520804f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18" name="2c77be48-49da-486e-8890-b83fa9392af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72d7d0aa-f51d-42ef-9e4a-e8c228b5dca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Financial Performance Q3 2025 p.12; RFI § Cloud ERP Practice Overview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cd566bb-98c5-4919-9ba6-dc4c796740b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Innovation in Cloud ERP Technologies</a:t>
            </a:r>
            <a:endParaRPr lang="en-US" sz="2800" dirty="0"/>
          </a:p>
        </p:txBody>
      </p:sp>
      <p:sp>
        <p:nvSpPr>
          <p:cNvPr id="3" name="ed5656f0-eee4-4404-95d5-4f0843994d57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future-ready solutions with GenAI and low-code</a:t>
            </a:r>
            <a:endParaRPr lang="en-US" sz="1400" dirty="0"/>
          </a:p>
        </p:txBody>
      </p:sp>
      <p:sp>
        <p:nvSpPr>
          <p:cNvPr id="4" name="0b0e05af-7fee-4b8e-8422-5144349a2d8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GenAI capabilities enhance decision-making and operational efficiency in Cloud ERP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has developed proprietary low-code platforms to accelerate solution deployment and customization.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innovation roadmap includes significant investments in AI-powered automation tools.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focus on emerging technologies positions it as a leader in driving future-ready Cloud ERP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R&amp;D efforts are aligned with market trends and customer needs, ensuring relevance and competitiveness.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innovation strategy is supported by a robust ecosystem of partners and collaborators.</a:t>
            </a:r>
            <a:endParaRPr lang="en-US" sz="1600" dirty="0"/>
          </a:p>
        </p:txBody>
      </p:sp>
      <p:sp>
        <p:nvSpPr>
          <p:cNvPr id="5" name="6edd9329-c55a-4e01-887c-c437aea0e26d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e156603c-0163-4f95-92ff-dd76ca42fb88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Offering Strategy p.17; RFI § Innovation &amp; Roadmap p.21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ea0a6c7-98d8-46bf-9ac6-fbccf5cbe95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Market Understanding and Competitive Landscape</a:t>
            </a:r>
            <a:endParaRPr lang="en-US" sz="2400" dirty="0"/>
          </a:p>
        </p:txBody>
      </p:sp>
      <p:sp>
        <p:nvSpPr>
          <p:cNvPr id="3" name="01062db5-8c75-4218-baab-aeece83a621c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conducts regular market analysis to stay ahead of industry trends and customer expectations.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has a comprehensive understanding of the competitive landscape, enabling strategic positioning.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market insights inform its product development and go-to-market strategies, ensuring alignment with client needs.</a:t>
            </a:r>
            <a:endParaRPr lang="en-US" sz="1400" dirty="0"/>
          </a:p>
        </p:txBody>
      </p:sp>
      <p:sp>
        <p:nvSpPr>
          <p:cNvPr id="4" name="9896c867-c00b-40ef-981c-8094c1b88033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competitive differentiation is driven by its innovation capabilities and customer-centric approach.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focus on delivering business outcomes sets it apart from competitors.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investments in emerging technologies reinforce its leadership in the Cloud ERP space.</a:t>
            </a:r>
            <a:endParaRPr lang="en-US" sz="1400" dirty="0"/>
          </a:p>
        </p:txBody>
      </p:sp>
      <p:sp>
        <p:nvSpPr>
          <p:cNvPr id="5" name="8d79b621-3d4d-44fb-a464-c981969bffab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6c4ddaf3-e236-437b-8918-ef4e33ff5495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 Frequency: Quarterly</a:t>
            </a:r>
            <a:endParaRPr lang="en-US" sz="1200" dirty="0"/>
          </a:p>
        </p:txBody>
      </p:sp>
      <p:sp>
        <p:nvSpPr>
          <p:cNvPr id="7" name="da67f155-0eae-46b9-a64a-1cf51629e42d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ddce3c91-b7b5-43af-998b-88784410b688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Market Understanding p.21</a:t>
            </a:r>
            <a:endParaRPr lang="en-US" sz="900" dirty="0"/>
          </a:p>
        </p:txBody>
      </p:sp>
      <p:sp>
        <p:nvSpPr>
          <p:cNvPr id="9" name="a8863c1f-9c3f-4f52-860d-6cf75e37ee1b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d751c113-1fc5-4e8d-92ac-4c7a44f6472a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Insights: Comprehensive</a:t>
            </a:r>
            <a:endParaRPr lang="en-US" sz="1200" dirty="0"/>
          </a:p>
        </p:txBody>
      </p:sp>
      <p:sp>
        <p:nvSpPr>
          <p:cNvPr id="11" name="b60f15e6-83c3-4d10-8063-2fc197d38872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b02f4e5c-d316-4e58-8d7b-a75797f6cd00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Market Understanding p.21</a:t>
            </a:r>
            <a:endParaRPr lang="en-US" sz="900" dirty="0"/>
          </a:p>
        </p:txBody>
      </p:sp>
      <p:sp>
        <p:nvSpPr>
          <p:cNvPr id="13" name="7603dfca-d574-4c83-bf7d-148a2a03b0a1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67bd497b-ccb2-48cd-b6c1-d970cc2bbd3f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Investment: $23M</a:t>
            </a:r>
            <a:endParaRPr lang="en-US" sz="1200" dirty="0"/>
          </a:p>
        </p:txBody>
      </p:sp>
      <p:sp>
        <p:nvSpPr>
          <p:cNvPr id="15" name="67699a1f-d89a-4628-afa2-d4721b754b6b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000" dirty="0"/>
          </a:p>
        </p:txBody>
      </p:sp>
      <p:sp>
        <p:nvSpPr>
          <p:cNvPr id="16" name="cc970383-711c-4d75-a1c4-6596f9e84248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17" name="ffaae480-5de2-4240-9eac-162c237f381b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23dc326b-8688-471a-977c-3af0e5b8fcc1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Market Understanding p.21;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417258-0d6e-45cc-944e-fbaa93047b4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Client Success Stories in Cloud ERP</a:t>
            </a:r>
            <a:endParaRPr lang="en-US" sz="2400" dirty="0"/>
          </a:p>
        </p:txBody>
      </p:sp>
      <p:sp>
        <p:nvSpPr>
          <p:cNvPr id="3" name="6e30a6a1-0faf-443e-8056-0053cdb396b7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59681cf4-b023-4201-8285-c90088a4ff5e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 Rate</a:t>
            </a:r>
            <a:endParaRPr lang="en-US" sz="1200" dirty="0"/>
          </a:p>
        </p:txBody>
      </p:sp>
      <p:sp>
        <p:nvSpPr>
          <p:cNvPr id="5" name="fd388816-5c51-4ec1-9c33-036f021371d8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400" dirty="0"/>
          </a:p>
        </p:txBody>
      </p:sp>
      <p:sp>
        <p:nvSpPr>
          <p:cNvPr id="6" name="322ccb04-9780-4094-94fc-40357469ad16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7" name="78ca1661-70d2-4577-8620-2a1c4a9977bc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8" name="8d47e543-8278-47c8-b5e4-096f4f69dacb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21dc11ed-9af6-4a71-995e-0f022e6c752f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Expansion</a:t>
            </a:r>
            <a:endParaRPr lang="en-US" sz="1200" dirty="0"/>
          </a:p>
        </p:txBody>
      </p:sp>
      <p:sp>
        <p:nvSpPr>
          <p:cNvPr id="10" name="b10eee9b-fd42-40b9-8b5e-b7ad681e500f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400" dirty="0"/>
          </a:p>
        </p:txBody>
      </p:sp>
      <p:sp>
        <p:nvSpPr>
          <p:cNvPr id="11" name="720e83cb-c607-4d64-b17c-fe377279f6af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first year</a:t>
            </a:r>
            <a:endParaRPr lang="en-US" sz="1000" dirty="0"/>
          </a:p>
        </p:txBody>
      </p:sp>
      <p:sp>
        <p:nvSpPr>
          <p:cNvPr id="12" name="9119d679-15bf-4aeb-a013-64f0fc545997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3" name="3fac9993-7b14-4a90-ae9d-72bca1c5a048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5f3bbb03-b9c5-42f8-a5a9-526ec651bdfc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</a:t>
            </a:r>
            <a:endParaRPr lang="en-US" sz="1200" dirty="0"/>
          </a:p>
        </p:txBody>
      </p:sp>
      <p:sp>
        <p:nvSpPr>
          <p:cNvPr id="15" name="2f9f9729-76e5-4bd2-a344-82b748f04bae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 months</a:t>
            </a:r>
            <a:endParaRPr lang="en-US" sz="2400" dirty="0"/>
          </a:p>
        </p:txBody>
      </p:sp>
      <p:sp>
        <p:nvSpPr>
          <p:cNvPr id="16" name="1fe21a81-7a50-4502-9063-68217e26122d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12 months industry average</a:t>
            </a:r>
            <a:endParaRPr lang="en-US" sz="1000" dirty="0"/>
          </a:p>
        </p:txBody>
      </p:sp>
      <p:sp>
        <p:nvSpPr>
          <p:cNvPr id="17" name="e2599e01-abc1-41d7-aaa2-b6b4c2a5f3e5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2025</a:t>
            </a:r>
            <a:endParaRPr lang="en-US" sz="900" dirty="0"/>
          </a:p>
        </p:txBody>
      </p:sp>
      <p:sp>
        <p:nvSpPr>
          <p:cNvPr id="18" name="6a95720a-0905-4615-a592-0ebea497450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edd8475f-c7f0-44cd-a5fd-b1ab93baac5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Gartner 2025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b0900e8-49ae-4b4c-a8b3-8c9bb52c2e1b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Roadmap for Cloud ERP</a:t>
            </a:r>
            <a:endParaRPr lang="en-US" sz="2800" dirty="0"/>
          </a:p>
        </p:txBody>
      </p:sp>
      <p:sp>
        <p:nvSpPr>
          <p:cNvPr id="3" name="0064a1c8-4a46-47b2-a7a8-ab3f3046bf3f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 and innovation initiatives</a:t>
            </a:r>
            <a:endParaRPr lang="en-US" sz="1400" dirty="0"/>
          </a:p>
        </p:txBody>
      </p:sp>
      <p:sp>
        <p:nvSpPr>
          <p:cNvPr id="4" name="ef88d857-b327-4d07-a461-990f2e1be861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roadmap includes significant investments in AI and automation technologies to enhance Cloud ERP offerings.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plans to expand its partner ecosystem to include more industry-specific solution providers.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focus on GenAI and low-code platforms will drive rapid deployment and customization capabilities.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strategic initiatives are aligned with market trends and customer needs, ensuring relevance and competitiveness.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roadmap promises have been consistently met, reinforcing trust with clients and analysts.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innovation strategy is supported by a robust ecosystem of partners and collaborators.</a:t>
            </a:r>
            <a:endParaRPr lang="en-US" sz="1600" dirty="0"/>
          </a:p>
        </p:txBody>
      </p:sp>
      <p:sp>
        <p:nvSpPr>
          <p:cNvPr id="5" name="03fe8626-afa4-4f5c-ab10-c9347001a0fa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fda36dc5-0d66-4cac-8a6b-b74a17b95902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Innovation &amp; Roadmap p.21; RFI § Partner Ecosystem p.21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ea28148-5e07-4133-8d14-39060755ad2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Risk Management and Compliance in Cloud ERP</a:t>
            </a:r>
            <a:endParaRPr lang="en-US" sz="2400" dirty="0"/>
          </a:p>
        </p:txBody>
      </p:sp>
      <p:sp>
        <p:nvSpPr>
          <p:cNvPr id="3" name="5f91a172-ba02-478e-b7bc-3f30d619d9ec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has implemented comprehensive data migration controls to ensure secure and compliant transitions.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change management processes are designed to minimize disruption and ensure smooth transitions.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compliance posture is aligned with industry standards and regulatory requirements, ensuring client trust.</a:t>
            </a:r>
            <a:endParaRPr lang="en-US" sz="1400" dirty="0"/>
          </a:p>
        </p:txBody>
      </p:sp>
      <p:sp>
        <p:nvSpPr>
          <p:cNvPr id="4" name="255f3234-14e2-40f3-a519-84dc99531c18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GenAI governance framework ensures ethical and responsible use of AI technologies in Cloud ERP solutions.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risk management strategies are informed by regular assessments and audits.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focus on security and compliance is supported by a dedicated team of experts and industry partners.</a:t>
            </a:r>
            <a:endParaRPr lang="en-US" sz="1400" dirty="0"/>
          </a:p>
        </p:txBody>
      </p:sp>
      <p:sp>
        <p:nvSpPr>
          <p:cNvPr id="5" name="9c9014f9-d407-4fd2-9409-c74b5ad0aed8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9f86f6ee-bcbc-4bcd-9ecb-a88f7ff5d79c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 Controls: Comprehensive</a:t>
            </a:r>
            <a:endParaRPr lang="en-US" sz="1200" dirty="0"/>
          </a:p>
        </p:txBody>
      </p:sp>
      <p:sp>
        <p:nvSpPr>
          <p:cNvPr id="7" name="8a0c5993-463c-4d88-b9fd-52b885349f2a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b03ce061-b0d5-4265-a2ef-05da44f0c0fa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Risk, Governance &amp; Compliance p.21</a:t>
            </a:r>
            <a:endParaRPr lang="en-US" sz="900" dirty="0"/>
          </a:p>
        </p:txBody>
      </p:sp>
      <p:sp>
        <p:nvSpPr>
          <p:cNvPr id="9" name="883f8b98-2f5e-4116-88c4-f115dd264eb3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3a2d65fb-b4f3-422e-b9ed-cabacb06ca67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 Processes: Robust</a:t>
            </a:r>
            <a:endParaRPr lang="en-US" sz="1200" dirty="0"/>
          </a:p>
        </p:txBody>
      </p:sp>
      <p:sp>
        <p:nvSpPr>
          <p:cNvPr id="11" name="9a8da0ec-7c9e-4692-8c52-32c6c1220ed4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6144aecc-9bcc-4311-95c9-3bd6ff919db8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Risk, Governance &amp; Compliance p.21</a:t>
            </a:r>
            <a:endParaRPr lang="en-US" sz="900" dirty="0"/>
          </a:p>
        </p:txBody>
      </p:sp>
      <p:sp>
        <p:nvSpPr>
          <p:cNvPr id="13" name="d16f2090-28db-4010-b488-6aaa7b663520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6b298021-07d4-4d88-b9c9-e412a41c84d7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Posture: Aligned</a:t>
            </a:r>
            <a:endParaRPr lang="en-US" sz="1200" dirty="0"/>
          </a:p>
        </p:txBody>
      </p:sp>
      <p:sp>
        <p:nvSpPr>
          <p:cNvPr id="15" name="031fe541-24ec-4d51-9597-b8b3fe74e553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6" name="143cb523-e6b0-47a1-ad1b-4826667720d9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Risk, Governance &amp; Compliance p.21</a:t>
            </a:r>
            <a:endParaRPr lang="en-US" sz="900" dirty="0"/>
          </a:p>
        </p:txBody>
      </p:sp>
      <p:sp>
        <p:nvSpPr>
          <p:cNvPr id="17" name="67e5d58f-04b7-4662-9d9c-acb9a5efc8d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0a78544a-7740-4463-a162-1175c8360a7d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Risk, Governance &amp; Compliance p.21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b88b376-ff71-4b05-b334-cedef30e60c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Market Impact and Analyst Perception</a:t>
            </a:r>
            <a:endParaRPr lang="en-US" sz="2400" dirty="0"/>
          </a:p>
        </p:txBody>
      </p:sp>
      <p:sp>
        <p:nvSpPr>
          <p:cNvPr id="3" name="e7ce2f45-8dee-463a-9cf3-0b7ce83eb5a9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dda29be4-4f02-4465-b799-d920c0029a5b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Impact</a:t>
            </a:r>
            <a:endParaRPr lang="en-US" sz="1200" dirty="0"/>
          </a:p>
        </p:txBody>
      </p:sp>
      <p:sp>
        <p:nvSpPr>
          <p:cNvPr id="5" name="35de354a-4799-4ee4-a58a-f060fdb41031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6" name="d8a022c4-3231-4aac-8422-ce06647c0dbf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7" name="8c07de6a-0afc-4408-b800-eaa28acf7544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Market Responsiveness p.21</a:t>
            </a:r>
            <a:endParaRPr lang="en-US" sz="900" dirty="0"/>
          </a:p>
        </p:txBody>
      </p:sp>
      <p:sp>
        <p:nvSpPr>
          <p:cNvPr id="8" name="4335ca3d-3f27-4502-a07c-c5e91b15b157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5a853a20-b828-48c6-9885-992c4762252c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Perception</a:t>
            </a:r>
            <a:endParaRPr lang="en-US" sz="1200" dirty="0"/>
          </a:p>
        </p:txBody>
      </p:sp>
      <p:sp>
        <p:nvSpPr>
          <p:cNvPr id="10" name="dabdb164-9dc1-43e1-955b-81bf39f12bbb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2400" dirty="0"/>
          </a:p>
        </p:txBody>
      </p:sp>
      <p:sp>
        <p:nvSpPr>
          <p:cNvPr id="11" name="40a72ed7-d19e-49e7-bccf-abbf52a4a9f4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3f0a6cd6-9e25-4526-83d1-e7d1790729d6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Market Responsiveness p.21</a:t>
            </a:r>
            <a:endParaRPr lang="en-US" sz="900" dirty="0"/>
          </a:p>
        </p:txBody>
      </p:sp>
      <p:sp>
        <p:nvSpPr>
          <p:cNvPr id="13" name="dea8630a-e67b-4e46-8a04-46e344704b3b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0d1d443c-8139-41f3-ab59-69298b5591ff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Promises Met</a:t>
            </a:r>
            <a:endParaRPr lang="en-US" sz="1200" dirty="0"/>
          </a:p>
        </p:txBody>
      </p:sp>
      <p:sp>
        <p:nvSpPr>
          <p:cNvPr id="15" name="fe2591a7-2435-48eb-85c3-b64c90561dc5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</a:t>
            </a:r>
            <a:endParaRPr lang="en-US" sz="2400" dirty="0"/>
          </a:p>
        </p:txBody>
      </p:sp>
      <p:sp>
        <p:nvSpPr>
          <p:cNvPr id="16" name="42cecea0-a63e-488f-b4b5-9dc7b10642f5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7" name="dd8a5313-7ccc-4647-8e88-bd5c38a8cd78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Market Responsiveness p.21</a:t>
            </a:r>
            <a:endParaRPr lang="en-US" sz="900" dirty="0"/>
          </a:p>
        </p:txBody>
      </p:sp>
      <p:sp>
        <p:nvSpPr>
          <p:cNvPr id="18" name="f9c8e1c6-5e13-4ab5-910e-b27f96ce9ce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afba9480-f3f5-405f-b862-3d02639dfb6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Market Responsiveness p.21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d32df5-ed54-4027-9372-e3f6172ba59b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Commitment to Client Success in Cloud ERP</a:t>
            </a:r>
            <a:endParaRPr lang="en-US" sz="2800" dirty="0"/>
          </a:p>
        </p:txBody>
      </p:sp>
      <p:sp>
        <p:nvSpPr>
          <p:cNvPr id="3" name="8dc35b1f-9713-4505-adec-e3c598778c58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measurable business outcomes</a:t>
            </a:r>
            <a:endParaRPr lang="en-US" sz="1400" dirty="0"/>
          </a:p>
        </p:txBody>
      </p:sp>
      <p:sp>
        <p:nvSpPr>
          <p:cNvPr id="4" name="fbfbe403-fcea-47c1-8ea6-0f4018cd5c6a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business outcome contracts ensure that clients achieve measurable success with Cloud ERP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customer-centric approach involves co-creating solutions with clients to ensure alignment with business goals.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flexible pricing models accommodate different budgetary constraints and business models.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focus on delivering business outcomes sets it apart from competitors.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client retention rate of 94% in 2025 reflects its commitment to long-term client success.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company's investment in GenAI and low-code technologies enables rapid adaptation to client needs.</a:t>
            </a:r>
            <a:endParaRPr lang="en-US" sz="1600" dirty="0"/>
          </a:p>
        </p:txBody>
      </p:sp>
      <p:sp>
        <p:nvSpPr>
          <p:cNvPr id="5" name="0e12a583-f135-4498-bad4-d59ec82d8838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2909ec6a-b77f-4293-8777-c1d4ab2c0e48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Offering Strategy p.17; RFI § Cloud ERP Practice Overview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57bec1b-d0b0-4c75-bbb7-d0cc9b7673fb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</a:t>
            </a:r>
            <a:endParaRPr lang="en-US" sz="2800" dirty="0"/>
          </a:p>
        </p:txBody>
      </p:sp>
      <p:sp>
        <p:nvSpPr>
          <p:cNvPr id="3" name="d96cef3e-ecc9-43f9-9403-4e2e2484495b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Highlights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Strategy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ece91de-8d0c-4abd-bdcc-8ecbd940a17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Product Strategy for Cloud ERP</a:t>
            </a:r>
            <a:endParaRPr lang="en-US" sz="2800" dirty="0"/>
          </a:p>
        </p:txBody>
      </p:sp>
      <p:sp>
        <p:nvSpPr>
          <p:cNvPr id="3" name="1b3aa05b-a315-4d93-986d-26ee148a9da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Roadmap and Strategic Execution</a:t>
            </a:r>
            <a:endParaRPr lang="en-US" sz="1400" dirty="0"/>
          </a:p>
        </p:txBody>
      </p:sp>
      <p:sp>
        <p:nvSpPr>
          <p:cNvPr id="4" name="a971b2c0-8a8d-4947-99dd-d8d32d364a14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incorporate GenAI and low-code technologies for enhanced functionality.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investments in AI-powered automation tools launched in Q2 2025.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portfolio breadth includes comprehensive solutions for seamless integration.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Emphasis on market differentiation through proprietary IP investments.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approach to product development aligns with current and future market requirements.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delivery models enhance customer experience and operational efficiency.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roadmap includes advancements in data transformation and change management.</a:t>
            </a:r>
            <a:endParaRPr lang="en-US" sz="1600" dirty="0"/>
          </a:p>
        </p:txBody>
      </p:sp>
      <p:sp>
        <p:nvSpPr>
          <p:cNvPr id="5" name="f4c8a157-2f0f-4eb3-beb4-e52bb183e300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c96ebb2c-4523-4ce4-b9db-1330d4ed088d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Offering Strategy p.17; RFI § Innovation Investments p.84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ba00dc3-88f9-484d-b71b-f6786eb24a6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and Low-Code Technologies</a:t>
            </a:r>
            <a:endParaRPr lang="en-US" sz="2400" dirty="0"/>
          </a:p>
        </p:txBody>
      </p:sp>
      <p:sp>
        <p:nvSpPr>
          <p:cNvPr id="3" name="34caebbf-0cea-4aa8-9bc9-e008e6be2904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capabilities enable predictive analytics and decision-making.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platforms facilitate rapid application development.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user experience through intuitive interfaces.</a:t>
            </a:r>
            <a:endParaRPr lang="en-US" sz="1400" dirty="0"/>
          </a:p>
        </p:txBody>
      </p:sp>
      <p:sp>
        <p:nvSpPr>
          <p:cNvPr id="4" name="c09fbbe8-2fdd-4b02-8a16-a124e5539ce0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operational efficiency with automated workflows.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integration with existing infrastructures.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to meet evolving business needs.</a:t>
            </a:r>
            <a:endParaRPr lang="en-US" sz="1400" dirty="0"/>
          </a:p>
        </p:txBody>
      </p:sp>
      <p:sp>
        <p:nvSpPr>
          <p:cNvPr id="5" name="daf81570-b2fb-44b1-b7c0-cf6fc7929632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a0e9bbc5-8f5f-40e6-95eb-574990b6ec93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Adoption: 75%</a:t>
            </a:r>
            <a:endParaRPr lang="en-US" sz="1200" dirty="0"/>
          </a:p>
        </p:txBody>
      </p:sp>
      <p:sp>
        <p:nvSpPr>
          <p:cNvPr id="7" name="0d1a67e8-c78f-4430-a608-ef99d7502584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IBM Cloud ERP clients</a:t>
            </a:r>
            <a:endParaRPr lang="en-US" sz="1000" dirty="0"/>
          </a:p>
        </p:txBody>
      </p:sp>
      <p:sp>
        <p:nvSpPr>
          <p:cNvPr id="8" name="b71fe572-0844-4fe8-9cde-c982f0bb84e3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Technology Adoption p.105</a:t>
            </a:r>
            <a:endParaRPr lang="en-US" sz="900" dirty="0"/>
          </a:p>
        </p:txBody>
      </p:sp>
      <p:sp>
        <p:nvSpPr>
          <p:cNvPr id="9" name="39e2a666-9b30-4834-a83c-c2c85fbe925a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1bfe07db-3385-40e5-8f70-c8b0aa7af678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Efficiency: 30% faster</a:t>
            </a:r>
            <a:endParaRPr lang="en-US" sz="1200" dirty="0"/>
          </a:p>
        </p:txBody>
      </p:sp>
      <p:sp>
        <p:nvSpPr>
          <p:cNvPr id="11" name="d709af2a-0316-4ffd-b08f-5546501b1a73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time reduction</a:t>
            </a:r>
            <a:endParaRPr lang="en-US" sz="1000" dirty="0"/>
          </a:p>
        </p:txBody>
      </p:sp>
      <p:sp>
        <p:nvSpPr>
          <p:cNvPr id="12" name="b665f9e3-02c7-4423-9ad1-d661d2ebc172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Product Strategy p.17</a:t>
            </a:r>
            <a:endParaRPr lang="en-US" sz="900" dirty="0"/>
          </a:p>
        </p:txBody>
      </p:sp>
      <p:sp>
        <p:nvSpPr>
          <p:cNvPr id="13" name="596f0dcd-3263-4a8f-b26b-83c848b67ab7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1a640d9f-9279-4fdd-8f9a-5bd14eb07e7e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Satisfaction: 92%</a:t>
            </a:r>
            <a:endParaRPr lang="en-US" sz="1200" dirty="0"/>
          </a:p>
        </p:txBody>
      </p:sp>
      <p:sp>
        <p:nvSpPr>
          <p:cNvPr id="15" name="d5ec36b9-13b3-48a3-b99d-f970f7ce1bb3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feedback on interfaces</a:t>
            </a:r>
            <a:endParaRPr lang="en-US" sz="1000" dirty="0"/>
          </a:p>
        </p:txBody>
      </p:sp>
      <p:sp>
        <p:nvSpPr>
          <p:cNvPr id="16" name="79255ebe-fee0-4762-9ff9-001e4f8134d0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Customer Feedback p.84</a:t>
            </a:r>
            <a:endParaRPr lang="en-US" sz="900" dirty="0"/>
          </a:p>
        </p:txBody>
      </p:sp>
      <p:sp>
        <p:nvSpPr>
          <p:cNvPr id="17" name="1ad101be-b26e-4438-8e6d-38ff3e34319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3cfafbce-47ac-42ed-b58d-a8dfc71372f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GenAI and Low-Code Technologies p.105; RFI § Customer Feedback p.84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095b02-d0c2-4f00-a0df-62e95592f99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Investments in Innovation</a:t>
            </a:r>
            <a:endParaRPr lang="en-US" sz="2400" dirty="0"/>
          </a:p>
        </p:txBody>
      </p:sp>
      <p:sp>
        <p:nvSpPr>
          <p:cNvPr id="3" name="3d3e1731-be81-41cc-b531-4b935a7bfc8b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56279f9f-2fc5-4ce0-8bf9-4e0b18d9a85b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Investment</a:t>
            </a:r>
            <a:endParaRPr lang="en-US" sz="1200" dirty="0"/>
          </a:p>
        </p:txBody>
      </p:sp>
      <p:sp>
        <p:nvSpPr>
          <p:cNvPr id="5" name="045819ee-3ff1-44c7-967e-e7b12140f7a9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$23M</a:t>
            </a:r>
            <a:endParaRPr lang="en-US" sz="2400" dirty="0"/>
          </a:p>
        </p:txBody>
      </p:sp>
      <p:sp>
        <p:nvSpPr>
          <p:cNvPr id="6" name="2ec865af-ed8b-4daa-81c8-76df4f51e9ce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 AI-powered tools</a:t>
            </a:r>
            <a:endParaRPr lang="en-US" sz="1000" dirty="0"/>
          </a:p>
        </p:txBody>
      </p:sp>
      <p:sp>
        <p:nvSpPr>
          <p:cNvPr id="7" name="68f7d6fc-1dff-4606-b437-c0254725c744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Innovation Investments p.84</a:t>
            </a:r>
            <a:endParaRPr lang="en-US" sz="900" dirty="0"/>
          </a:p>
        </p:txBody>
      </p:sp>
      <p:sp>
        <p:nvSpPr>
          <p:cNvPr id="8" name="cbc67173-f2dd-4f4d-aefc-54df2fc37be1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3af65b95-ec37-4f09-a38a-87c056eda365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 Expansion</a:t>
            </a:r>
            <a:endParaRPr lang="en-US" sz="1200" dirty="0"/>
          </a:p>
        </p:txBody>
      </p:sp>
      <p:sp>
        <p:nvSpPr>
          <p:cNvPr id="10" name="9719a51e-8791-45eb-890b-45c4781b089d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 added</a:t>
            </a:r>
            <a:endParaRPr lang="en-US" sz="2400" dirty="0"/>
          </a:p>
        </p:txBody>
      </p:sp>
      <p:sp>
        <p:nvSpPr>
          <p:cNvPr id="11" name="69862f4c-e45c-40d1-bc49-2ee768a88e1c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consultants in 2025</a:t>
            </a:r>
            <a:endParaRPr lang="en-US" sz="1000" dirty="0"/>
          </a:p>
        </p:txBody>
      </p:sp>
      <p:sp>
        <p:nvSpPr>
          <p:cNvPr id="12" name="9155ff4e-d670-4959-81dd-297a59e2137e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Team Expansion p.3</a:t>
            </a:r>
            <a:endParaRPr lang="en-US" sz="900" dirty="0"/>
          </a:p>
        </p:txBody>
      </p:sp>
      <p:sp>
        <p:nvSpPr>
          <p:cNvPr id="13" name="70460271-8488-4a53-baa9-4334be52c71f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ee3d21c0-07c4-4a79-a979-79685211c886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</a:t>
            </a:r>
            <a:endParaRPr lang="en-US" sz="1200" dirty="0"/>
          </a:p>
        </p:txBody>
      </p:sp>
      <p:sp>
        <p:nvSpPr>
          <p:cNvPr id="15" name="f237b229-46dc-4e8f-95d9-13636a635b41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400" dirty="0"/>
          </a:p>
        </p:txBody>
      </p:sp>
      <p:sp>
        <p:nvSpPr>
          <p:cNvPr id="16" name="6cabd21a-e365-41c3-844f-968b4264c58e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 in 2025</a:t>
            </a:r>
            <a:endParaRPr lang="en-US" sz="1000" dirty="0"/>
          </a:p>
        </p:txBody>
      </p:sp>
      <p:sp>
        <p:nvSpPr>
          <p:cNvPr id="17" name="bf805486-d605-42de-a439-3f35f3fa226e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Client Success p.12</a:t>
            </a:r>
            <a:endParaRPr lang="en-US" sz="900" dirty="0"/>
          </a:p>
        </p:txBody>
      </p:sp>
      <p:sp>
        <p:nvSpPr>
          <p:cNvPr id="18" name="ef31bdd1-4ca1-44fb-93d1-453b1225291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20da9d23-444b-46ab-aec5-431912c97729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Innovation Investments p.84; RFI § Team Expansion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0d9b402-e10e-4cb2-9b8f-fefdfa28016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1f4d588a-87cf-4c25-a6da-8877fcc99c80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b6e56046-f514-420c-aca8-5bffc3337bbe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5cc57509-86db-4f2d-ada0-40a2948d3a64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1ffe5dda-6453-4bff-be06-3cc8e49c8df2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e434e3cf-1829-4552-b7d2-c99c0d3a30ee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88b72f61-9ed0-480a-a27f-08fabf87c34e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d5899e83-3380-4f7d-b4a0-c2afd24ab325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38716fe3-89b7-4a97-a01e-ab838399be35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c643afac-be37-40c0-89ae-e456391733df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79345e5b-e5f0-4ff4-8abe-43719712200c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708adf0a-976b-48ef-8a8a-57422852f830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17fe07ad-5163-4b01-a068-69a8179b251b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b1b7dfe9-37c6-442b-9640-ac4796ef422a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1a9bb612-9772-4778-b8d4-08d7fb3a51bc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6091e6aa-aa7f-4912-9184-bf4797b869fc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cdb256aa-fa50-498f-8c1c-df61fdb1f898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49cb0c50-b24b-4806-84ac-675306dcc21b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95587fb-e5e3-42a6-88f2-8d20acd7c19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10b12358-5003-4433-a711-5319e94ba4c0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cda88424-c48c-4942-9ae9-f777b46f599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97f3f44e-d59b-4a41-8f37-883491e7018d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c5ca16f-f5a8-4294-91f1-19046d746fd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vs. Proof of Execution</a:t>
            </a:r>
            <a:endParaRPr lang="en-US" sz="2400" dirty="0"/>
          </a:p>
        </p:txBody>
      </p:sp>
      <p:sp>
        <p:nvSpPr>
          <p:cNvPr id="3" name="99651b74-497e-4bff-8b24-3eadbaaa179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4" name="232cc1ec-0823-4e82-a1ef-6a242f2c8a50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5" name="7ec729d6-2b69-471e-97ec-da299eacc2ac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4fa2ba48-45d4-413e-a446-92fd260f470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Technology Adoption p.105; RFI § Team Expansion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21733df-8b0b-4e54-96a7-559d569d4a8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Technologies Roadmap</a:t>
            </a:r>
            <a:endParaRPr lang="en-US" sz="2400" dirty="0"/>
          </a:p>
        </p:txBody>
      </p:sp>
      <p:sp>
        <p:nvSpPr>
          <p:cNvPr id="3" name="883d0e65-a6f1-42bd-b520-c1131604f8f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4" name="e5b2334b-4ec1-4b3d-baed-7899a6d63299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5" name="5811d734-d931-4584-98bc-b23724cf746a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79f5093b-02a1-404e-a56c-fad6d765090b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Innovation Investments p.84; RFI § Product Strategy p.17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10a8420-fd31-493c-80df-60edaeb954a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and Mitigation</a:t>
            </a:r>
            <a:endParaRPr lang="en-US" sz="2400" dirty="0"/>
          </a:p>
        </p:txBody>
      </p:sp>
      <p:sp>
        <p:nvSpPr>
          <p:cNvPr id="3" name="c418eafa-bcd1-4256-a341-ac44be1a2c6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4" name="a88e1c44-5a97-455d-bbc4-b13adb91ef76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5" name="ecee3b41-f79f-43b6-bdee-19b10979484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e0781d77-2b8c-4f7f-91ea-78cae51bed1f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Risk Management p.84; RFI § Compliance Posture p.105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604d62b-00c8-4888-a77c-0468d00e494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 Ecosystem</a:t>
            </a:r>
            <a:endParaRPr lang="en-US" sz="2400" dirty="0"/>
          </a:p>
        </p:txBody>
      </p:sp>
      <p:sp>
        <p:nvSpPr>
          <p:cNvPr id="3" name="ab0496e0-aa0a-4792-8406-82807bab2861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4" name="f6850b4a-c463-4235-8752-afe88a4aebe1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5" name="44e7fef3-95c5-42c2-afcc-55249095aff2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90c02095-d237-4749-aba0-234edcf818e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Partner Ecosystem p.105; RFI § Strategic Collaborations p.84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7120661-06c0-435b-971b-12addf7e76a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Overview</a:t>
            </a:r>
            <a:endParaRPr lang="en-US" sz="2800" dirty="0"/>
          </a:p>
        </p:txBody>
      </p:sp>
      <p:sp>
        <p:nvSpPr>
          <p:cNvPr id="3" name="a8b2303a-b3a8-4fc1-81d0-a204da460f1d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Plans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4a6f8cc-3d72-493f-be35-c76a3a615ece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Strength in Cloud ERP</a:t>
            </a:r>
            <a:endParaRPr lang="en-US" sz="2800" dirty="0"/>
          </a:p>
        </p:txBody>
      </p:sp>
      <p:sp>
        <p:nvSpPr>
          <p:cNvPr id="3" name="9d20bd86-acdc-4c7c-ae59-2fdfdaee16c0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growth and strategic alignment</a:t>
            </a:r>
            <a:endParaRPr lang="en-US" sz="1400" dirty="0"/>
          </a:p>
        </p:txBody>
      </p:sp>
      <p:sp>
        <p:nvSpPr>
          <p:cNvPr id="4" name="88178c60-109e-4772-bc1c-0741066f3cee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revenue reached $127M in Q3 2025, a 24% increase from $102M in Q3 2024.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growth in Cloud ERP implementations across 23 countries, with a 31% increase in 2025.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 within IBM's portfolio ensures continued investment in Cloud ERP services.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 rate stands at 94%, with 67% of clients expanding scope within the first year.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added 850 certified consultants in 2025, bringing the total to 3,200 globally.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AI-powered automation tools reached $23M in Q2 2025, enhancing service delivery.</a:t>
            </a:r>
            <a:endParaRPr lang="en-US" sz="1600" dirty="0"/>
          </a:p>
        </p:txBody>
      </p:sp>
      <p:sp>
        <p:nvSpPr>
          <p:cNvPr id="5" name="5ebe502b-249c-4338-be27-eb9f0a06c3ce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d2d913ff-0e03-44a4-b1c1-29450f35cbf9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1904f9e-b61f-4b35-80f3-51668af18f2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Metrics and Strategic Execution</a:t>
            </a:r>
            <a:endParaRPr lang="en-US" sz="2400" dirty="0"/>
          </a:p>
        </p:txBody>
      </p:sp>
      <p:sp>
        <p:nvSpPr>
          <p:cNvPr id="3" name="0a4f70d9-9900-4d5f-aeaf-bcb6df588628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driven by strategic expansion and client success.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models offer flexibility and focus on business outcomes.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 effectiveness demonstrated through market responsiveness.</a:t>
            </a:r>
            <a:endParaRPr lang="en-US" sz="1400" dirty="0"/>
          </a:p>
        </p:txBody>
      </p:sp>
      <p:sp>
        <p:nvSpPr>
          <p:cNvPr id="4" name="3bab0837-db1e-4eb2-8ca5-1bdfecc11dcf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perception of value provided remains positive.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flexibility supports diverse client needs.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business outcome contracts enhances client success.</a:t>
            </a:r>
            <a:endParaRPr lang="en-US" sz="1400" dirty="0"/>
          </a:p>
        </p:txBody>
      </p:sp>
      <p:sp>
        <p:nvSpPr>
          <p:cNvPr id="5" name="4736e647-f562-4969-b446-c00569a9faea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938afdd9-40ea-4020-bc85-de0e2295f908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 24%</a:t>
            </a:r>
            <a:endParaRPr lang="en-US" sz="1200" dirty="0"/>
          </a:p>
        </p:txBody>
      </p:sp>
      <p:sp>
        <p:nvSpPr>
          <p:cNvPr id="7" name="ed505b0e-b53f-4417-a3ca-a0ae75b5e625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 vs Q3 2024</a:t>
            </a:r>
            <a:endParaRPr lang="en-US" sz="1000" dirty="0"/>
          </a:p>
        </p:txBody>
      </p:sp>
      <p:sp>
        <p:nvSpPr>
          <p:cNvPr id="8" name="f0d82201-9ff4-46ca-af2b-afefd2b6fe55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9" name="3fae55b6-670a-4e16-b14a-bf8cd261ed13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6ae2c475-d1c4-4f01-801d-ceda156b1dd6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Retention: 94%</a:t>
            </a:r>
            <a:endParaRPr lang="en-US" sz="1200" dirty="0"/>
          </a:p>
        </p:txBody>
      </p:sp>
      <p:sp>
        <p:nvSpPr>
          <p:cNvPr id="11" name="5afceeab-a171-4cf6-b59d-b6850306f2ef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32516bec-0f73-4a73-b73f-0f84750051be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3" name="3812aa70-e5c0-48f7-8a9e-169d073160a6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de3ce561-08e9-47ef-9fe9-0ea3fb6b4eb2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Added: 850</a:t>
            </a:r>
            <a:endParaRPr lang="en-US" sz="1200" dirty="0"/>
          </a:p>
        </p:txBody>
      </p:sp>
      <p:sp>
        <p:nvSpPr>
          <p:cNvPr id="15" name="6be75cc8-edda-42df-b8b4-2a12c683699a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6" name="d5673253-5fa5-4f4b-a57a-80e195073c68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7" name="c67fb951-db71-4108-a674-80d53f37f68b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f3ada3e3-b7d4-4956-b0d2-af80f5cd418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p.20; RFI § Cloud ERP Practice Overview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345d1d0-b7f1-4b83-9c6c-d9c1f504415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 Indicators</a:t>
            </a:r>
            <a:endParaRPr lang="en-US" sz="2400" dirty="0"/>
          </a:p>
        </p:txBody>
      </p:sp>
      <p:sp>
        <p:nvSpPr>
          <p:cNvPr id="3" name="06c9eca0-dbd0-4e12-b0f6-abdb40bcfeca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f28ca6f1-4dd7-48eb-8313-7373e7046c7c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5" name="8f72ced0-b5d7-4503-9f10-388fb0ab2ac4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400" dirty="0"/>
          </a:p>
        </p:txBody>
      </p:sp>
      <p:sp>
        <p:nvSpPr>
          <p:cNvPr id="6" name="eda86a13-c743-4e99-8fd7-32c9563c7dcd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 vs Q3 2024</a:t>
            </a:r>
            <a:endParaRPr lang="en-US" sz="1000" dirty="0"/>
          </a:p>
        </p:txBody>
      </p:sp>
      <p:sp>
        <p:nvSpPr>
          <p:cNvPr id="7" name="7efd6842-a906-4436-bbed-b9f668235360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Q3 2025 p.12</a:t>
            </a:r>
            <a:endParaRPr lang="en-US" sz="900" dirty="0"/>
          </a:p>
        </p:txBody>
      </p:sp>
      <p:sp>
        <p:nvSpPr>
          <p:cNvPr id="8" name="c5689328-b069-4076-80fd-d1fd728bb947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c4a01877-8693-42a8-af4b-8293ffaa3423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</a:t>
            </a:r>
            <a:endParaRPr lang="en-US" sz="1200" dirty="0"/>
          </a:p>
        </p:txBody>
      </p:sp>
      <p:sp>
        <p:nvSpPr>
          <p:cNvPr id="10" name="0d1989cc-01a0-4557-87b1-c52705129ad6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400" dirty="0"/>
          </a:p>
        </p:txBody>
      </p:sp>
      <p:sp>
        <p:nvSpPr>
          <p:cNvPr id="11" name="3b81740a-9d2a-4a21-8b6d-3e9a2119edcf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29139cc6-8a18-443f-9f74-35e57057d0d3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3" name="b644a1f4-86bf-4f2e-abdd-947382488e46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27713988-dcf4-4ada-9c22-ea7bc9d8eb18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Added</a:t>
            </a:r>
            <a:endParaRPr lang="en-US" sz="1200" dirty="0"/>
          </a:p>
        </p:txBody>
      </p:sp>
      <p:sp>
        <p:nvSpPr>
          <p:cNvPr id="15" name="b0dd6c43-7569-402e-ba92-37992e799707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</a:t>
            </a:r>
            <a:endParaRPr lang="en-US" sz="2400" dirty="0"/>
          </a:p>
        </p:txBody>
      </p:sp>
      <p:sp>
        <p:nvSpPr>
          <p:cNvPr id="16" name="6c6b5afc-467b-4f27-b1d4-afe3ccbd444e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7" name="6c7db5a6-d01f-4e6e-b92c-99a7df3674dc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Cloud ERP Practice Overview p.3</a:t>
            </a:r>
            <a:endParaRPr lang="en-US" sz="900" dirty="0"/>
          </a:p>
        </p:txBody>
      </p:sp>
      <p:sp>
        <p:nvSpPr>
          <p:cNvPr id="18" name="1bb11410-aa0d-4c41-907b-5bff19bc7d43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ddb8c143-9300-4853-8a02-3d3f089f76b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Financial Performance Q3 2025 p.12; RFI § Cloud ERP Practice Overview p.3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cc9995-68a8-47b3-b0f7-0450ee7460d7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Overview</a:t>
            </a:r>
            <a:endParaRPr lang="en-US" sz="2400" dirty="0"/>
          </a:p>
        </p:txBody>
      </p:sp>
      <p:sp>
        <p:nvSpPr>
          <p:cNvPr id="3" name="0a51edc8-caa0-4bfc-a91e-ebb099e7b16f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97c99883-ba23-4ce6-9d61-c4472d6c081e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6a684594-0f54-40cd-9c82-305c9c0d206c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ca149f8a-f324-4f51-90ec-7c4008edc419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9789f580-b263-418e-8224-a43b887df52a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c495a132-ea4d-4994-9d34-7d83b4cdad40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a89deb3b-32b0-477b-b13d-a085258aecd8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9180af03-6578-4aa4-8a23-e58bdef293d1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a476c7f6-8683-4327-b32a-90fb0df912e1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38a73f04-9870-4520-9146-1d058da6ceba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82f0c428-bf51-45e2-89a5-99a1950b1222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a7875eb4-1c7c-4aee-9a80-6a624438788a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4a49aa08-32d2-4c1d-92db-d4b0e76c5178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68f2b1c0-eff2-4cd8-969a-a375f64d3e3c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9ec71343-7947-4e7a-a5d4-38fa4d0c13f8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35a910fb-29df-4f1e-95f0-33f915fbd0b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f37ee495-268e-4c4e-b22b-8fcb9d565039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c7c1c01-0cd3-4c4a-bffa-a67e27d3fc0e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Deep Dive</a:t>
            </a:r>
            <a:endParaRPr lang="en-US" sz="2400" dirty="0"/>
          </a:p>
        </p:txBody>
      </p:sp>
      <p:sp>
        <p:nvSpPr>
          <p:cNvPr id="3" name="6dfc8f87-855c-448c-a6f8-8736b94588c3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2b1aadce-2df8-42af-80ae-d45d7307294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099769dc-7bb5-421e-a0df-bb2c3f72f64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9d3f880-b285-455a-976d-7d8d3d802fc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Deep Dive</a:t>
            </a:r>
            <a:endParaRPr lang="en-US" sz="2400" dirty="0"/>
          </a:p>
        </p:txBody>
      </p:sp>
      <p:sp>
        <p:nvSpPr>
          <p:cNvPr id="3" name="805f5104-51a4-4457-8ce9-a8332a630e65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050fb0f6-5a43-4b99-819b-03d840c63ec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a9bc46e0-a3a6-4781-9d61-013a87a791e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591cd96-31bc-4d80-ab17-082be1a8139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Deep Dive</a:t>
            </a:r>
            <a:endParaRPr lang="en-US" sz="2400" dirty="0"/>
          </a:p>
        </p:txBody>
      </p:sp>
      <p:sp>
        <p:nvSpPr>
          <p:cNvPr id="3" name="76a5beaf-ab0b-4799-a9ba-37e89ccf1bb6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1090e8ac-33a0-49b7-b76c-3cec609701a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2b131d95-9dde-4c00-a1dc-065ea7c32c89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b1037e2-81b3-43c4-9fd9-5acd36dd305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800" dirty="0"/>
          </a:p>
        </p:txBody>
      </p:sp>
      <p:sp>
        <p:nvSpPr>
          <p:cNvPr id="3" name="e91ad7df-0f18-4c3d-ad36-4fbb3b6b2afb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Floor for Questions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