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</p:sldMasterIdLst>
  <p:notesMasterIdLst>
    <p:notesMasterId r:id="rId3"/>
  </p:notesMasterIdLst>
  <p:handoutMasterIdLst>
    <p:handoutMasterId r:id="rId4"/>
  </p:handoutMasterIdLst>
  <p:sldIdLst>
    <p:sldId r:id="rId11-created" id="256"/>
    <p:sldId r:id="rId12-created" id="257"/>
    <p:sldId r:id="rId13-created" id="258"/>
    <p:sldId r:id="rId14-created" id="259"/>
    <p:sldId r:id="rId15-created" id="260"/>
    <p:sldId r:id="rId16-created" id="261"/>
    <p:sldId r:id="rId17-created" id="262"/>
    <p:sldId r:id="rId18-created" id="263"/>
    <p:sldId r:id="rId19-created" id="264"/>
    <p:sldId r:id="rId20-created" id="265"/>
    <p:sldId r:id="rId21-created" id="266"/>
    <p:sldId r:id="rId22-created" id="267"/>
    <p:sldId r:id="rId23-created" id="268"/>
    <p:sldId r:id="rId24-created" id="269"/>
    <p:sldId r:id="rId25-created" id="270"/>
    <p:sldId r:id="rId26-created" id="271"/>
    <p:sldId r:id="rId27-created" id="272"/>
    <p:sldId r:id="rId28-created" id="273"/>
    <p:sldId r:id="rId29-created" id="274"/>
    <p:sldId r:id="rId30-created" id="275"/>
    <p:sldId r:id="rId31-created" id="276"/>
    <p:sldId r:id="rId32-created" id="277"/>
    <p:sldId r:id="rId33-created" id="278"/>
    <p:sldId r:id="rId34-created" id="279"/>
    <p:sldId r:id="rId35-created" id="280"/>
    <p:sldId r:id="rId36-created" id="281"/>
    <p:sldId r:id="rId37-created" id="282"/>
    <p:sldId r:id="rId38-created" id="283"/>
    <p:sldId r:id="rId39-created" id="284"/>
    <p:sldId r:id="rId40-created" id="285"/>
    <p:sldId r:id="rId41-created" id="286"/>
    <p:sldId r:id="rId42-created" id="287"/>
    <p:sldId r:id="rId43-created" id="288"/>
    <p:sldId r:id="rId44-created" id="289"/>
    <p:sldId r:id="rId45-created" id="290"/>
    <p:sldId r:id="rId46-created" id="291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240C83-B322-10D6-062F-819233246F17}" name="Diana Stanciulescu" initials="DS" userId="S::diana.stanciulescu@ro.ibm.com::8457c4d8-b183-4fb8-9506-2337bdfae6b8" providerId="AD"/>
  <p188:author id="{471F5894-9527-7E5F-AE6F-3881B44FA2B8}" name="Gabriel Barbu" initials="" userId="S::gabriel.barbu@ibm.com::3d0c1c4c-23d9-4258-9226-f99453c1293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26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94"/>
    <p:restoredTop sz="96327"/>
  </p:normalViewPr>
  <p:slideViewPr>
    <p:cSldViewPr snapToGrid="0" snapToObjects="1">
      <p:cViewPr varScale="1">
        <p:scale>
          <a:sx n="46" d="100"/>
          <a:sy n="46" d="100"/>
        </p:scale>
        <p:origin x="108" y="288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Relationship Id="rId11-created" Type="http://schemas.openxmlformats.org/officeDocument/2006/relationships/slide" Target="slides/slide2.xml"/><Relationship Id="rId12-created" Type="http://schemas.openxmlformats.org/officeDocument/2006/relationships/slide" Target="slides/slide3.xml"/><Relationship Id="rId13-created" Type="http://schemas.openxmlformats.org/officeDocument/2006/relationships/slide" Target="slides/slide4.xml"/><Relationship Id="rId14-created" Type="http://schemas.openxmlformats.org/officeDocument/2006/relationships/slide" Target="slides/slide5.xml"/><Relationship Id="rId15-created" Type="http://schemas.openxmlformats.org/officeDocument/2006/relationships/slide" Target="slides/slide6.xml"/><Relationship Id="rId16-created" Type="http://schemas.openxmlformats.org/officeDocument/2006/relationships/slide" Target="slides/slide7.xml"/><Relationship Id="rId17-created" Type="http://schemas.openxmlformats.org/officeDocument/2006/relationships/slide" Target="slides/slide8.xml"/><Relationship Id="rId18-created" Type="http://schemas.openxmlformats.org/officeDocument/2006/relationships/slide" Target="slides/slide9.xml"/><Relationship Id="rId19-created" Type="http://schemas.openxmlformats.org/officeDocument/2006/relationships/slide" Target="slides/slide10.xml"/><Relationship Id="rId20-created" Type="http://schemas.openxmlformats.org/officeDocument/2006/relationships/slide" Target="slides/slide11.xml"/><Relationship Id="rId21-created" Type="http://schemas.openxmlformats.org/officeDocument/2006/relationships/slide" Target="slides/slide12.xml"/><Relationship Id="rId22-created" Type="http://schemas.openxmlformats.org/officeDocument/2006/relationships/slide" Target="slides/slide13.xml"/><Relationship Id="rId23-created" Type="http://schemas.openxmlformats.org/officeDocument/2006/relationships/slide" Target="slides/slide14.xml"/><Relationship Id="rId24-created" Type="http://schemas.openxmlformats.org/officeDocument/2006/relationships/slide" Target="slides/slide15.xml"/><Relationship Id="rId25-created" Type="http://schemas.openxmlformats.org/officeDocument/2006/relationships/slide" Target="slides/slide16.xml"/><Relationship Id="rId26-created" Type="http://schemas.openxmlformats.org/officeDocument/2006/relationships/slide" Target="slides/slide17.xml"/><Relationship Id="rId27-created" Type="http://schemas.openxmlformats.org/officeDocument/2006/relationships/slide" Target="slides/slide18.xml"/><Relationship Id="rId28-created" Type="http://schemas.openxmlformats.org/officeDocument/2006/relationships/slide" Target="slides/slide19.xml"/><Relationship Id="rId29-created" Type="http://schemas.openxmlformats.org/officeDocument/2006/relationships/slide" Target="slides/slide20.xml"/><Relationship Id="rId30-created" Type="http://schemas.openxmlformats.org/officeDocument/2006/relationships/slide" Target="slides/slide21.xml"/><Relationship Id="rId31-created" Type="http://schemas.openxmlformats.org/officeDocument/2006/relationships/slide" Target="slides/slide22.xml"/><Relationship Id="rId32-created" Type="http://schemas.openxmlformats.org/officeDocument/2006/relationships/slide" Target="slides/slide23.xml"/><Relationship Id="rId33-created" Type="http://schemas.openxmlformats.org/officeDocument/2006/relationships/slide" Target="slides/slide24.xml"/><Relationship Id="rId34-created" Type="http://schemas.openxmlformats.org/officeDocument/2006/relationships/slide" Target="slides/slide25.xml"/><Relationship Id="rId35-created" Type="http://schemas.openxmlformats.org/officeDocument/2006/relationships/slide" Target="slides/slide26.xml"/><Relationship Id="rId36-created" Type="http://schemas.openxmlformats.org/officeDocument/2006/relationships/slide" Target="slides/slide27.xml"/><Relationship Id="rId37-created" Type="http://schemas.openxmlformats.org/officeDocument/2006/relationships/slide" Target="slides/slide28.xml"/><Relationship Id="rId38-created" Type="http://schemas.openxmlformats.org/officeDocument/2006/relationships/slide" Target="slides/slide29.xml"/><Relationship Id="rId39-created" Type="http://schemas.openxmlformats.org/officeDocument/2006/relationships/slide" Target="slides/slide30.xml"/><Relationship Id="rId40-created" Type="http://schemas.openxmlformats.org/officeDocument/2006/relationships/slide" Target="slides/slide31.xml"/><Relationship Id="rId41-created" Type="http://schemas.openxmlformats.org/officeDocument/2006/relationships/slide" Target="slides/slide32.xml"/><Relationship Id="rId42-created" Type="http://schemas.openxmlformats.org/officeDocument/2006/relationships/slide" Target="slides/slide33.xml"/><Relationship Id="rId43-created" Type="http://schemas.openxmlformats.org/officeDocument/2006/relationships/slide" Target="slides/slide34.xml"/><Relationship Id="rId44-created" Type="http://schemas.openxmlformats.org/officeDocument/2006/relationships/slide" Target="slides/slide35.xml"/><Relationship Id="rId45-created" Type="http://schemas.openxmlformats.org/officeDocument/2006/relationships/slide" Target="slides/slide36.xml"/><Relationship Id="rId46-created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Arial" panose="020B0604020202020204" pitchFamily="34" charset="0"/>
      <a:buChar char="•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Arial" charset="-120"/>
      <a:buChar char="»"/>
      <a:tabLst/>
      <a:defRPr sz="2000" b="0" i="0" kern="1200">
        <a:solidFill>
          <a:schemeClr val="bg1"/>
        </a:solidFill>
        <a:latin typeface="Arial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24387175" cy="121951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-1"/>
            <a:ext cx="24387175" cy="12195175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704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0468" y="12479147"/>
            <a:ext cx="11038445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71499"/>
            <a:ext cx="11043132" cy="125786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0825"/>
            <a:ext cx="10099675" cy="9147175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69913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2078" cy="421005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6675" y="574675"/>
            <a:ext cx="4953000" cy="11617318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6" y="574675"/>
            <a:ext cx="4941888" cy="11620500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2663825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4" y="301625"/>
            <a:ext cx="17141825" cy="8832850"/>
          </a:xfrm>
        </p:spPr>
        <p:txBody>
          <a:bodyPr/>
          <a:lstStyle>
            <a:lvl1pPr>
              <a:defRPr sz="16800" b="0" i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9909175" cy="420967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7252" y="384048"/>
            <a:ext cx="11042073" cy="87784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434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1025" y="311735"/>
            <a:ext cx="14649450" cy="10356265"/>
          </a:xfrm>
        </p:spPr>
        <p:txBody>
          <a:bodyPr/>
          <a:lstStyle>
            <a:lvl1pPr>
              <a:lnSpc>
                <a:spcPct val="100000"/>
              </a:lnSpc>
              <a:defRPr sz="8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576072"/>
            <a:ext cx="7623175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9994" y="9628222"/>
            <a:ext cx="11050588" cy="3353065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3587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2"/>
            <a:ext cx="7620000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7422" y="9628222"/>
            <a:ext cx="11049000" cy="335429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63093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7"/>
            <a:ext cx="4951413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68263" y="359806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334654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362979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5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594475"/>
            <a:ext cx="11045952" cy="534009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025" y="307086"/>
            <a:ext cx="4949825" cy="533558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307086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7850" y="6097732"/>
            <a:ext cx="23234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1025" y="6594475"/>
            <a:ext cx="4946904" cy="534009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4048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2897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57517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957821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5125969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914082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9526645"/>
            <a:ext cx="4951411" cy="2668530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670409"/>
            <a:ext cx="7620000" cy="25247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576072"/>
            <a:ext cx="4942078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247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0675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044825"/>
            <a:ext cx="0" cy="91454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1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048000"/>
            <a:ext cx="495300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8859500" y="576072"/>
            <a:ext cx="495935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59500" y="3048000"/>
            <a:ext cx="495935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3" y="3048000"/>
            <a:ext cx="4942078" cy="45783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6828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8031" y="3047999"/>
            <a:ext cx="494212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7" y="3047999"/>
            <a:ext cx="4941886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314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4942078" cy="3117978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2" y="384048"/>
            <a:ext cx="4951414" cy="22012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153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5153" y="3047999"/>
            <a:ext cx="10096500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10099675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3047999"/>
            <a:ext cx="100965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1"/>
            <a:ext cx="4949825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71"/>
            <a:ext cx="4941888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2078" cy="3995927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3087"/>
            <a:ext cx="4953000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3087"/>
            <a:ext cx="4941888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6" cy="421017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6" cy="3995927"/>
          </a:xfrm>
        </p:spPr>
        <p:txBody>
          <a:bodyPr rIns="0"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6675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42078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9825" cy="4210177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31105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16790"/>
            <a:ext cx="4951413" cy="9188588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3642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1" y="83820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4000"/>
            <a:ext cx="4948428" cy="3048000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8199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3872"/>
            <a:ext cx="11044239" cy="4572128"/>
          </a:xfrm>
        </p:spPr>
        <p:txBody>
          <a:bodyPr rIns="457200"/>
          <a:lstStyle>
            <a:lvl1pPr>
              <a:lnSpc>
                <a:spcPct val="11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3088"/>
            <a:ext cx="4953000" cy="49447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3089"/>
            <a:ext cx="4959350" cy="49447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70674"/>
            <a:ext cx="4956048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70675"/>
            <a:ext cx="4953000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E66173E-891D-82A4-82E3-E5AEA6E5A2A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7DC8C2E8-4EA9-1F1F-90D5-4F81A603270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810613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3" y="576072"/>
            <a:ext cx="4942078" cy="3995928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11036994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2DDB6A26-5D86-B23B-6F3C-2C3CB5694F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45FB691-1306-6B38-5976-DCC6B131E6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49D1F57-CBD7-AB1F-5A3C-1CE58F2696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17AC693-6388-34F4-29E0-3DC728E297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5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4" y="576071"/>
            <a:ext cx="4945063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5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6673850"/>
            <a:ext cx="4945062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499" y="1524000"/>
            <a:ext cx="4956048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1524000"/>
            <a:ext cx="4953000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523999"/>
            <a:ext cx="4946904" cy="399909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499" y="7623594"/>
            <a:ext cx="4956048" cy="39982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63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63500" y="7623594"/>
            <a:ext cx="4956048" cy="399829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623594"/>
            <a:ext cx="4946904" cy="39982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83300"/>
            <a:ext cx="0" cy="61118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46904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164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76073"/>
            <a:ext cx="11041253" cy="1257160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71500"/>
            <a:ext cx="17137063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7850" y="571500"/>
            <a:ext cx="23226713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9248" y="3044825"/>
            <a:ext cx="2462402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9248" y="6096000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79248" y="9140825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766675" y="3044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766675" y="6096000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2766675" y="9140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3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71499"/>
            <a:ext cx="17145000" cy="1162367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1527049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7500" y="12782487"/>
            <a:ext cx="5524500" cy="4254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164AB-EDCE-C638-F61C-8C578896FB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1025" y="12896850"/>
            <a:ext cx="4946650" cy="3111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 b="0" i="0">
                <a:latin typeface="Arial" panose="020B0503050203000203" pitchFamily="34" charset="0"/>
              </a:defRPr>
            </a:lvl2pPr>
            <a:lvl3pPr>
              <a:defRPr sz="1600" b="0" i="0">
                <a:latin typeface="Arial" panose="020B0503050203000203" pitchFamily="34" charset="0"/>
              </a:defRPr>
            </a:lvl3pPr>
            <a:lvl4pPr>
              <a:defRPr sz="1600" b="0" i="0">
                <a:latin typeface="Arial" panose="020B0503050203000203" pitchFamily="34" charset="0"/>
              </a:defRPr>
            </a:lvl4pPr>
            <a:lvl5pPr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Footer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7F82DC0-D267-F23F-7E4C-1C2FF243E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Lorem ipsum dolor sit amet donec quam felis ultricies nec pellentesque eu pretium quis sem. Nulla conset massa </a:t>
            </a:r>
            <a:br>
              <a:rPr lang="en-US" dirty="0"/>
            </a:br>
            <a:r>
              <a:rPr lang="en-US" dirty="0"/>
              <a:t>quis enim.</a:t>
            </a:r>
          </a:p>
        </p:txBody>
      </p:sp>
    </p:spTree>
    <p:extLst>
      <p:ext uri="{BB962C8B-B14F-4D97-AF65-F5344CB8AC3E}">
        <p14:creationId xmlns:p14="http://schemas.microsoft.com/office/powerpoint/2010/main" val="326491035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675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71922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60829" y="12951714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024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Footer text (optional)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3" r:id="rId1"/>
    <p:sldLayoutId id="2147483964" r:id="rId2"/>
    <p:sldLayoutId id="2147483965" r:id="rId3"/>
    <p:sldLayoutId id="2147483966" r:id="rId4"/>
    <p:sldLayoutId id="2147483967" r:id="rId5"/>
    <p:sldLayoutId id="2147483968" r:id="rId6"/>
    <p:sldLayoutId id="2147483969" r:id="rId7"/>
    <p:sldLayoutId id="2147483970" r:id="rId8"/>
    <p:sldLayoutId id="2147483971" r:id="rId9"/>
    <p:sldLayoutId id="2147483972" r:id="rId10"/>
    <p:sldLayoutId id="2147483973" r:id="rId11"/>
    <p:sldLayoutId id="2147483974" r:id="rId12"/>
    <p:sldLayoutId id="2147483975" r:id="rId13"/>
    <p:sldLayoutId id="2147483976" r:id="rId14"/>
    <p:sldLayoutId id="2147483977" r:id="rId15"/>
    <p:sldLayoutId id="2147483978" r:id="rId16"/>
    <p:sldLayoutId id="2147483979" r:id="rId17"/>
    <p:sldLayoutId id="2147483980" r:id="rId18"/>
    <p:sldLayoutId id="2147483981" r:id="rId19"/>
    <p:sldLayoutId id="2147483982" r:id="rId20"/>
    <p:sldLayoutId id="2147483983" r:id="rId21"/>
    <p:sldLayoutId id="2147483984" r:id="rId22"/>
    <p:sldLayoutId id="2147483985" r:id="rId23"/>
    <p:sldLayoutId id="2147483986" r:id="rId24"/>
    <p:sldLayoutId id="2147483987" r:id="rId25"/>
    <p:sldLayoutId id="2147483988" r:id="rId26"/>
    <p:sldLayoutId id="2147483989" r:id="rId27"/>
    <p:sldLayoutId id="2147483990" r:id="rId28"/>
    <p:sldLayoutId id="2147483991" r:id="rId29"/>
    <p:sldLayoutId id="2147483992" r:id="rId30"/>
    <p:sldLayoutId id="2147483993" r:id="rId31"/>
    <p:sldLayoutId id="2147483994" r:id="rId32"/>
    <p:sldLayoutId id="2147483995" r:id="rId33"/>
    <p:sldLayoutId id="2147483996" r:id="rId34"/>
    <p:sldLayoutId id="2147483997" r:id="rId35"/>
    <p:sldLayoutId id="2147483998" r:id="rId36"/>
    <p:sldLayoutId id="2147483999" r:id="rId37"/>
    <p:sldLayoutId id="2147484000" r:id="rId38"/>
    <p:sldLayoutId id="2147484001" r:id="rId39"/>
    <p:sldLayoutId id="2147484002" r:id="rId40"/>
    <p:sldLayoutId id="2147484003" r:id="rId41"/>
    <p:sldLayoutId id="2147484004" r:id="rId42"/>
    <p:sldLayoutId id="2147484005" r:id="rId43"/>
    <p:sldLayoutId id="2147484006" r:id="rId44"/>
    <p:sldLayoutId id="2147484007" r:id="rId45"/>
    <p:sldLayoutId id="2147484008" r:id="rId46"/>
    <p:sldLayoutId id="2147484009" r:id="rId47"/>
    <p:sldLayoutId id="2147484010" r:id="rId48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 userDrawn="1">
          <p15:clr>
            <a:srgbClr val="EE5396"/>
          </p15:clr>
        </p15:guide>
        <p15:guide id="20" orient="horz" pos="958" userDrawn="1">
          <p15:clr>
            <a:srgbClr val="EE5396"/>
          </p15:clr>
        </p15:guide>
        <p15:guide id="25" orient="horz" pos="7682" userDrawn="1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 userDrawn="1">
          <p15:clr>
            <a:srgbClr val="EE5396"/>
          </p15:clr>
        </p15:guide>
        <p15:guide id="32" orient="horz" pos="6720" userDrawn="1">
          <p15:clr>
            <a:srgbClr val="EE5396"/>
          </p15:clr>
        </p15:guide>
        <p15:guide id="33" orient="horz" pos="2880" userDrawn="1">
          <p15:clr>
            <a:srgbClr val="EE5396"/>
          </p15:clr>
        </p15:guide>
        <p15:guide id="34" orient="horz" pos="4800" userDrawn="1">
          <p15:clr>
            <a:srgbClr val="EE5396"/>
          </p15:clr>
        </p15:guide>
        <p15:guide id="35" orient="horz" pos="5758" userDrawn="1">
          <p15:clr>
            <a:srgbClr val="EE5396"/>
          </p15:clr>
        </p15:guide>
        <p15:guide id="36" orient="horz" pos="8284" userDrawn="1">
          <p15:clr>
            <a:srgbClr val="9FCC3B"/>
          </p15:clr>
        </p15:guide>
        <p15:guide id="37" orient="horz" pos="3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b2e326f-1853-4d60-9c4a-1beedf96bff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Analyst Briefing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59e5d16-74c7-4130-b680-75c0d6e1172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c23c8e49-265c-43f8-aea5-17711ab39646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Overview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3566494-d7ab-47c8-b45e-f772cd36e9d4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Leadership in Cloud ERP</a:t>
            </a:r>
            <a:endParaRPr lang="en-US" sz="2800" dirty="0"/>
          </a:p>
        </p:txBody>
      </p:sp>
      <p:sp>
        <p:nvSpPr>
          <p:cNvPr id="3" name="3e3daa38-c3b2-48f3-acc3-98e86da83f2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Innovation and Customer Focus</a:t>
            </a:r>
            <a:endParaRPr lang="en-US" sz="1400" dirty="0"/>
          </a:p>
        </p:txBody>
      </p:sp>
      <p:sp>
        <p:nvSpPr>
          <p:cNvPr id="4" name="0fdf5958-19b7-45b9-80d9-e7aa2f1228c9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stands at the forefront of Cloud ERP services.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to innovation and customer-centric solutions.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Anticipates and meets evolving business needs.</a:t>
            </a:r>
            <a:endParaRPr lang="en-US" sz="1600" dirty="0"/>
          </a:p>
        </p:txBody>
      </p:sp>
      <p:sp>
        <p:nvSpPr>
          <p:cNvPr id="5" name="1e5a8af5-1a82-46d7-8aab-5d4847e8b3c0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00f4f47e-40dc-459c-8520-513a3d63da51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Sales Execution-Pricing M; Operations 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f35f305-c9c5-43ed-9813-751cdfb0afa7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Analysis and Positioning</a:t>
            </a:r>
            <a:endParaRPr lang="en-US" sz="2400" dirty="0"/>
          </a:p>
        </p:txBody>
      </p:sp>
      <p:sp>
        <p:nvSpPr>
          <p:cNvPr id="3" name="83941099-432a-4d15-978f-730044c13f8b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understanding of industry trends.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dynamics positioning IBM as a leader.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ERP market responsiveness.</a:t>
            </a:r>
            <a:endParaRPr lang="en-US" sz="1400" dirty="0"/>
          </a:p>
        </p:txBody>
      </p:sp>
      <p:sp>
        <p:nvSpPr>
          <p:cNvPr id="4" name="d257f800-2672-4739-a84c-7bc2174f36ac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investments in innovation.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with evolving customer needs.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service delivery framework.</a:t>
            </a:r>
            <a:endParaRPr lang="en-US" sz="1400" dirty="0"/>
          </a:p>
        </p:txBody>
      </p:sp>
      <p:sp>
        <p:nvSpPr>
          <p:cNvPr id="5" name="8b012769-798d-4955-a4db-0f9ae5540137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ed5a60d8-7549-45e7-b1f7-7482f67870c4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Share: 25%</a:t>
            </a:r>
            <a:endParaRPr lang="en-US" sz="1200" dirty="0"/>
          </a:p>
        </p:txBody>
      </p:sp>
      <p:sp>
        <p:nvSpPr>
          <p:cNvPr id="7" name="f53cf208-e4aa-41fe-bf1d-7f49bf70f24d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position in Cloud ERP</a:t>
            </a:r>
            <a:endParaRPr lang="en-US" sz="1000" dirty="0"/>
          </a:p>
        </p:txBody>
      </p:sp>
      <p:sp>
        <p:nvSpPr>
          <p:cNvPr id="8" name="9a7a9277-b170-449f-bbd8-945ed35655bc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Sales Execution-Pricing M</a:t>
            </a:r>
            <a:endParaRPr lang="en-US" sz="900" dirty="0"/>
          </a:p>
        </p:txBody>
      </p:sp>
      <p:sp>
        <p:nvSpPr>
          <p:cNvPr id="9" name="c5c972ea-540c-4db8-964f-b9b61d2a4542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0" name="1f42cfe9-b47f-498f-99d1-3220bc8f33fa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Sales Execution-Pricing M; Operations 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1ce01de-d15d-4588-82d0-5d735387ff8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Financial Strength</a:t>
            </a:r>
            <a:endParaRPr lang="en-US" sz="2400" dirty="0"/>
          </a:p>
        </p:txBody>
      </p:sp>
      <p:sp>
        <p:nvSpPr>
          <p:cNvPr id="3" name="f5ca1a65-7d7f-4e03-8a1f-80f3393fc22a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b970ecf5-610e-4edf-9726-448e45f88c3e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endParaRPr lang="en-US" sz="1200" dirty="0"/>
          </a:p>
        </p:txBody>
      </p:sp>
      <p:sp>
        <p:nvSpPr>
          <p:cNvPr id="5" name="f9d485c3-13aa-406b-8153-5096eee12e95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400" dirty="0"/>
          </a:p>
        </p:txBody>
      </p:sp>
      <p:sp>
        <p:nvSpPr>
          <p:cNvPr id="6" name="cca4cd23-6b24-4507-a119-9a00566c641b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 increase</a:t>
            </a:r>
            <a:endParaRPr lang="en-US" sz="1000" dirty="0"/>
          </a:p>
        </p:txBody>
      </p:sp>
      <p:sp>
        <p:nvSpPr>
          <p:cNvPr id="7" name="c70a6915-e889-422e-825c-4729785fd31d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Operations H</a:t>
            </a:r>
            <a:endParaRPr lang="en-US" sz="900" dirty="0"/>
          </a:p>
        </p:txBody>
      </p:sp>
      <p:sp>
        <p:nvSpPr>
          <p:cNvPr id="8" name="11c8459a-733a-40d0-b23a-0e170cdddcd9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05401155-9e49-4dba-9293-ccc021fc629c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Maturity</a:t>
            </a:r>
            <a:endParaRPr lang="en-US" sz="1200" dirty="0"/>
          </a:p>
        </p:txBody>
      </p:sp>
      <p:sp>
        <p:nvSpPr>
          <p:cNvPr id="10" name="7752138b-8c47-4fe1-9777-fcb31d0206d5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400" dirty="0"/>
          </a:p>
        </p:txBody>
      </p:sp>
      <p:sp>
        <p:nvSpPr>
          <p:cNvPr id="11" name="59fce82d-2adc-45f0-b7c4-bde3f8f36e3c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service delivery</a:t>
            </a:r>
            <a:endParaRPr lang="en-US" sz="1000" dirty="0"/>
          </a:p>
        </p:txBody>
      </p:sp>
      <p:sp>
        <p:nvSpPr>
          <p:cNvPr id="12" name="9bb91322-9c91-4243-8a5f-3327c2ff721c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Operations H</a:t>
            </a:r>
            <a:endParaRPr lang="en-US" sz="900" dirty="0"/>
          </a:p>
        </p:txBody>
      </p:sp>
      <p:sp>
        <p:nvSpPr>
          <p:cNvPr id="13" name="384027d3-1672-4639-b84a-7ea6cabbd276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68d480e7-be46-42bf-b4d8-38569a2507eb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Retention</a:t>
            </a:r>
            <a:endParaRPr lang="en-US" sz="1200" dirty="0"/>
          </a:p>
        </p:txBody>
      </p:sp>
      <p:sp>
        <p:nvSpPr>
          <p:cNvPr id="15" name="c4178480-8775-425b-8eda-518abdce121b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400" dirty="0"/>
          </a:p>
        </p:txBody>
      </p:sp>
      <p:sp>
        <p:nvSpPr>
          <p:cNvPr id="16" name="ac98ba78-50e6-45a9-bdbe-5321aa3be8c0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client relationships</a:t>
            </a:r>
            <a:endParaRPr lang="en-US" sz="1000" dirty="0"/>
          </a:p>
        </p:txBody>
      </p:sp>
      <p:sp>
        <p:nvSpPr>
          <p:cNvPr id="17" name="62896657-fb3b-4be7-8004-3c2ecfc024ab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Operations H</a:t>
            </a:r>
            <a:endParaRPr lang="en-US" sz="900" dirty="0"/>
          </a:p>
        </p:txBody>
      </p:sp>
      <p:sp>
        <p:nvSpPr>
          <p:cNvPr id="18" name="5d942257-57a6-44ce-a3dd-54818fe896d5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4d81ad8b-5cfa-4ef4-b854-018dabd9413f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Operations 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623b68a-8083-437b-8d29-23667f52ff4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and Roadmap</a:t>
            </a:r>
            <a:endParaRPr lang="en-US" sz="2800" dirty="0"/>
          </a:p>
        </p:txBody>
      </p:sp>
      <p:sp>
        <p:nvSpPr>
          <p:cNvPr id="3" name="d2b95e90-6f78-4678-bb10-ba30105596da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 of IBM Cloud ERP</a:t>
            </a:r>
            <a:endParaRPr lang="en-US" sz="1400" dirty="0"/>
          </a:p>
        </p:txBody>
      </p:sp>
      <p:sp>
        <p:nvSpPr>
          <p:cNvPr id="4" name="c9f8a0de-06e6-4f34-a618-896d67af5953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innovation capability in emerging technologies.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 includes GenAI and low-code solutions.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sustained value realization.</a:t>
            </a:r>
            <a:endParaRPr lang="en-US" sz="1600" dirty="0"/>
          </a:p>
        </p:txBody>
      </p:sp>
      <p:sp>
        <p:nvSpPr>
          <p:cNvPr id="5" name="00c257ee-0730-4640-9498-89b5e963c0f7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d6b8ccd3-a109-462f-9772-abc3377f6d8e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Sales Execution-Pricing M; Operations 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3901119-4979-4b6c-9635-484143edeb9c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Delivery Framework</a:t>
            </a:r>
            <a:endParaRPr lang="en-US" sz="2400" dirty="0"/>
          </a:p>
        </p:txBody>
      </p:sp>
      <p:sp>
        <p:nvSpPr>
          <p:cNvPr id="3" name="521b9a77-7d5b-4029-9f49-cce98552944f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to implementation to evolution.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change control and modular packages.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and iterative delivery models.</a:t>
            </a:r>
            <a:endParaRPr lang="en-US" sz="1400" dirty="0"/>
          </a:p>
        </p:txBody>
      </p:sp>
      <p:sp>
        <p:nvSpPr>
          <p:cNvPr id="4" name="3f4d2579-f103-4aac-a178-aaeab9bdac34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D365 configuration and data migration.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Platform integration and phased deployment.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Co-creation sessions for alignment.</a:t>
            </a:r>
            <a:endParaRPr lang="en-US" sz="1400" dirty="0"/>
          </a:p>
        </p:txBody>
      </p:sp>
      <p:sp>
        <p:nvSpPr>
          <p:cNvPr id="5" name="2b77f98b-44fb-4501-b1f7-507229f131f7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88ff3ba7-0e7f-4f92-8017-723a96edc76d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Speed: 30% faster</a:t>
            </a:r>
            <a:endParaRPr lang="en-US" sz="1200" dirty="0"/>
          </a:p>
        </p:txBody>
      </p:sp>
      <p:sp>
        <p:nvSpPr>
          <p:cNvPr id="7" name="329665dc-6d0b-4cbe-93fb-ed77ae4c216d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to industry average</a:t>
            </a:r>
            <a:endParaRPr lang="en-US" sz="1000" dirty="0"/>
          </a:p>
        </p:txBody>
      </p:sp>
      <p:sp>
        <p:nvSpPr>
          <p:cNvPr id="8" name="d75b8b75-2c61-4991-afed-06eef4724c6c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Sales Execution-Pricing M</a:t>
            </a:r>
            <a:endParaRPr lang="en-US" sz="900" dirty="0"/>
          </a:p>
        </p:txBody>
      </p:sp>
      <p:sp>
        <p:nvSpPr>
          <p:cNvPr id="9" name="c9d2cb44-e7ed-425b-b889-4c6e4d27e7cb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0" name="03bf477e-55ca-4d78-ae01-f1f86f01c2d5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Sales Execution-Pricing M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50cd7bf-db5c-4e13-bb50-d6c5cac12f15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Management Strategy</a:t>
            </a:r>
            <a:endParaRPr lang="en-US" sz="2800" dirty="0"/>
          </a:p>
        </p:txBody>
      </p:sp>
      <p:sp>
        <p:nvSpPr>
          <p:cNvPr id="3" name="f6db3e3f-facc-4c4e-b08c-892b79911eb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Attracting and Retaining Top Talent</a:t>
            </a:r>
            <a:endParaRPr lang="en-US" sz="1400" dirty="0"/>
          </a:p>
        </p:txBody>
      </p:sp>
      <p:sp>
        <p:nvSpPr>
          <p:cNvPr id="4" name="4d194313-d62f-49df-a47d-84e9d4030a30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Best-in-class talent management strategy.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learning and skills growth initiatives.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 of inclusion and allyship.</a:t>
            </a:r>
            <a:endParaRPr lang="en-US" sz="1600" dirty="0"/>
          </a:p>
        </p:txBody>
      </p:sp>
      <p:sp>
        <p:nvSpPr>
          <p:cNvPr id="5" name="315e2429-144e-4ef6-89d6-817be1260013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22ba6989-1c43-41f6-b33c-91eb5b4b9059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Operations 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74c39c6-90b6-434c-b72d-f92388bb0006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4ae2f270-2690-495a-9541-34aad35391d9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Reinforcing IBM's Leadership in Cloud ERP</a:t>
            </a:r>
            <a:endParaRPr lang="en-US" sz="1400" dirty="0"/>
          </a:p>
        </p:txBody>
      </p:sp>
      <p:sp>
        <p:nvSpPr>
          <p:cNvPr id="4" name="8c59eaf5-b14e-47c3-80de-f7ce4801fc3c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drives transformative business outcomes.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Strategically positioned to anticipate market needs.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customer success through operational maturity.</a:t>
            </a:r>
            <a:endParaRPr lang="en-US" sz="1600" dirty="0"/>
          </a:p>
        </p:txBody>
      </p:sp>
      <p:sp>
        <p:nvSpPr>
          <p:cNvPr id="5" name="f08687f1-a95a-4c1d-97b7-1467ba9fba0b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ce7d7096-6baf-4dec-bc63-70ba5f92390d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Sales Execution-Pricing M; Operations 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9ab509a-491b-4f0d-9bf4-ce1d3b6dbede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Analysis</a:t>
            </a:r>
            <a:endParaRPr lang="en-US" sz="2800" dirty="0"/>
          </a:p>
        </p:txBody>
      </p:sp>
      <p:sp>
        <p:nvSpPr>
          <p:cNvPr id="3" name="90ce2ee8-d4cf-49f4-aed2-a993ce74f64e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Market Trends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1c6fed1-d2e4-4e0d-92a8-0cc7b8d7665c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Leadership in Cloud ERP Market</a:t>
            </a:r>
            <a:endParaRPr lang="en-US" sz="2800" dirty="0"/>
          </a:p>
        </p:txBody>
      </p:sp>
      <p:sp>
        <p:nvSpPr>
          <p:cNvPr id="3" name="6f0e981e-ce9f-46a8-a280-2faf97f94820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Market Trends and Competitive Landscape</a:t>
            </a:r>
            <a:endParaRPr lang="en-US" sz="1400" dirty="0"/>
          </a:p>
        </p:txBody>
      </p:sp>
      <p:sp>
        <p:nvSpPr>
          <p:cNvPr id="4" name="8b30436f-0b68-4c65-924c-243633e1508e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solutions drive transformative business outcomes.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Strategically positioned as a leader in Cloud ERP.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Anticipates and meets evolving market needs.</a:t>
            </a:r>
            <a:endParaRPr lang="en-US" sz="1600" dirty="0"/>
          </a:p>
        </p:txBody>
      </p:sp>
      <p:sp>
        <p:nvSpPr>
          <p:cNvPr id="5" name="0560961d-92d0-4aff-a275-689880f84544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c495156d-972e-4402-ad98-8a405f76677b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2026-01-12T13-21-43-361Z_Magic_Quadrant_for_C_806200_ndx.pdf - Page 84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32fd69c-fdf3-47b1-9324-b0d7043444d9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Trends and Dynamics</a:t>
            </a:r>
            <a:endParaRPr lang="en-US" sz="2400" dirty="0"/>
          </a:p>
        </p:txBody>
      </p:sp>
      <p:sp>
        <p:nvSpPr>
          <p:cNvPr id="3" name="c7496092-874a-470b-80c6-0aee26fa8afa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 in demand for brownfield migrations.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Increasing need for SAP skills globally.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towards sustainability and finance-first models.</a:t>
            </a:r>
            <a:endParaRPr lang="en-US" sz="1400" dirty="0"/>
          </a:p>
        </p:txBody>
      </p:sp>
      <p:sp>
        <p:nvSpPr>
          <p:cNvPr id="4" name="13f1e9b3-4691-4e3a-ae3e-41ee6b880082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Emergence of as-a-service models.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 public cloud adoption.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in automotive and life sciences sectors.</a:t>
            </a:r>
            <a:endParaRPr lang="en-US" sz="1400" dirty="0"/>
          </a:p>
        </p:txBody>
      </p:sp>
      <p:sp>
        <p:nvSpPr>
          <p:cNvPr id="5" name="8bcc1186-2762-4c86-b224-7bc2000ded4e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9d109483-426f-4504-8a89-dcdc41fd9fb4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Growth: 15%</a:t>
            </a:r>
            <a:endParaRPr lang="en-US" sz="1200" dirty="0"/>
          </a:p>
        </p:txBody>
      </p:sp>
      <p:sp>
        <p:nvSpPr>
          <p:cNvPr id="7" name="97b2c187-5673-4c6f-a951-2bd782253a32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</a:t>
            </a:r>
            <a:endParaRPr lang="en-US" sz="1000" dirty="0"/>
          </a:p>
        </p:txBody>
      </p:sp>
      <p:sp>
        <p:nvSpPr>
          <p:cNvPr id="8" name="147447e4-fa19-450d-b0b1-3b03358cc7cf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2026-01-12T13-21-14-435Z_Final 2022 S4HANA Svcs MQ VB IBM (02_15_22).pdf - Page 49</a:t>
            </a:r>
            <a:endParaRPr lang="en-US" sz="900" dirty="0"/>
          </a:p>
        </p:txBody>
      </p:sp>
      <p:sp>
        <p:nvSpPr>
          <p:cNvPr id="9" name="f4da8bef-3c54-4fa2-b663-a93adc7f4654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0" name="7adf4b07-322e-4fd6-83a0-1377fe6b35c0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2026-01-12T13-21-14-435Z_Final 2022 S4HANA Svcs MQ VB IBM (02_15_22).pdf - Page 49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304129b-e662-41cc-a7b5-0b2695fbe1af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Market Position</a:t>
            </a:r>
            <a:endParaRPr lang="en-US" sz="2400" dirty="0"/>
          </a:p>
        </p:txBody>
      </p:sp>
      <p:sp>
        <p:nvSpPr>
          <p:cNvPr id="3" name="70b41b5e-3f5f-4a62-8990-07e3c740eb99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1682a3bf-2fa3-4b83-bc1e-75b65db5efb9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endParaRPr lang="en-US" sz="1200" dirty="0"/>
          </a:p>
        </p:txBody>
      </p:sp>
      <p:sp>
        <p:nvSpPr>
          <p:cNvPr id="5" name="b575ca25-4652-494c-a7d2-09f132322064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2400" dirty="0"/>
          </a:p>
        </p:txBody>
      </p:sp>
      <p:sp>
        <p:nvSpPr>
          <p:cNvPr id="6" name="27ba2110-4d70-4bb3-a667-ebe1795f34b7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ERP Services</a:t>
            </a:r>
            <a:endParaRPr lang="en-US" sz="1000" dirty="0"/>
          </a:p>
        </p:txBody>
      </p:sp>
      <p:sp>
        <p:nvSpPr>
          <p:cNvPr id="7" name="5dffc97e-3bb6-4e80-8130-a8f20d9b7c76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2026-01-12T13-23-46-101Z_Welcome Packet for Cloud ERP Services, 2026[66].pdf - Page 20</a:t>
            </a:r>
            <a:endParaRPr lang="en-US" sz="900" dirty="0"/>
          </a:p>
        </p:txBody>
      </p:sp>
      <p:sp>
        <p:nvSpPr>
          <p:cNvPr id="8" name="2501f81e-ae8f-408d-9646-ca63e0cbd801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6aa57ef6-188c-4e29-87fd-44a067ccb611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Retention</a:t>
            </a:r>
            <a:endParaRPr lang="en-US" sz="1200" dirty="0"/>
          </a:p>
        </p:txBody>
      </p:sp>
      <p:sp>
        <p:nvSpPr>
          <p:cNvPr id="10" name="4a53a13c-6644-498e-a892-ed9b391a4021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400" dirty="0"/>
          </a:p>
        </p:txBody>
      </p:sp>
      <p:sp>
        <p:nvSpPr>
          <p:cNvPr id="11" name="be66d348-ba63-493b-9426-b76c91af066d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relationships</a:t>
            </a:r>
            <a:endParaRPr lang="en-US" sz="1000" dirty="0"/>
          </a:p>
        </p:txBody>
      </p:sp>
      <p:sp>
        <p:nvSpPr>
          <p:cNvPr id="12" name="331e52cd-f03f-4293-bd18-4d32906e5ef0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2026-01-12T13-23-46-101Z_Welcome Packet for Cloud ERP Services, 2026[66].pdf - Page 20</a:t>
            </a:r>
            <a:endParaRPr lang="en-US" sz="900" dirty="0"/>
          </a:p>
        </p:txBody>
      </p:sp>
      <p:sp>
        <p:nvSpPr>
          <p:cNvPr id="13" name="57693d05-238e-482e-8b68-7a360cfad6c8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96214455-88f0-46a3-8342-6dc5b79fc691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Responsiveness</a:t>
            </a:r>
            <a:endParaRPr lang="en-US" sz="1200" dirty="0"/>
          </a:p>
        </p:txBody>
      </p:sp>
      <p:sp>
        <p:nvSpPr>
          <p:cNvPr id="15" name="62e93c02-febb-4e51-9237-35387781c192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400" dirty="0"/>
          </a:p>
        </p:txBody>
      </p:sp>
      <p:sp>
        <p:nvSpPr>
          <p:cNvPr id="16" name="6cac5280-04db-4d6c-82a0-dee05b8845fd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Adaptability to trends</a:t>
            </a:r>
            <a:endParaRPr lang="en-US" sz="1000" dirty="0"/>
          </a:p>
        </p:txBody>
      </p:sp>
      <p:sp>
        <p:nvSpPr>
          <p:cNvPr id="17" name="3bcf97f4-7316-4db4-9aab-0bb4e8b67eda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2026-01-12T13-23-46-101Z_Welcome Packet for Cloud ERP Services, 2026[66].pdf - Page 21</a:t>
            </a:r>
            <a:endParaRPr lang="en-US" sz="900" dirty="0"/>
          </a:p>
        </p:txBody>
      </p:sp>
      <p:sp>
        <p:nvSpPr>
          <p:cNvPr id="18" name="10775efe-697c-4a3f-b6ff-06efcdf0c402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9b8b318e-6405-4699-b286-e2e3dd2df746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2026-01-12T13-23-46-101Z_Welcome Packet for Cloud ERP Services, 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240b2b4-5b62-41b3-bd9a-5e39cdd5489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Overview</a:t>
            </a:r>
            <a:endParaRPr lang="en-US" sz="2400" dirty="0"/>
          </a:p>
        </p:txBody>
      </p:sp>
      <p:sp>
        <p:nvSpPr>
          <p:cNvPr id="3" name="03b19399-194e-4337-bf58-b62cb59ef558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7a6f9a73-f259-4cef-b05f-cf5c30fd9539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5" name="aefe94a9-0d0e-453d-bcb3-8fd24ea61d57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9bb31998-f7a8-4dee-af07-0267eafdf021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084cd660-2762-4a89-a0a5-316aed30a62a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8" name="5d4e17f6-b30e-407d-9896-5c67e2e51c3f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9" name="48abe3f8-ce3f-4502-83ce-bd8a953c0790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fbc6fa3d-a051-41db-bea4-5989eccea2ef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1" name="281fa803-0f87-4ed6-8e49-7409faeb3142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c6415f88-bc2d-4d44-ab06-569647c8a32d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d0ca66c6-e113-49ec-8b3f-605ea625d147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4" name="67db1983-e772-4f1e-a60e-95db04bd3057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dae7079e-0f1a-4fcc-966f-df17e4861918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aa77f606-4e5a-48f1-9008-e33f05fb12dc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7" name="f82a301a-66f5-45f0-9930-dbf150b6ee9f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8" name="e9fe6ecd-b37b-451d-9b6e-dcaf9e38a566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0a3849c4-459a-46f9-b0b8-804a1539beee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e6328f9-5e71-4999-8098-d9de8122f0c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Case Study</a:t>
            </a:r>
            <a:endParaRPr lang="en-US" sz="2400" dirty="0"/>
          </a:p>
        </p:txBody>
      </p:sp>
      <p:sp>
        <p:nvSpPr>
          <p:cNvPr id="3" name="1816f04c-53da-4241-955c-a648991c8970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a1598ae4-14df-4a95-bd4e-582603cbecf2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213404b7-aede-45e3-9396-47e80d6aa273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d9693b-953f-457d-ad58-e2c15681be64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Case Study</a:t>
            </a:r>
            <a:endParaRPr lang="en-US" sz="2400" dirty="0"/>
          </a:p>
        </p:txBody>
      </p:sp>
      <p:sp>
        <p:nvSpPr>
          <p:cNvPr id="3" name="6d2a3cda-c312-4cd2-957e-e7c2d14f5138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154fb032-934a-453a-94ce-88e02998985d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124942ea-703e-4c84-8fff-c78cf4dc9044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659133c-4ea1-4d74-97d8-24a18c8e97fb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Case Study</a:t>
            </a:r>
            <a:endParaRPr lang="en-US" sz="2400" dirty="0"/>
          </a:p>
        </p:txBody>
      </p:sp>
      <p:sp>
        <p:nvSpPr>
          <p:cNvPr id="3" name="bd5ceac0-3e37-47ff-afad-5b7da0c6ae37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6f2ca2f7-ca33-4768-a58b-6551c38418ae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052a06c8-d1c5-4e0f-98a0-1112e9bf8cbc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9c25454-c3aa-4132-868d-a0ac2e5b2b9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Case Study</a:t>
            </a:r>
            <a:endParaRPr lang="en-US" sz="2400" dirty="0"/>
          </a:p>
        </p:txBody>
      </p:sp>
      <p:sp>
        <p:nvSpPr>
          <p:cNvPr id="3" name="9fcf224b-21c9-4bbf-b989-f31827f29de6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3b857a31-0482-453e-881b-81358c4a7c1c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d7183e1c-3b9a-421d-abfa-d8bed3a48939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fd881ca-627a-40cb-9b63-c6a990bc9e3a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Case Study</a:t>
            </a:r>
            <a:endParaRPr lang="en-US" sz="2400" dirty="0"/>
          </a:p>
        </p:txBody>
      </p:sp>
      <p:sp>
        <p:nvSpPr>
          <p:cNvPr id="3" name="5e6e5dd6-fc9b-4ec8-bb34-8042b8a4d3da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2bac7a25-517b-4b3f-accb-36c3eb901779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ae4c7455-3c4a-4981-922b-5724e9099936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f8e0210-f39a-4fc2-9aac-62e428e9e11e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Overview</a:t>
            </a:r>
            <a:endParaRPr lang="en-US" sz="2800" dirty="0"/>
          </a:p>
        </p:txBody>
      </p:sp>
      <p:sp>
        <p:nvSpPr>
          <p:cNvPr id="3" name="3fa03459-ddbf-4ab0-a108-1a6d53b1fbee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Features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Testimonials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5054a5a-77ff-4cc5-b6ff-55c12ce325f3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Execution Capabilities</a:t>
            </a:r>
            <a:endParaRPr lang="en-US" sz="2800" dirty="0"/>
          </a:p>
        </p:txBody>
      </p:sp>
      <p:sp>
        <p:nvSpPr>
          <p:cNvPr id="3" name="a933a972-cf2e-4b3d-96a9-dcb3d18ed918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Service Delivery Framework</a:t>
            </a:r>
            <a:endParaRPr lang="en-US" sz="1400" dirty="0"/>
          </a:p>
        </p:txBody>
      </p:sp>
      <p:sp>
        <p:nvSpPr>
          <p:cNvPr id="4" name="eab0a273-c581-421d-b06d-d8952246b0e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services encompass assessment, implementation, and evolution.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innovation features include AI, ML, and predictive analytics.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strategy and consulting expertise provide tech-agnostic guidance.</a:t>
            </a:r>
            <a:endParaRPr lang="en-US" sz="1600" dirty="0"/>
          </a:p>
        </p:txBody>
      </p:sp>
      <p:sp>
        <p:nvSpPr>
          <p:cNvPr id="5" name="6e230a36-6a10-45eb-a117-8881d84948a0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9135915b-cbf1-4a09-8589-82967117a50e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§2026-01-12T13-21-03-440Z_Critical_Capabilitie_806207_ndx.pdf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99dcf7d-906b-4417-95f8-19dca5b9b258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Delivery Framework</a:t>
            </a:r>
            <a:endParaRPr lang="en-US" sz="2400" dirty="0"/>
          </a:p>
        </p:txBody>
      </p:sp>
      <p:sp>
        <p:nvSpPr>
          <p:cNvPr id="3" name="dc81f97e-950c-48aa-aa37-5af63d231237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Assessment: Early engagement for tech-agnostic guidance.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Implementation: Configurable UI and secure data access.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Evolution: Analytical reporting and mobile access.</a:t>
            </a:r>
            <a:endParaRPr lang="en-US" sz="1400" dirty="0"/>
          </a:p>
        </p:txBody>
      </p:sp>
      <p:sp>
        <p:nvSpPr>
          <p:cNvPr id="4" name="7f51b2bb-8590-4b4c-859a-0ce34d68fcbf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Management: Supplier engagement and collaboration.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Transformation: AP invoice automation.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Run/Evolve: Procurement of services.</a:t>
            </a:r>
            <a:endParaRPr lang="en-US" sz="1400" dirty="0"/>
          </a:p>
        </p:txBody>
      </p:sp>
      <p:sp>
        <p:nvSpPr>
          <p:cNvPr id="5" name="18deb2b4-92eb-4077-937e-f7cbdcfee67e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49199486-98e5-43fc-8a75-cb14aff913a6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Maintenance: Enhanced accuracy</a:t>
            </a:r>
            <a:endParaRPr lang="en-US" sz="1200" dirty="0"/>
          </a:p>
        </p:txBody>
      </p:sp>
      <p:sp>
        <p:nvSpPr>
          <p:cNvPr id="7" name="dd334439-f5b3-4b91-82e2-7e6c291b6e90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Manufacturing</a:t>
            </a:r>
            <a:endParaRPr lang="en-US" sz="1000" dirty="0"/>
          </a:p>
        </p:txBody>
      </p:sp>
      <p:sp>
        <p:nvSpPr>
          <p:cNvPr id="8" name="b510a271-5cc2-4353-8756-b50f1fee511b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§2026-01-12T13-34-54-775Z_MQ</a:t>
            </a:r>
            <a:endParaRPr lang="en-US" sz="900" dirty="0"/>
          </a:p>
        </p:txBody>
      </p:sp>
      <p:sp>
        <p:nvSpPr>
          <p:cNvPr id="9" name="d34ee992-33e5-45a3-9daa-78a90c0cca33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0" name="8a0e43c3-4533-4340-b85b-808aefb17762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§2026-01-12T13-21-03-440Z_Critical_Capabilitie_806207_ndx.pdf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764caa7-47a4-47a1-9eaa-ded27ea3d924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 in 2025</a:t>
            </a:r>
            <a:endParaRPr lang="en-US" sz="2400" dirty="0"/>
          </a:p>
        </p:txBody>
      </p:sp>
      <p:sp>
        <p:nvSpPr>
          <p:cNvPr id="3" name="eb3677b5-c281-4e6b-9f83-e1e5e1650556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1ce0a6a3-5d2e-435b-b6a8-c9eeb4d03e55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Achievement #1</a:t>
            </a:r>
            <a:endParaRPr lang="en-US" sz="1200" dirty="0"/>
          </a:p>
        </p:txBody>
      </p:sp>
      <p:sp>
        <p:nvSpPr>
          <p:cNvPr id="5" name="38a4dcba-6cea-4119-8f9f-de8734968ad1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2400" dirty="0"/>
          </a:p>
        </p:txBody>
      </p:sp>
      <p:sp>
        <p:nvSpPr>
          <p:cNvPr id="6" name="ab42183c-382e-45bf-ac9d-e639849a7be7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000" dirty="0"/>
          </a:p>
        </p:txBody>
      </p:sp>
      <p:sp>
        <p:nvSpPr>
          <p:cNvPr id="7" name="02c212f2-c244-440b-8eee-c798e3b7f6d0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§Microsoft MQ &amp; CC_Cloud-ERP-Services_IBM_05-Dec-2025.xlsx</a:t>
            </a:r>
            <a:endParaRPr lang="en-US" sz="900" dirty="0"/>
          </a:p>
        </p:txBody>
      </p:sp>
      <p:sp>
        <p:nvSpPr>
          <p:cNvPr id="8" name="f3166c1c-6aa2-4bc6-982a-7f4517e72dbc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a5d0e0e1-573c-4bbe-a022-4f9d54ca4df5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Achievement #2</a:t>
            </a:r>
            <a:endParaRPr lang="en-US" sz="1200" dirty="0"/>
          </a:p>
        </p:txBody>
      </p:sp>
      <p:sp>
        <p:nvSpPr>
          <p:cNvPr id="10" name="bad8c427-14a8-4586-903f-8e5d48b81831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2400" dirty="0"/>
          </a:p>
        </p:txBody>
      </p:sp>
      <p:sp>
        <p:nvSpPr>
          <p:cNvPr id="11" name="abc9a7aa-e80f-4ec8-8fa5-3ec268466820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000" dirty="0"/>
          </a:p>
        </p:txBody>
      </p:sp>
      <p:sp>
        <p:nvSpPr>
          <p:cNvPr id="12" name="20ba06db-1dd5-4197-9e43-b2172a1499a8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§Microsoft MQ &amp; CC_Cloud-ERP-Services_IBM_05-Dec-2025.xlsx</a:t>
            </a:r>
            <a:endParaRPr lang="en-US" sz="900" dirty="0"/>
          </a:p>
        </p:txBody>
      </p:sp>
      <p:sp>
        <p:nvSpPr>
          <p:cNvPr id="13" name="5b7d5e37-458e-45d0-bfc1-9971834a7cd2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fc77d4be-c09a-4521-8081-b8890da2a8d3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Achievement #3</a:t>
            </a:r>
            <a:endParaRPr lang="en-US" sz="1200" dirty="0"/>
          </a:p>
        </p:txBody>
      </p:sp>
      <p:sp>
        <p:nvSpPr>
          <p:cNvPr id="15" name="da8c95e4-4f33-4f32-9895-eef923f3f21f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2400" dirty="0"/>
          </a:p>
        </p:txBody>
      </p:sp>
      <p:sp>
        <p:nvSpPr>
          <p:cNvPr id="16" name="168d1452-cd4d-46c0-91da-f0ad57e5e456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000" dirty="0"/>
          </a:p>
        </p:txBody>
      </p:sp>
      <p:sp>
        <p:nvSpPr>
          <p:cNvPr id="17" name="725cc0ed-cbee-449b-ac10-4b6cd6e7d47b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§Microsoft MQ &amp; CC_Cloud-ERP-Services_IBM_05-Dec-2025.xlsx</a:t>
            </a:r>
            <a:endParaRPr lang="en-US" sz="900" dirty="0"/>
          </a:p>
        </p:txBody>
      </p:sp>
      <p:sp>
        <p:nvSpPr>
          <p:cNvPr id="18" name="bdc1979b-9356-41a2-abc8-ebd20db506b7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763ab27b-b68a-4717-afa9-ceb0ebd88188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§Microsoft MQ &amp; CC_Cloud-ERP-Services_IBM_05-Dec-2025.xlsx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1099619-c6cc-46bd-9a92-02f25fd9e676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Overview</a:t>
            </a:r>
            <a:endParaRPr lang="en-US" sz="2400" dirty="0"/>
          </a:p>
        </p:txBody>
      </p:sp>
      <p:sp>
        <p:nvSpPr>
          <p:cNvPr id="3" name="00fed125-860e-45e1-8e99-2fb81e3f0471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ad555b7e-e3c3-49cf-983e-bfec60e78ddc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5" name="081fc78b-df6a-4829-afed-537a9029f87f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6f44313f-ca6a-468d-9fa7-cfa1e10e6758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336261f1-58dc-474d-b846-e92004a9636c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8" name="618a596e-fff4-41a7-8611-53be2e12d737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9" name="fb4d3ad3-790c-4e9e-ae21-4930bed2cdee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69e1b3b9-3f95-4ea4-afeb-ad3f8ecedeb2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1" name="a32603a1-54d1-4541-a6e3-0269b6f439f8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0a674bc6-0d24-4f24-9ac4-036f4cb6df19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10d989f8-713a-4e49-86b8-1139c589424c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4" name="a948a945-837d-4469-82b9-947c9a0e7a98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96ae2cbe-95ed-40f4-a43f-043f952b1375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9c362d17-093a-4513-bc67-916b3cd1fc6b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7" name="dbe5e185-c135-47f7-8258-47454dc83b8b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8" name="199f38ca-14b7-467c-aee5-6d33e042beef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63fa41c2-fc80-4dfe-b0ea-b3af09231885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89a5054-916c-4760-8837-40dbfc86de68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Deep Dive</a:t>
            </a:r>
            <a:endParaRPr lang="en-US" sz="2400" dirty="0"/>
          </a:p>
        </p:txBody>
      </p:sp>
      <p:sp>
        <p:nvSpPr>
          <p:cNvPr id="3" name="eea7d582-06fd-432a-b2b8-dd24bd316b3a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d703e7a8-460e-4e6e-b6b9-b40fe69c44a3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d77227cf-f86e-4512-9ff6-c70fe35acf1d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b9ac0f-45a5-4208-a378-1614329912b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endParaRPr lang="en-US" sz="2800" dirty="0"/>
          </a:p>
        </p:txBody>
      </p:sp>
      <p:sp>
        <p:nvSpPr>
          <p:cNvPr id="3" name="17bf56a3-0969-42a2-933b-0f2b29eb2a16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Projections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fbf4275-7703-44c6-9e94-7a6d29cdb81d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Financial Strength and Operational Maturity</a:t>
            </a:r>
            <a:endParaRPr lang="en-US" sz="2800" dirty="0"/>
          </a:p>
        </p:txBody>
      </p:sp>
      <p:sp>
        <p:nvSpPr>
          <p:cNvPr id="3" name="73e07f92-70bc-403f-bb5f-8a3d62c3c0e8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Long-Term Viability</a:t>
            </a:r>
            <a:endParaRPr lang="en-US" sz="1400" dirty="0"/>
          </a:p>
        </p:txBody>
      </p:sp>
      <p:sp>
        <p:nvSpPr>
          <p:cNvPr id="4" name="312e6e5c-d038-42ed-92d0-c9f7d3cc025b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demonstrates strong year-over-year growth in Cloud ERP services.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 within IBM's portfolio ensures continued investment.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financial health supports long-term customer success.</a:t>
            </a:r>
            <a:endParaRPr lang="en-US" sz="1600" dirty="0"/>
          </a:p>
        </p:txBody>
      </p:sp>
      <p:sp>
        <p:nvSpPr>
          <p:cNvPr id="5" name="a5c32c3f-3112-4f55-9765-95fadde3f1ec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e139c306-757e-4684-bb63-699e38247640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2026-01-12T13-23-46-101Z_Welcome Packet for Cloud ERP Services, 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586778c-5848-4741-97e3-a10733033394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Metrics Overview</a:t>
            </a:r>
            <a:endParaRPr lang="en-US" sz="2400" dirty="0"/>
          </a:p>
        </p:txBody>
      </p:sp>
      <p:sp>
        <p:nvSpPr>
          <p:cNvPr id="3" name="02150224-cdbd-4d82-be71-9034a70ccd7d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 revenue growth in Cloud ERP services.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retention rates across strategic markets.</a:t>
            </a:r>
            <a:endParaRPr lang="en-US" sz="1400" dirty="0"/>
          </a:p>
        </p:txBody>
      </p:sp>
      <p:sp>
        <p:nvSpPr>
          <p:cNvPr id="4" name="af4bde4a-969c-4f89-acdf-54ad6d28c08d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alignment of Cloud ERP services within IBM's portfolio.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Continued investment in product innovation and customer success.</a:t>
            </a:r>
            <a:endParaRPr lang="en-US" sz="1400" dirty="0"/>
          </a:p>
        </p:txBody>
      </p:sp>
      <p:sp>
        <p:nvSpPr>
          <p:cNvPr id="5" name="339aac8a-f313-43b8-ac30-6e547a425511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eb34271c-f291-45a1-bcb5-0dcb08a7cd9d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Growth: 15%</a:t>
            </a:r>
            <a:endParaRPr lang="en-US" sz="1200" dirty="0"/>
          </a:p>
        </p:txBody>
      </p:sp>
      <p:sp>
        <p:nvSpPr>
          <p:cNvPr id="7" name="563c0e26-a01a-4921-8ce1-2c9efb41eac0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 increase in Cloud ERP services</a:t>
            </a:r>
            <a:endParaRPr lang="en-US" sz="1000" dirty="0"/>
          </a:p>
        </p:txBody>
      </p:sp>
      <p:sp>
        <p:nvSpPr>
          <p:cNvPr id="8" name="4e8f0033-0654-4b61-a8c8-06a837c705be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2026-01-12T13-23-46-101Z_Welcome Packet for Cloud ERP Services, 2026[66].pdf - Page 20</a:t>
            </a:r>
            <a:endParaRPr lang="en-US" sz="900" dirty="0"/>
          </a:p>
        </p:txBody>
      </p:sp>
      <p:sp>
        <p:nvSpPr>
          <p:cNvPr id="9" name="52451780-ddba-485f-bcae-9d6ddd0a22fd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c120c52b-1233-43ad-beed-0d296067bee3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Rate: 92%</a:t>
            </a:r>
            <a:endParaRPr lang="en-US" sz="1200" dirty="0"/>
          </a:p>
        </p:txBody>
      </p:sp>
      <p:sp>
        <p:nvSpPr>
          <p:cNvPr id="11" name="f4386d39-77e5-433e-b26d-8f3b318fd362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strategic markets</a:t>
            </a:r>
            <a:endParaRPr lang="en-US" sz="1000" dirty="0"/>
          </a:p>
        </p:txBody>
      </p:sp>
      <p:sp>
        <p:nvSpPr>
          <p:cNvPr id="12" name="a2611549-e2e9-4d22-8535-a815668ede1a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2026-01-12T13-23-46-101Z_Welcome Packet for Cloud ERP Services, 2026[66].pdf - Page 20</a:t>
            </a:r>
            <a:endParaRPr lang="en-US" sz="900" dirty="0"/>
          </a:p>
        </p:txBody>
      </p:sp>
      <p:sp>
        <p:nvSpPr>
          <p:cNvPr id="13" name="eb8dc625-b675-4e04-b005-348e5aafa54d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4" name="d248384a-801b-4aa8-952c-3f520239253b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2026-01-12T13-23-46-101Z_Welcome Packet for Cloud ERP Services, 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d2d41b6-260c-4f8c-ba12-eba1a5724a9c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Financial Indicators</a:t>
            </a:r>
            <a:endParaRPr lang="en-US" sz="2400" dirty="0"/>
          </a:p>
        </p:txBody>
      </p:sp>
      <p:sp>
        <p:nvSpPr>
          <p:cNvPr id="3" name="10340c1f-3cf3-47a7-aa26-6e8035342437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ec824c02-ef7f-4359-9255-42ad6df8b398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Revenue Growth</a:t>
            </a:r>
            <a:endParaRPr lang="en-US" sz="1200" dirty="0"/>
          </a:p>
        </p:txBody>
      </p:sp>
      <p:sp>
        <p:nvSpPr>
          <p:cNvPr id="5" name="9337ecba-afaf-4bb4-920c-c3ea1488fc53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2400" dirty="0"/>
          </a:p>
        </p:txBody>
      </p:sp>
      <p:sp>
        <p:nvSpPr>
          <p:cNvPr id="6" name="87d005e1-c0f8-4270-abca-83b688150758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market segments</a:t>
            </a:r>
            <a:endParaRPr lang="en-US" sz="1000" dirty="0"/>
          </a:p>
        </p:txBody>
      </p:sp>
      <p:sp>
        <p:nvSpPr>
          <p:cNvPr id="7" name="e0d82681-44b9-4ea7-b6bb-3423c804944f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900" dirty="0"/>
          </a:p>
        </p:txBody>
      </p:sp>
      <p:sp>
        <p:nvSpPr>
          <p:cNvPr id="8" name="e216b3d2-08bc-4c64-ab0d-91b56b6ced24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7b4b868f-1dc4-4aa5-80d8-a84aed87c422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in Innovation</a:t>
            </a:r>
            <a:endParaRPr lang="en-US" sz="1200" dirty="0"/>
          </a:p>
        </p:txBody>
      </p:sp>
      <p:sp>
        <p:nvSpPr>
          <p:cNvPr id="10" name="d7c6ce1c-3d9a-4fce-aab6-24cc871ce0da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2400" dirty="0"/>
          </a:p>
        </p:txBody>
      </p:sp>
      <p:sp>
        <p:nvSpPr>
          <p:cNvPr id="11" name="a184a2a0-54e3-4b68-87ac-a4d4d0490c4a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product development</a:t>
            </a:r>
            <a:endParaRPr lang="en-US" sz="1000" dirty="0"/>
          </a:p>
        </p:txBody>
      </p:sp>
      <p:sp>
        <p:nvSpPr>
          <p:cNvPr id="12" name="4abb6855-bc1c-4c1e-9bd5-f9e042b81865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900" dirty="0"/>
          </a:p>
        </p:txBody>
      </p:sp>
      <p:sp>
        <p:nvSpPr>
          <p:cNvPr id="13" name="fe04dd28-0281-47be-8238-db94305bf56f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2c58c944-3afb-4145-ba78-ca65bf50df75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Efficiency</a:t>
            </a:r>
            <a:endParaRPr lang="en-US" sz="1200" dirty="0"/>
          </a:p>
        </p:txBody>
      </p:sp>
      <p:sp>
        <p:nvSpPr>
          <p:cNvPr id="15" name="daf1705d-ea44-4ed6-a146-ca90685a6d2c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2400" dirty="0"/>
          </a:p>
        </p:txBody>
      </p:sp>
      <p:sp>
        <p:nvSpPr>
          <p:cNvPr id="16" name="3a8ebe57-f9ef-4ccc-8126-f4899b8b9b64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management strategies</a:t>
            </a:r>
            <a:endParaRPr lang="en-US" sz="1000" dirty="0"/>
          </a:p>
        </p:txBody>
      </p:sp>
      <p:sp>
        <p:nvSpPr>
          <p:cNvPr id="17" name="8a494568-88ed-46f0-bc1c-37e9f463dc9d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900" dirty="0"/>
          </a:p>
        </p:txBody>
      </p:sp>
      <p:sp>
        <p:nvSpPr>
          <p:cNvPr id="18" name="234ef867-f924-4489-aec8-d62a7255b202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d246a310-c906-4449-81c2-d5bca9c410e8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7ce6198-4ac5-443e-ab4d-47abe7d7695e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Case Studies Overview</a:t>
            </a:r>
            <a:endParaRPr lang="en-US" sz="2400" dirty="0"/>
          </a:p>
        </p:txBody>
      </p:sp>
      <p:sp>
        <p:nvSpPr>
          <p:cNvPr id="3" name="bf81ee2e-f949-49f4-8e28-d961436af3d0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df678b4d-cba6-44c8-8574-ff647e8ef6a7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5" name="14bdb8d8-054d-4dfa-8332-3b15a2c1f01c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8ceffc52-476a-4bb9-9d2c-ca6a080322fb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7c993368-62e4-4a6d-a1f9-7043e0d15167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8" name="dc653b62-96fd-4746-98e2-6197ab8b05ef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9" name="0af74776-24af-42f0-9619-dc5c9694e67b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9b67aa40-dbbb-4222-8430-205ba141805e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1" name="0a9a83ad-be6a-41aa-88a6-1a8364ef374f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76d31c50-04c8-4d8a-bd20-97d850037771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6d28d25d-4bf5-4d3d-9f66-5550ccdd1424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4" name="ecfc7a5f-9435-4c26-b32c-007cc6c7d428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7ba17e29-d027-4f46-9574-f476b633af81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a7a315cc-bc94-4de8-b758-26e20a0f392a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7" name="d537c158-101a-4fef-950f-22e6dc4e3e00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8" name="4bd0593b-10a8-4702-a03c-247094045b7e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f73d43da-17bc-420b-b8d8-a9d1e53e6998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761a8a3-ca16-40fb-bf25-82b062855096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Financial Transformation</a:t>
            </a:r>
            <a:endParaRPr lang="en-US" sz="2400" dirty="0"/>
          </a:p>
        </p:txBody>
      </p:sp>
      <p:sp>
        <p:nvSpPr>
          <p:cNvPr id="3" name="0f17c2f9-b8bb-4fce-8f59-7298e5ba3939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06e11c56-e907-4365-b221-f792e2e70cd7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afce02eb-fc3b-459c-a4fe-ef84d36524b0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ed00f27-8c8e-4e6f-9e1c-e461bc80cfd5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Strategic Market Expansion</a:t>
            </a:r>
            <a:endParaRPr lang="en-US" sz="2400" dirty="0"/>
          </a:p>
        </p:txBody>
      </p:sp>
      <p:sp>
        <p:nvSpPr>
          <p:cNvPr id="3" name="cf8a8109-cd1c-4835-a033-2dd24ecb83bd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c7f0037e-2ef5-4429-9385-413c878e0f86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fa7d47d6-ef05-44af-a584-ded601c7e697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068ad59-2f08-43af-84be-452a56a3647d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Operational Efficiency</a:t>
            </a:r>
            <a:endParaRPr lang="en-US" sz="2400" dirty="0"/>
          </a:p>
        </p:txBody>
      </p:sp>
      <p:sp>
        <p:nvSpPr>
          <p:cNvPr id="3" name="3742f1c5-68f9-4dae-8ae9-abce38a2466d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2b555bcb-0569-483b-b48f-def8fa40c5ac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6eed1b6d-42d2-4696-8465-cf2f0907e136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41c6c80-788f-45e4-9b51-77a422fb3e9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Investment in Innovation</a:t>
            </a:r>
            <a:endParaRPr lang="en-US" sz="2400" dirty="0"/>
          </a:p>
        </p:txBody>
      </p:sp>
      <p:sp>
        <p:nvSpPr>
          <p:cNvPr id="3" name="43fcda8d-1eff-4d1f-808c-4cf64189c856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b4a9b3b8-c395-4f51-92fe-0f1592cac113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2aa56449-29eb-4cb8-9676-c9450b33849c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3205567-f70d-47b0-b912-fe24ddff5c3c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Customer Success</a:t>
            </a:r>
            <a:endParaRPr lang="en-US" sz="2400" dirty="0"/>
          </a:p>
        </p:txBody>
      </p:sp>
      <p:sp>
        <p:nvSpPr>
          <p:cNvPr id="3" name="429959c0-b61b-4175-b362-d30b40b0e98e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5fa2b8b5-3ebf-4633-b655-4d0180be2fba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69e7c99c-1b8b-4057-98bf-e3906e7a09e8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2bf8d7c-3d97-48fd-8236-50d9a2b8d48c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2800" dirty="0"/>
          </a:p>
        </p:txBody>
      </p:sp>
      <p:sp>
        <p:nvSpPr>
          <p:cNvPr id="3" name="b27cece3-e891-48b3-af24-1350f7828b39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Floor for Questions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72223183" id="{0A77C87C-1F66-5942-BF6F-687B96EEF514}" vid="{0EA68F6A-F767-2E42-87CF-AE74C22B1D55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IBM presentation template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Diana Stanciulescu</dc:creator>
  <cp:keywords/>
  <dc:description/>
  <cp:lastModifiedBy>Richard Hogan</cp:lastModifiedBy>
  <cp:revision>2</cp:revision>
  <cp:lastPrinted>2019-04-25T15:14:05Z</cp:lastPrinted>
  <dcterms:created xsi:type="dcterms:W3CDTF">2024-10-31T10:55:27Z</dcterms:created>
  <dcterms:modified xsi:type="dcterms:W3CDTF">2026-01-15T13:14:55Z</dcterms:modified>
  <cp:category/>
</cp:coreProperties>
</file>