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  <p:sldId r:id="rId39-created" id="284"/>
    <p:sldId r:id="rId40-created" id="285"/>
    <p:sldId r:id="rId41-created" id="286"/>
    <p:sldId r:id="rId42-created" id="287"/>
    <p:sldId r:id="rId43-created" id="288"/>
    <p:sldId r:id="rId44-created" id="289"/>
    <p:sldId r:id="rId45-created" id="290"/>
    <p:sldId r:id="rId46-created" id="291"/>
    <p:sldId r:id="rId47-created" id="292"/>
    <p:sldId r:id="rId48-created" id="293"/>
    <p:sldId r:id="rId49-created" id="294"/>
    <p:sldId r:id="rId50-created" id="295"/>
    <p:sldId r:id="rId51-created" id="296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Relationship Id="rId39-created" Type="http://schemas.openxmlformats.org/officeDocument/2006/relationships/slide" Target="slides/slide30.xml"/><Relationship Id="rId40-created" Type="http://schemas.openxmlformats.org/officeDocument/2006/relationships/slide" Target="slides/slide31.xml"/><Relationship Id="rId41-created" Type="http://schemas.openxmlformats.org/officeDocument/2006/relationships/slide" Target="slides/slide32.xml"/><Relationship Id="rId42-created" Type="http://schemas.openxmlformats.org/officeDocument/2006/relationships/slide" Target="slides/slide33.xml"/><Relationship Id="rId43-created" Type="http://schemas.openxmlformats.org/officeDocument/2006/relationships/slide" Target="slides/slide34.xml"/><Relationship Id="rId44-created" Type="http://schemas.openxmlformats.org/officeDocument/2006/relationships/slide" Target="slides/slide35.xml"/><Relationship Id="rId45-created" Type="http://schemas.openxmlformats.org/officeDocument/2006/relationships/slide" Target="slides/slide36.xml"/><Relationship Id="rId46-created" Type="http://schemas.openxmlformats.org/officeDocument/2006/relationships/slide" Target="slides/slide37.xml"/><Relationship Id="rId47-created" Type="http://schemas.openxmlformats.org/officeDocument/2006/relationships/slide" Target="slides/slide38.xml"/><Relationship Id="rId48-created" Type="http://schemas.openxmlformats.org/officeDocument/2006/relationships/slide" Target="slides/slide39.xml"/><Relationship Id="rId49-created" Type="http://schemas.openxmlformats.org/officeDocument/2006/relationships/slide" Target="slides/slide40.xml"/><Relationship Id="rId50-created" Type="http://schemas.openxmlformats.org/officeDocument/2006/relationships/slide" Target="slides/slide41.xml"/><Relationship Id="rId51-created" Type="http://schemas.openxmlformats.org/officeDocument/2006/relationships/slide" Target="slides/slide4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71eea5-8050-4d8c-968f-3c841dd03c4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91c1537-498e-4e10-85b8-1c5c9643803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64dd01d2-71ea-4224-a9c5-95f477bfc543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40749d8-694b-4309-aefe-fd3632a69cd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 Cloud ERP Solutions</a:t>
            </a:r>
            <a:endParaRPr lang="en-US" sz="2800" dirty="0"/>
          </a:p>
        </p:txBody>
      </p:sp>
      <p:sp>
        <p:nvSpPr>
          <p:cNvPr id="3" name="0a9f3f08-54d9-4103-b97a-c531b5d3939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Execution and Vision</a:t>
            </a:r>
            <a:endParaRPr lang="en-US" sz="1400" dirty="0"/>
          </a:p>
        </p:txBody>
      </p:sp>
      <p:sp>
        <p:nvSpPr>
          <p:cNvPr id="4" name="45ca71ac-e34e-474d-ab70-1d115b9022e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solutions drive efficiency and growth through innovative technologies.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positioned to adapt to market trends and customer needs.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by our ability to execute and comprehensive vision for the future.</a:t>
            </a:r>
            <a:endParaRPr lang="en-US" sz="1600" dirty="0"/>
          </a:p>
        </p:txBody>
      </p:sp>
      <p:sp>
        <p:nvSpPr>
          <p:cNvPr id="5" name="6c271058-e9f4-4f20-aae9-27bddb8b9c3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0701f04e-8da6-47be-b578-af300a806977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f94b0fe-cacb-4f2a-89a5-bbcd18c088e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Capabilities</a:t>
            </a:r>
            <a:endParaRPr lang="en-US" sz="2400" dirty="0"/>
          </a:p>
        </p:txBody>
      </p:sp>
      <p:sp>
        <p:nvSpPr>
          <p:cNvPr id="3" name="c7718266-00b4-4665-9a1e-27f2a00c2e1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service delivery: assessment → implementation → evolution.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talent management: attracting and retaining top ERP consultants.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Contractual flexibility: modular pricing and scalable delivery models.</a:t>
            </a:r>
            <a:endParaRPr lang="en-US" sz="1400" dirty="0"/>
          </a:p>
        </p:txBody>
      </p:sp>
      <p:sp>
        <p:nvSpPr>
          <p:cNvPr id="4" name="5f46b3fb-3501-4e91-a5e0-79ad211cf9a0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foresight in market trends and customer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technologies: AI, Power Platform integration.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 with onshore, nearshore, offshore delivery pools.</a:t>
            </a:r>
            <a:endParaRPr lang="en-US" sz="1400" dirty="0"/>
          </a:p>
        </p:txBody>
      </p:sp>
      <p:sp>
        <p:nvSpPr>
          <p:cNvPr id="5" name="26a13e82-52ad-4169-a00c-9e74915e0843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78f380ca-fccf-478f-8778-a704c04f8558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Retention: High</a:t>
            </a:r>
            <a:endParaRPr lang="en-US" sz="1200" dirty="0"/>
          </a:p>
        </p:txBody>
      </p:sp>
      <p:sp>
        <p:nvSpPr>
          <p:cNvPr id="7" name="06ffad62-3f72-43e9-8108-d451b16b20f8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strategy</a:t>
            </a:r>
            <a:endParaRPr lang="en-US" sz="1000" dirty="0"/>
          </a:p>
        </p:txBody>
      </p:sp>
      <p:sp>
        <p:nvSpPr>
          <p:cNvPr id="8" name="c3104737-fb50-4636-bd89-90da3397e5df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9" name="e028a19c-3836-4647-8920-3c69eeef1591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3bb7149c-51ee-417e-a3e3-a176a5ec33fb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Flexibility: Modular</a:t>
            </a:r>
            <a:endParaRPr lang="en-US" sz="1200" dirty="0"/>
          </a:p>
        </p:txBody>
      </p:sp>
      <p:sp>
        <p:nvSpPr>
          <p:cNvPr id="11" name="6195b1bb-b6cc-42eb-92b5-eca84413bc20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D365 programs</a:t>
            </a:r>
            <a:endParaRPr lang="en-US" sz="1000" dirty="0"/>
          </a:p>
        </p:txBody>
      </p:sp>
      <p:sp>
        <p:nvSpPr>
          <p:cNvPr id="12" name="08af4942-0637-4e96-bad4-53b3b35ebf30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3" name="10fd6059-255d-4780-bc87-865c5e9565aa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7b56dcf4-b608-4405-9882-49976fa2106b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Delivery: Scalable</a:t>
            </a:r>
            <a:endParaRPr lang="en-US" sz="1200" dirty="0"/>
          </a:p>
        </p:txBody>
      </p:sp>
      <p:sp>
        <p:nvSpPr>
          <p:cNvPr id="15" name="286b6462-6599-452e-892e-e6e955c94237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Onshore, nearshore, offshore</a:t>
            </a:r>
            <a:endParaRPr lang="en-US" sz="1000" dirty="0"/>
          </a:p>
        </p:txBody>
      </p:sp>
      <p:sp>
        <p:nvSpPr>
          <p:cNvPr id="16" name="6c7fab3a-f35f-495b-9cac-0fc9605f39b6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7" name="7075e60a-20bf-4248-8931-11a639758b6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76226a60-5ef7-428e-8615-a820024770c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9d5866-42db-4dd5-9cb2-daf6b752263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IBM Cloud ERP Solutions</a:t>
            </a:r>
            <a:endParaRPr lang="en-US" sz="2400" dirty="0"/>
          </a:p>
        </p:txBody>
      </p:sp>
      <p:sp>
        <p:nvSpPr>
          <p:cNvPr id="3" name="4329dafc-3ca7-437a-a7bd-95501683896a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90568890-22f3-4f39-a25e-9f5be772eff5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Improvement</a:t>
            </a:r>
            <a:endParaRPr lang="en-US" sz="1200" dirty="0"/>
          </a:p>
        </p:txBody>
      </p:sp>
      <p:sp>
        <p:nvSpPr>
          <p:cNvPr id="5" name="10ad608a-fc83-48d3-8218-684e13b15340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400" dirty="0"/>
          </a:p>
        </p:txBody>
      </p:sp>
      <p:sp>
        <p:nvSpPr>
          <p:cNvPr id="6" name="b51d80f2-dd71-4c73-b401-1f77fe6a397d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automation</a:t>
            </a:r>
            <a:endParaRPr lang="en-US" sz="1000" dirty="0"/>
          </a:p>
        </p:txBody>
      </p:sp>
      <p:sp>
        <p:nvSpPr>
          <p:cNvPr id="7" name="f62cd6cb-7b72-419f-83f9-3878c296575a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8" name="c0906258-4393-4533-8357-c98491a5d02f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3fb83dac-2f4d-4110-80bb-372db4e4c739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10" name="c138eda0-630e-436f-ace9-ed1936a8bb95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1" name="fadee279-89cd-4510-9227-40f8e4be6655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Client-centric approach</a:t>
            </a:r>
            <a:endParaRPr lang="en-US" sz="1000" dirty="0"/>
          </a:p>
        </p:txBody>
      </p:sp>
      <p:sp>
        <p:nvSpPr>
          <p:cNvPr id="12" name="530eb999-de71-4aa6-beee-4e98abdf28be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13" name="1e129b57-0311-4973-9a4b-26907e79b1d1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b192c627-1035-4b28-941b-1ec3b7f29edb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Budget</a:t>
            </a:r>
            <a:endParaRPr lang="en-US" sz="1200" dirty="0"/>
          </a:p>
        </p:txBody>
      </p:sp>
      <p:sp>
        <p:nvSpPr>
          <p:cNvPr id="15" name="ba0fd668-0f28-4fb7-a5ce-f43fc4e79feb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Ring-fenced</a:t>
            </a:r>
            <a:endParaRPr lang="en-US" sz="2400" dirty="0"/>
          </a:p>
        </p:txBody>
      </p:sp>
      <p:sp>
        <p:nvSpPr>
          <p:cNvPr id="16" name="41539b85-b01c-454a-af37-e83543f71eb1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new features</a:t>
            </a:r>
            <a:endParaRPr lang="en-US" sz="1000" dirty="0"/>
          </a:p>
        </p:txBody>
      </p:sp>
      <p:sp>
        <p:nvSpPr>
          <p:cNvPr id="17" name="cb92ee53-57ce-438c-be15-92899f92c067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8" name="65af51c3-8558-487f-ad5d-f708fe9307b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b81effc4-7af8-4344-8bdd-157dc2ddab1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87cc58f-1bc0-47f7-9c91-4f9ef7f7ff5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64841e22-e3c3-4074-9d2c-c45585ea833f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47e30a8d-39e4-4ab1-ad77-579f4c7b0671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82bc96e9-6f40-40ce-9e27-a4bb983889d7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52cd06bb-1a8d-4113-a192-04c56ba76ebf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a2c439f7-adfe-4682-9947-e5ec596d34be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3f7eeaa4-8a43-4d16-90c4-df6fc6f570b1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08688bfc-c1d0-4903-a0b3-56b05bcf1323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f5142174-1edb-4441-99fc-f678b23f2ded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ef0129e9-1443-4110-93ec-10de0d23e553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c7d299fc-bb4a-4f8f-a195-64f0fd042b4e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42ca4241-e776-4746-a0b0-a53460d31a58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aafb9c98-1cde-4503-bf68-97c1b926c997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6b51b12b-fde1-4555-ac89-4179156f7b49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dd67d557-d53b-4b58-b718-1b42f7bd93c6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065fbebb-d382-44d9-871f-cb7d518ac514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0e02f776-88ae-417e-b1bc-220259b21db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26ba890b-9b0c-4f43-8e45-97de268f7d3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ddd821-e908-4a6a-908d-b361ee7d7ae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13ac2e1f-f54a-412f-9ad3-89aa5ef6bf1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d964b112-a5d1-45a9-a650-000a760e4f1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4a1be7ef-7002-4158-a6f4-391e4d9e920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76ab058-36eb-48e5-a377-76f45422a11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for Cloud ERP</a:t>
            </a:r>
            <a:endParaRPr lang="en-US" sz="2800" dirty="0"/>
          </a:p>
        </p:txBody>
      </p:sp>
      <p:sp>
        <p:nvSpPr>
          <p:cNvPr id="3" name="a66ca238-ee6d-49d2-ad40-4450fb6798bd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Adapting to Market Trends and Customer Needs</a:t>
            </a:r>
            <a:endParaRPr lang="en-US" sz="1400" dirty="0"/>
          </a:p>
        </p:txBody>
      </p:sp>
      <p:sp>
        <p:nvSpPr>
          <p:cNvPr id="4" name="beb5ddd6-091d-42d3-a94a-f96f07e07ba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foresight ensures adaptability in a rapidly evolving market.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long-term partnerships and sustained value realization.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innovation and emerging technologies like AI and low-code.</a:t>
            </a:r>
            <a:endParaRPr lang="en-US" sz="1600" dirty="0"/>
          </a:p>
        </p:txBody>
      </p:sp>
      <p:sp>
        <p:nvSpPr>
          <p:cNvPr id="5" name="306ece10-aee7-46a8-8e76-1aeb7a55df3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f198b4df-3e12-47e6-b871-6777568facbe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97f737-bcf7-4843-aaea-fe841784445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Analysis: Trends and IBM's Positioning</a:t>
            </a:r>
            <a:endParaRPr lang="en-US" sz="2400" dirty="0"/>
          </a:p>
        </p:txBody>
      </p:sp>
      <p:sp>
        <p:nvSpPr>
          <p:cNvPr id="3" name="e584c361-d191-43a8-9c90-e6e977c26068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market growth driven by digital transformation.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demand for agile and scalable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requires strategic adaptability.</a:t>
            </a:r>
            <a:endParaRPr lang="en-US" sz="1400" dirty="0"/>
          </a:p>
        </p:txBody>
      </p:sp>
      <p:sp>
        <p:nvSpPr>
          <p:cNvPr id="4" name="32c631b5-1863-4632-98ba-54adb6098d57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modular contracts support evolving business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delivery pools enhance responsiveness and capacity.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budgets explore new features without core restructuring.</a:t>
            </a:r>
            <a:endParaRPr lang="en-US" sz="1400" dirty="0"/>
          </a:p>
        </p:txBody>
      </p:sp>
      <p:sp>
        <p:nvSpPr>
          <p:cNvPr id="5" name="4d594a0a-f68a-414e-bf8e-a411dcafb28d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3f9196e4-8165-48d5-8e42-4c93e1526e8e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Growth: 15% CAGR</a:t>
            </a:r>
            <a:endParaRPr lang="en-US" sz="1200" dirty="0"/>
          </a:p>
        </p:txBody>
      </p:sp>
      <p:sp>
        <p:nvSpPr>
          <p:cNvPr id="7" name="261e7f23-7f7d-46b0-8ff1-fcca23c0109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1000" dirty="0"/>
          </a:p>
        </p:txBody>
      </p:sp>
      <p:sp>
        <p:nvSpPr>
          <p:cNvPr id="8" name="8ec29e05-f72c-481f-9910-ba01a8a9ca54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9" name="c6461c52-54cf-4a74-b31e-85a769c97f89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c68f3939-8678-4fd6-b285-6dd87257b5b2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Demand: High</a:t>
            </a:r>
            <a:endParaRPr lang="en-US" sz="1200" dirty="0"/>
          </a:p>
        </p:txBody>
      </p:sp>
      <p:sp>
        <p:nvSpPr>
          <p:cNvPr id="11" name="11ee07a9-3b10-4605-aae0-62bf4880ec48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and scalable</a:t>
            </a:r>
            <a:endParaRPr lang="en-US" sz="1000" dirty="0"/>
          </a:p>
        </p:txBody>
      </p:sp>
      <p:sp>
        <p:nvSpPr>
          <p:cNvPr id="12" name="83deff3a-fa0c-4ee4-9aea-de596e92d0d0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6080a199-f105-4b52-a146-4b44d20b24fc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bcf4318c-fd8b-4827-bbec-5178e239a3b7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Position: Strong</a:t>
            </a:r>
            <a:endParaRPr lang="en-US" sz="1200" dirty="0"/>
          </a:p>
        </p:txBody>
      </p:sp>
      <p:sp>
        <p:nvSpPr>
          <p:cNvPr id="15" name="98aca59d-905e-43aa-a348-14779e3f3d21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adaptability</a:t>
            </a:r>
            <a:endParaRPr lang="en-US" sz="1000" dirty="0"/>
          </a:p>
        </p:txBody>
      </p:sp>
      <p:sp>
        <p:nvSpPr>
          <p:cNvPr id="16" name="d50a638b-8c27-4df5-92fa-1672c7a80056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7" name="0ff13cda-84ee-4353-b29f-6a1d31438a5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2a59bf5d-e75e-4674-8d66-e3d20f663fd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9e97863-8e5d-4852-994e-1bd3eae7cc75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2800" dirty="0"/>
          </a:p>
        </p:txBody>
      </p:sp>
      <p:sp>
        <p:nvSpPr>
          <p:cNvPr id="3" name="c9cb835b-26eb-4c46-af59-aa3398b169e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 Trends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057575-90bd-4021-ae3c-d87e6a6df995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Overview</a:t>
            </a:r>
            <a:endParaRPr lang="en-US" sz="2800" dirty="0"/>
          </a:p>
        </p:txBody>
      </p:sp>
      <p:sp>
        <p:nvSpPr>
          <p:cNvPr id="3" name="d2cf55d0-08e1-4587-bc92-49a3dd7e2b7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Trends and Strategic Positioning</a:t>
            </a:r>
            <a:endParaRPr lang="en-US" sz="1400" dirty="0"/>
          </a:p>
        </p:txBody>
      </p:sp>
      <p:sp>
        <p:nvSpPr>
          <p:cNvPr id="4" name="2349d61f-e10d-493c-b8b7-51268da7fc94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solutions are strategically positioned to adapt to market trends.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delivering efficiency and growth through innovative technologies.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long-term partnerships and customer success.</a:t>
            </a:r>
            <a:endParaRPr lang="en-US" sz="1600" dirty="0"/>
          </a:p>
        </p:txBody>
      </p:sp>
      <p:sp>
        <p:nvSpPr>
          <p:cNvPr id="5" name="c556fcd5-b33c-4657-8b14-bcf5ef353fb0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8b95ff88-c181-437b-b331-002fc6a4072c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31ef3a-3046-4c3b-8dde-e6c24e0420b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 Shaping Cloud ERP</a:t>
            </a:r>
            <a:endParaRPr lang="en-US" sz="2400" dirty="0"/>
          </a:p>
        </p:txBody>
      </p:sp>
      <p:sp>
        <p:nvSpPr>
          <p:cNvPr id="3" name="a63595fb-ee0a-4193-b24e-01805f76b740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demand for cloud-based solutions across industries.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towards business outcome contracts and client success.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importance of compliance and data governance.</a:t>
            </a:r>
            <a:endParaRPr lang="en-US" sz="1400" dirty="0"/>
          </a:p>
        </p:txBody>
      </p:sp>
      <p:sp>
        <p:nvSpPr>
          <p:cNvPr id="4" name="79269cd2-37b5-4bee-b1dd-c6334db27bda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foresight in addressing evolving customer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to changing market dynamics and competitive landscape.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emerging technologies like GenAI and low-code platforms.</a:t>
            </a:r>
            <a:endParaRPr lang="en-US" sz="1400" dirty="0"/>
          </a:p>
        </p:txBody>
      </p:sp>
      <p:sp>
        <p:nvSpPr>
          <p:cNvPr id="5" name="9443bd93-4d57-4928-8a0e-96e074e5926a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650d922e-1d11-43dd-95f4-29c3b368354c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Adoption Rate: 75%</a:t>
            </a:r>
            <a:endParaRPr lang="en-US" sz="1200" dirty="0"/>
          </a:p>
        </p:txBody>
      </p:sp>
      <p:sp>
        <p:nvSpPr>
          <p:cNvPr id="7" name="8a53aefd-2b61-42bf-80d1-d51c84caa3c9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average</a:t>
            </a:r>
            <a:endParaRPr lang="en-US" sz="1000" dirty="0"/>
          </a:p>
        </p:txBody>
      </p:sp>
      <p:sp>
        <p:nvSpPr>
          <p:cNvPr id="8" name="f61d59d5-4243-42b1-b673-1c3992cef230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21</a:t>
            </a:r>
            <a:endParaRPr lang="en-US" sz="900" dirty="0"/>
          </a:p>
        </p:txBody>
      </p:sp>
      <p:sp>
        <p:nvSpPr>
          <p:cNvPr id="9" name="8613f3b1-b4fc-4f1e-8fbc-394bf574ab5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7ca186fc-ab31-4050-9ae0-c6d4fb6d935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ada5cfd-cc15-486d-aa07-b68466c177f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Positioning</a:t>
            </a:r>
            <a:endParaRPr lang="en-US" sz="2400" dirty="0"/>
          </a:p>
        </p:txBody>
      </p:sp>
      <p:sp>
        <p:nvSpPr>
          <p:cNvPr id="3" name="c8c8c87a-470a-4d8a-88cc-c8d6217877ad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03382a37-aacf-4e11-a1af-107345206aa9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5" name="c63c0706-7f30-4d6b-9c98-6e763e1f263c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400" dirty="0"/>
          </a:p>
        </p:txBody>
      </p:sp>
      <p:sp>
        <p:nvSpPr>
          <p:cNvPr id="6" name="c5468545-9920-4ccd-aec9-9c5979d398eb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7" name="4dda0380-70e7-4f70-beeb-4dbac01a6d17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20</a:t>
            </a:r>
            <a:endParaRPr lang="en-US" sz="900" dirty="0"/>
          </a:p>
        </p:txBody>
      </p:sp>
      <p:sp>
        <p:nvSpPr>
          <p:cNvPr id="8" name="2419c85e-9074-46c9-af00-e9c19223b840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5467e98d-e88f-4bdc-b549-1855a24cf558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10" name="fc22e7b2-7443-4bf1-bf42-b4b6c34b10d3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11" name="19370572-b835-4203-a05f-ba920c1818ae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Market-specific</a:t>
            </a:r>
            <a:endParaRPr lang="en-US" sz="1000" dirty="0"/>
          </a:p>
        </p:txBody>
      </p:sp>
      <p:sp>
        <p:nvSpPr>
          <p:cNvPr id="12" name="daf2d9d6-98c6-4b98-b32a-5e9163778ed3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20</a:t>
            </a:r>
            <a:endParaRPr lang="en-US" sz="900" dirty="0"/>
          </a:p>
        </p:txBody>
      </p:sp>
      <p:sp>
        <p:nvSpPr>
          <p:cNvPr id="13" name="19120c12-ad14-41b1-a837-f1698273f113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f2aa62fb-0a70-435d-b60e-5f773bd8acd0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</a:t>
            </a:r>
            <a:endParaRPr lang="en-US" sz="1200" dirty="0"/>
          </a:p>
        </p:txBody>
      </p:sp>
      <p:sp>
        <p:nvSpPr>
          <p:cNvPr id="15" name="29776e76-64d0-4ab2-83f0-b4008b3b2337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</a:t>
            </a:r>
            <a:endParaRPr lang="en-US" sz="2400" dirty="0"/>
          </a:p>
        </p:txBody>
      </p:sp>
      <p:sp>
        <p:nvSpPr>
          <p:cNvPr id="16" name="4366a257-045e-4791-98c7-31fea9737739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000" dirty="0"/>
          </a:p>
        </p:txBody>
      </p:sp>
      <p:sp>
        <p:nvSpPr>
          <p:cNvPr id="17" name="eb2bdbbd-340d-4fbe-ac78-75a337ea47b9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17</a:t>
            </a:r>
            <a:endParaRPr lang="en-US" sz="900" dirty="0"/>
          </a:p>
        </p:txBody>
      </p:sp>
      <p:sp>
        <p:nvSpPr>
          <p:cNvPr id="18" name="1c975f15-6ffa-42d6-a841-76d280f6380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982f7801-f8a0-4b22-a861-96f19644121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019a06b-d857-4d8c-921c-60c07fde2a6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76810994-ab92-451c-b8a4-22ecebdeab8c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8ee2c934-1fbd-4916-acc5-641b3f7c8007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1a577371-c7a6-4882-a8f1-d6d3ec7fd219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a4fb5c1e-5ee3-41f1-96da-b9f89803c3be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fdcf301d-6254-4c29-ad2c-772ddc0023da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bcf23c05-b82b-4c3d-8280-175fb54ae01d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de500e98-e826-434a-bd62-6c8f0d7fab21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364ed877-c40a-4c57-9dc0-37045ab7ad31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886b8b4f-264a-4cb9-891e-0823a30319c3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0e24df8a-f1e0-4513-9dbe-7881408ccbd6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41b3069a-8fb4-4719-a177-a914c8675faf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59d7b2f2-a8ec-48e3-a292-286c6eb41007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7b44651e-68bc-48e3-9458-422ba4667b4e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732bfd73-202d-4433-a71d-6a2d68f37b64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20be35d7-0087-4bbe-9fac-2760e99e41d9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b8817ac0-4aea-4506-980a-356bddf3971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5e5799f4-7b05-4855-a9bb-1e0d3884ece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fe09054-b13a-4de0-a272-084193f0409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bda111be-d649-4a83-bafa-b4222080619f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5122aeb1-c92a-4c91-a707-bea7cd42ec5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a6f5a63e-9726-40da-b028-e430bd283b5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e291167-a93f-4c3b-90fd-15b4020c88c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ff32bf71-d7a9-4836-b191-d52cfd9b8930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8ce29555-8ace-4fde-bb35-919015e15af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bd9b414b-5378-4912-a27e-45f30043485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81f6235-3d97-409d-821f-9f1834c7e1b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9ac4e28c-9a88-478e-8fd4-73230d8d0062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033bfa9a-bbb0-4a19-b425-f306ed3f652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fd07f159-c126-4b45-9e50-0e4222b6d70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dda08d8-2924-4b87-bd35-00cb26f4bb5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0fdfe4b5-5d86-433b-b097-372f22614f6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2f3e3c0b-58da-4775-a3b7-2fa09a1ad01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334a300e-43f3-41db-9c5c-8b7ac4ac540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bce9807-2462-4f1a-84f8-9e47258858c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d0d33950-e681-47cb-b8ce-87cac834db1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e4bd5013-8ae1-4207-ac02-45316bb5da5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443a0a33-3365-4cb9-886e-20d6e0c391c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548dc2-938c-40a5-ba5a-7cb9cfa2c0b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Initiatives</a:t>
            </a:r>
            <a:endParaRPr lang="en-US" sz="2800" dirty="0"/>
          </a:p>
        </p:txBody>
      </p:sp>
      <p:sp>
        <p:nvSpPr>
          <p:cNvPr id="3" name="2b64dcd3-4482-4f62-bed9-de1712286c5b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Innovation and Market Leadership</a:t>
            </a:r>
            <a:endParaRPr lang="en-US" sz="1400" dirty="0"/>
          </a:p>
        </p:txBody>
      </p:sp>
      <p:sp>
        <p:nvSpPr>
          <p:cNvPr id="4" name="5014ccee-9b79-4f3f-95f6-a639a05a610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GenAI and low-code platforms to enhance ERP capabilities.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Strengthening partnerships with key industry players.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sustainability and compliance.</a:t>
            </a:r>
            <a:endParaRPr lang="en-US" sz="1600" dirty="0"/>
          </a:p>
        </p:txBody>
      </p:sp>
      <p:sp>
        <p:nvSpPr>
          <p:cNvPr id="5" name="e4314250-9e34-46c7-ab14-3aea3d6f82f2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4f2fc37a-11a3-41a4-b967-804794f38a5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57f62df-9605-423d-a81b-b8394ea9b25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  <p:sp>
        <p:nvSpPr>
          <p:cNvPr id="3" name="cb1d41ce-ef2e-4eb6-8de1-20db85b3e015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differentiation through proprietary IP and innovative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presence in key verticals like finance and public sector.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execute with precision and reliability.</a:t>
            </a:r>
            <a:endParaRPr lang="en-US" sz="1400" dirty="0"/>
          </a:p>
        </p:txBody>
      </p:sp>
      <p:sp>
        <p:nvSpPr>
          <p:cNvPr id="4" name="ec539adf-3451-45b0-a862-e5b6674bb28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focusing on rapid cloud adoption and cost efficiency.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players leveraging GenAI for enhanced functionalities.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shift towards integrated and scalable ERP solutions.</a:t>
            </a:r>
            <a:endParaRPr lang="en-US" sz="1400" dirty="0"/>
          </a:p>
        </p:txBody>
      </p:sp>
      <p:sp>
        <p:nvSpPr>
          <p:cNvPr id="5" name="83257f73-24d8-453b-9c75-56385e68a1bb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2a15996c-e8cf-401c-b1b1-98aaa4215fb6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20%</a:t>
            </a:r>
            <a:endParaRPr lang="en-US" sz="1200" dirty="0"/>
          </a:p>
        </p:txBody>
      </p:sp>
      <p:sp>
        <p:nvSpPr>
          <p:cNvPr id="7" name="49fe3797-8ce8-4c0b-ac2b-aeb91b05f1a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ERP market</a:t>
            </a:r>
            <a:endParaRPr lang="en-US" sz="1000" dirty="0"/>
          </a:p>
        </p:txBody>
      </p:sp>
      <p:sp>
        <p:nvSpPr>
          <p:cNvPr id="8" name="4b732648-1f2d-4517-9755-a4efa7adb643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20</a:t>
            </a:r>
            <a:endParaRPr lang="en-US" sz="900" dirty="0"/>
          </a:p>
        </p:txBody>
      </p:sp>
      <p:sp>
        <p:nvSpPr>
          <p:cNvPr id="9" name="26221788-81d7-4bad-b4a8-74a50286cd30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9c38a4e7-db5c-4789-8929-de08e8b36dd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22ea6a0-052e-4214-a6d6-9c0b8db0bd7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Strength and Operational Maturity</a:t>
            </a:r>
            <a:endParaRPr lang="en-US" sz="2400" dirty="0"/>
          </a:p>
        </p:txBody>
      </p:sp>
      <p:sp>
        <p:nvSpPr>
          <p:cNvPr id="3" name="ba431c21-db18-4b65-a6bf-2a86ca5db2dd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eeae7ae9-24e8-44c1-bbaf-500678ad875e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1200" dirty="0"/>
          </a:p>
        </p:txBody>
      </p:sp>
      <p:sp>
        <p:nvSpPr>
          <p:cNvPr id="5" name="7f7b329d-2fc0-42de-8417-24a66ce4c6ae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6" name="9c20097a-998b-49ee-af8e-55c7f7c3e40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benchmark</a:t>
            </a:r>
            <a:endParaRPr lang="en-US" sz="1000" dirty="0"/>
          </a:p>
        </p:txBody>
      </p:sp>
      <p:sp>
        <p:nvSpPr>
          <p:cNvPr id="7" name="f70744d9-e5a0-4205-8b97-802d4a45d420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20</a:t>
            </a:r>
            <a:endParaRPr lang="en-US" sz="900" dirty="0"/>
          </a:p>
        </p:txBody>
      </p:sp>
      <p:sp>
        <p:nvSpPr>
          <p:cNvPr id="8" name="7a8b5712-c931-4e33-8847-b4d236932eca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fac7bdf0-24d3-4f31-a521-275291957c49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R&amp;D</a:t>
            </a:r>
            <a:endParaRPr lang="en-US" sz="1200" dirty="0"/>
          </a:p>
        </p:txBody>
      </p:sp>
      <p:sp>
        <p:nvSpPr>
          <p:cNvPr id="10" name="d3482797-139b-4ac6-bc8f-0bc0c1667ce5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</a:t>
            </a:r>
            <a:endParaRPr lang="en-US" sz="2400" dirty="0"/>
          </a:p>
        </p:txBody>
      </p:sp>
      <p:sp>
        <p:nvSpPr>
          <p:cNvPr id="11" name="74eb4b9f-55c2-4e8c-bf04-8d8c290bb4d4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000" dirty="0"/>
          </a:p>
        </p:txBody>
      </p:sp>
      <p:sp>
        <p:nvSpPr>
          <p:cNvPr id="12" name="2a7694e8-b2bd-4c69-a226-bda9c7ee4d4e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17</a:t>
            </a:r>
            <a:endParaRPr lang="en-US" sz="900" dirty="0"/>
          </a:p>
        </p:txBody>
      </p:sp>
      <p:sp>
        <p:nvSpPr>
          <p:cNvPr id="13" name="aabd9d94-b846-4ea6-b73f-c0fc74e754e1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67d5a0d-5ec8-4a63-95a5-754a2aa02415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SLAs</a:t>
            </a:r>
            <a:endParaRPr lang="en-US" sz="1200" dirty="0"/>
          </a:p>
        </p:txBody>
      </p:sp>
      <p:sp>
        <p:nvSpPr>
          <p:cNvPr id="15" name="3c7b2f08-aac2-4b48-8057-369ccbdb36d3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400" dirty="0"/>
          </a:p>
        </p:txBody>
      </p:sp>
      <p:sp>
        <p:nvSpPr>
          <p:cNvPr id="16" name="3962750c-9563-444f-abb9-89f98dc53b00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guarantee</a:t>
            </a:r>
            <a:endParaRPr lang="en-US" sz="1000" dirty="0"/>
          </a:p>
        </p:txBody>
      </p:sp>
      <p:sp>
        <p:nvSpPr>
          <p:cNvPr id="17" name="8b59412e-ee3b-4218-93f7-2b492b8e5a2f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§2026[66].pdf - Page 21</a:t>
            </a:r>
            <a:endParaRPr lang="en-US" sz="900" dirty="0"/>
          </a:p>
        </p:txBody>
      </p:sp>
      <p:sp>
        <p:nvSpPr>
          <p:cNvPr id="18" name="1806d41f-71ba-4759-9810-bec8b68efbc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df96af53-93dc-4f77-8ea9-5ff18f72cea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8bcd0db-f19c-4997-8225-9881b12a3e2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2800" dirty="0"/>
          </a:p>
        </p:txBody>
      </p:sp>
      <p:sp>
        <p:nvSpPr>
          <p:cNvPr id="3" name="251c982e-86af-4c19-aaea-009a40c0c40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ce9378-a8a2-4bfd-b663-4e4da14438d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ERP Solutions Overview</a:t>
            </a:r>
            <a:endParaRPr lang="en-US" sz="2800" dirty="0"/>
          </a:p>
        </p:txBody>
      </p:sp>
      <p:sp>
        <p:nvSpPr>
          <p:cNvPr id="3" name="27a10316-4f4d-4a89-9486-c4775461e02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Innovative Technologies</a:t>
            </a:r>
            <a:endParaRPr lang="en-US" sz="1400" dirty="0"/>
          </a:p>
        </p:txBody>
      </p:sp>
      <p:sp>
        <p:nvSpPr>
          <p:cNvPr id="4" name="0b2ca32d-8e41-41af-a607-61d683025945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solutions drive efficiency and growth.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positioned to adapt to market trends.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by execution and comprehensive vision.</a:t>
            </a:r>
            <a:endParaRPr lang="en-US" sz="1600" dirty="0"/>
          </a:p>
        </p:txBody>
      </p:sp>
      <p:sp>
        <p:nvSpPr>
          <p:cNvPr id="5" name="672e4d1f-6e75-4788-8e2c-480288a0091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74dff72d-edc3-41c6-9fa6-7580ff506ce0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2026-01-12T13-21-03-440Z, Page 88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1e3217-5aa8-4f69-8386-f3d1f9056e9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Technologies in IBM Cloud ERP</a:t>
            </a:r>
            <a:endParaRPr lang="en-US" sz="2400" dirty="0"/>
          </a:p>
        </p:txBody>
      </p:sp>
      <p:sp>
        <p:nvSpPr>
          <p:cNvPr id="3" name="5778ad97-9fe3-4f66-9dbd-eb4fc278c249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ML, and predictive analytics embedded in applications.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and secure data access.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reporting capabilities.</a:t>
            </a:r>
            <a:endParaRPr lang="en-US" sz="1400" dirty="0"/>
          </a:p>
        </p:txBody>
      </p:sp>
      <p:sp>
        <p:nvSpPr>
          <p:cNvPr id="4" name="404b7b4b-6442-4342-bad2-c1460378cfa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defense and security mission readiness.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predictive maintenance capabilities.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supply chain responsiveness.</a:t>
            </a:r>
            <a:endParaRPr lang="en-US" sz="1400" dirty="0"/>
          </a:p>
        </p:txBody>
      </p:sp>
      <p:sp>
        <p:nvSpPr>
          <p:cNvPr id="5" name="4830aea7-60d0-4f13-b4dc-0f4cc595c0f6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d3a4a90-f115-4adc-9c0b-202ef118b135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Accuracy: Enhanced</a:t>
            </a:r>
            <a:endParaRPr lang="en-US" sz="1200" dirty="0"/>
          </a:p>
        </p:txBody>
      </p:sp>
      <p:sp>
        <p:nvSpPr>
          <p:cNvPr id="7" name="089a787a-c6fb-4a57-b76d-2e35d776889a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Manufacturing</a:t>
            </a:r>
            <a:endParaRPr lang="en-US" sz="1000" dirty="0"/>
          </a:p>
        </p:txBody>
      </p:sp>
      <p:sp>
        <p:nvSpPr>
          <p:cNvPr id="8" name="df9c9252-31aa-406f-9b13-cd415f93e060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2026-01-12T13-34-54-775Z, Page 18</a:t>
            </a:r>
            <a:endParaRPr lang="en-US" sz="900" dirty="0"/>
          </a:p>
        </p:txBody>
      </p:sp>
      <p:sp>
        <p:nvSpPr>
          <p:cNvPr id="9" name="537c4b8e-878c-4552-b457-5589bc03464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55847920-1fe8-4da0-a47c-f223d36c263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2026-01-12T13-21-03-440Z, Page 88; § 2026-01-12T13-34-54-775Z, Page 18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aab884f-fa23-4c63-accd-25d218001c9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in 2025</a:t>
            </a:r>
            <a:endParaRPr lang="en-US" sz="2400" dirty="0"/>
          </a:p>
        </p:txBody>
      </p:sp>
      <p:sp>
        <p:nvSpPr>
          <p:cNvPr id="3" name="75865832-2651-4998-a9e7-78049e6185b6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a1d46aae-8346-46b1-aac9-2b3cb3c5e876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5" name="c42f1abe-960f-4e89-a77a-48f3cc3d3ae4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2400" dirty="0"/>
          </a:p>
        </p:txBody>
      </p:sp>
      <p:sp>
        <p:nvSpPr>
          <p:cNvPr id="6" name="62708cd0-c236-4337-9f94-841e7e2068de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7" name="44c0962a-12d8-462c-b3fe-39f7673e146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Microsoft MQ &amp; CC_Cloud-ERP-Services_IBM_05-Dec-2025.xlsx, Question 6</a:t>
            </a:r>
            <a:endParaRPr lang="en-US" sz="900" dirty="0"/>
          </a:p>
        </p:txBody>
      </p:sp>
      <p:sp>
        <p:nvSpPr>
          <p:cNvPr id="8" name="03350cb6-e8b5-496f-aab9-7ab88716c724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7e5a1141-3e95-472e-a333-d446bb4c5d9f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200" dirty="0"/>
          </a:p>
        </p:txBody>
      </p:sp>
      <p:sp>
        <p:nvSpPr>
          <p:cNvPr id="10" name="0f85dd06-ab8d-4fec-bf42-f5ea9a23720b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2400" dirty="0"/>
          </a:p>
        </p:txBody>
      </p:sp>
      <p:sp>
        <p:nvSpPr>
          <p:cNvPr id="11" name="343810d7-e9c1-4ac7-bb41-b05e62e1bd7d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Manufacturing</a:t>
            </a:r>
            <a:endParaRPr lang="en-US" sz="1000" dirty="0"/>
          </a:p>
        </p:txBody>
      </p:sp>
      <p:sp>
        <p:nvSpPr>
          <p:cNvPr id="12" name="3ab09ff2-d94f-4ea9-91ea-5bfdcc42fd49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2026-01-12T13-34-54-775Z, Page 18</a:t>
            </a:r>
            <a:endParaRPr lang="en-US" sz="900" dirty="0"/>
          </a:p>
        </p:txBody>
      </p:sp>
      <p:sp>
        <p:nvSpPr>
          <p:cNvPr id="13" name="a6efda2a-3084-4371-840f-8ce742617462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7e58f044-fb89-4d3c-9333-b3c931e8abc8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Efficiency</a:t>
            </a:r>
            <a:endParaRPr lang="en-US" sz="1200" dirty="0"/>
          </a:p>
        </p:txBody>
      </p:sp>
      <p:sp>
        <p:nvSpPr>
          <p:cNvPr id="15" name="1656618d-7d5c-42bb-b57a-3025416af654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</a:t>
            </a:r>
            <a:endParaRPr lang="en-US" sz="2400" dirty="0"/>
          </a:p>
        </p:txBody>
      </p:sp>
      <p:sp>
        <p:nvSpPr>
          <p:cNvPr id="16" name="2054781f-17f9-4faf-91cd-b24a374c7d07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Operations</a:t>
            </a:r>
            <a:endParaRPr lang="en-US" sz="1000" dirty="0"/>
          </a:p>
        </p:txBody>
      </p:sp>
      <p:sp>
        <p:nvSpPr>
          <p:cNvPr id="17" name="4e7538b6-265b-4e94-b942-97cf1469b0f2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2026-01-12T13-34-54-775Z, Page 18</a:t>
            </a:r>
            <a:endParaRPr lang="en-US" sz="900" dirty="0"/>
          </a:p>
        </p:txBody>
      </p:sp>
      <p:sp>
        <p:nvSpPr>
          <p:cNvPr id="18" name="337b547c-c106-49cf-a1cb-343f5fc7c9f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5b00143f-902f-45da-9360-b314907c397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Microsoft MQ &amp; CC_Cloud-ERP-Services_IBM_05-Dec-2025.xlsx, Question 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c1fcd1-0d7d-48ae-8b47-4827467e938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467c96ba-4d64-4bde-a200-cd19e7f9c104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69c5063c-f018-465b-81ec-99476e005db1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b41af89f-451c-44e6-8a1f-44a7433b4a27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f9c8299f-c43a-45b0-9f84-5a6e51ebbd72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2ef96163-dff9-49d9-bcc8-6e66ed6e9e3f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19313d1b-b030-4fb8-86f8-dd3d21f9774a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91affe2f-7c25-46c4-8bb6-257d9b26082d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8f6bbdd1-0898-4d97-84f3-1b3885c6add2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93e3ec9b-9363-4e68-9b16-4bb5984fa7e8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b5107fb3-2d68-420b-bc43-9b7e1c527018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3cf4423b-896d-4fdb-b794-b4126538716d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8dcf178c-c93f-4850-bd55-af50411ec629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62299af8-a1e7-43b7-956f-a10dfdd93eea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91aae921-26da-4ca6-b562-7c76cb161e67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e7625a93-f5d8-4691-991a-e4819ced32a7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ddf876d0-4b8b-49de-961c-be9a0701920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82650f4b-9817-4997-9823-a0969264756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8af5bf9-a92e-4c4f-936e-c7b5eae6bd3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290ce994-68cd-42cf-ab96-107c5f38b8df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e7083c58-4bef-4d9a-89e4-1cb4eb9cba1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9210fb8e-1a41-433c-a21a-6bff7e63764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2a3da9a-7a6b-4766-a21a-05dfc79119a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e33d2028-7338-4947-8ac0-0925ea5e2e3e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6287b7bb-39b0-4eef-bafa-847d649a885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d2fd5dee-002c-4bed-bcb0-fad133301d5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9378449-1b6e-4e12-933c-ead18c5b69f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afc6db11-aa82-4a00-9304-714d1ad1b2f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38a78ced-0be7-4958-b59b-cf82070fc3f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ade45592-dae2-46e8-b4f2-920e80f9e84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4699d5b-035b-4c25-8e49-cf6104cb739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da17caf7-4abb-4bbf-b097-1a52e8751814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b610304b-352c-49be-a4e5-8a89613608c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8ca70744-8ed9-4a98-8c4b-10fa0b917bb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8bcfe58-dd99-4910-b716-dff6f5d1842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c07acf89-0bc8-47b1-a3b3-c05717cd114b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8126480c-755c-430a-ba86-3e7ea8a18f8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87c73f6b-692a-4b98-8695-f15515253ac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8d9e661-5cb2-4f90-8d2b-5d4db14a6c2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2800" dirty="0"/>
          </a:p>
        </p:txBody>
      </p:sp>
      <p:sp>
        <p:nvSpPr>
          <p:cNvPr id="3" name="f6594370-3383-42fb-b945-1b36a20b8513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4c36990-edb6-4f8d-afd7-7a892f8d358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Financial Overview</a:t>
            </a:r>
            <a:endParaRPr lang="en-US" sz="2800" dirty="0"/>
          </a:p>
        </p:txBody>
      </p:sp>
      <p:sp>
        <p:nvSpPr>
          <p:cNvPr id="3" name="91b09011-5816-4c71-8659-34e7cc97848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Financial Strength and Operational Maturity</a:t>
            </a:r>
            <a:endParaRPr lang="en-US" sz="1400" dirty="0"/>
          </a:p>
        </p:txBody>
      </p:sp>
      <p:sp>
        <p:nvSpPr>
          <p:cNvPr id="4" name="9acfb4f0-8da7-4e83-bfe8-a9899cc1655d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services revenue.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within IBM's overall portfolio.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long-term investment in Cloud ERP solutions.</a:t>
            </a:r>
            <a:endParaRPr lang="en-US" sz="1600" dirty="0"/>
          </a:p>
        </p:txBody>
      </p:sp>
      <p:sp>
        <p:nvSpPr>
          <p:cNvPr id="5" name="f7c47ead-b5af-45ba-9ce1-cc856b6867c4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1e8fda8-267e-4235-b2f3-9de179252be0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8015f60-a832-4f5a-ad49-c868a3dce2e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 Metrics</a:t>
            </a:r>
            <a:endParaRPr lang="en-US" sz="2400" dirty="0"/>
          </a:p>
        </p:txBody>
      </p:sp>
      <p:sp>
        <p:nvSpPr>
          <p:cNvPr id="3" name="f11181dd-7d9c-4555-b098-760e25d2b5e3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financial health of IBM Cloud ERP division.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investment in product development.</a:t>
            </a:r>
            <a:endParaRPr lang="en-US" sz="1400" dirty="0"/>
          </a:p>
        </p:txBody>
      </p:sp>
      <p:sp>
        <p:nvSpPr>
          <p:cNvPr id="4" name="df76edc4-52a7-420d-90b3-099e778867b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revenue retention rates.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Market-specific revenue growth.</a:t>
            </a:r>
            <a:endParaRPr lang="en-US" sz="1400" dirty="0"/>
          </a:p>
        </p:txBody>
      </p:sp>
      <p:sp>
        <p:nvSpPr>
          <p:cNvPr id="5" name="cdd04a1b-4e20-49f1-8b50-7f9998f719a3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585b16c4-b495-4076-b652-cf5e8bde1047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15%</a:t>
            </a:r>
            <a:endParaRPr lang="en-US" sz="1200" dirty="0"/>
          </a:p>
        </p:txBody>
      </p:sp>
      <p:sp>
        <p:nvSpPr>
          <p:cNvPr id="7" name="829b2143-8dc8-4267-af1b-48c7b9d4229a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8" name="eb6296b4-78ca-4284-9927-1d498a8ca941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7f3b545e-838f-4a87-b896-f01b8ac4abce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c4eda48d-315d-4445-a953-a64170ee08ce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Rate: 92%</a:t>
            </a:r>
            <a:endParaRPr lang="en-US" sz="1200" dirty="0"/>
          </a:p>
        </p:txBody>
      </p:sp>
      <p:sp>
        <p:nvSpPr>
          <p:cNvPr id="11" name="9610907e-1838-49b5-bd86-678f0b01116a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12" name="af54335f-f7c5-40af-8550-0d68db53b538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b7e5c83c-0068-4e36-b796-c023c98ba03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4" name="15245b63-4f49-491f-bf4d-247e2f2151c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b75f97b-655c-4766-88ba-4ad71928c75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Metrics</a:t>
            </a:r>
            <a:endParaRPr lang="en-US" sz="2400" dirty="0"/>
          </a:p>
        </p:txBody>
      </p:sp>
      <p:sp>
        <p:nvSpPr>
          <p:cNvPr id="3" name="3fee1f3d-339d-4421-b2a1-e06ec9a3a9ce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235788d0-c1ef-4e0d-a750-025e88551ee6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434e9c06-e283-4a64-89e7-0f0956f1ffb2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6" name="0b925dca-b5f4-43e0-af11-3a0c6071e48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7" name="fed699b3-3c1c-4a0a-be44-fa1b78eb92fa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f6113b81-7736-4ce7-85a8-eec9fe2039d1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d8d598ec-eeac-488f-8f4a-4c10f5210de9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10" name="e8dd512d-b4ec-48c6-a17b-073d260451fd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400" dirty="0"/>
          </a:p>
        </p:txBody>
      </p:sp>
      <p:sp>
        <p:nvSpPr>
          <p:cNvPr id="11" name="31976652-02b8-449d-a1ce-a8568ad130fb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12" name="74943bcd-579a-4603-bda2-26e4daede5ec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9800d7ae-2b7c-4b0e-9e22-bf1d029ef844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cab861b3-1b33-414f-9dcd-175b8abbfe8c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R&amp;D</a:t>
            </a:r>
            <a:endParaRPr lang="en-US" sz="1200" dirty="0"/>
          </a:p>
        </p:txBody>
      </p:sp>
      <p:sp>
        <p:nvSpPr>
          <p:cNvPr id="15" name="4dd10fcf-58e7-4722-9a2f-f00ba8190c43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</a:t>
            </a:r>
            <a:endParaRPr lang="en-US" sz="2400" dirty="0"/>
          </a:p>
        </p:txBody>
      </p:sp>
      <p:sp>
        <p:nvSpPr>
          <p:cNvPr id="16" name="12274625-8e08-4069-b98d-1a0da5a7045b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000" dirty="0"/>
          </a:p>
        </p:txBody>
      </p:sp>
      <p:sp>
        <p:nvSpPr>
          <p:cNvPr id="17" name="ae70d6cb-daa1-49a2-8f50-03bb1447b347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8" name="af6c0cec-ba72-465d-998c-641ebaa3f76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c273c4b2-a55c-4287-8459-76538e72bd7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7f494d7-2415-4e02-9620-48634860e05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2800" dirty="0"/>
          </a:p>
        </p:txBody>
      </p:sp>
      <p:sp>
        <p:nvSpPr>
          <p:cNvPr id="3" name="5a3b02e2-5b4d-4e9e-bad0-14d320f3058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Reliability and Long-term Partnerships</a:t>
            </a:r>
            <a:endParaRPr lang="en-US" sz="1400" dirty="0"/>
          </a:p>
        </p:txBody>
      </p:sp>
      <p:sp>
        <p:nvSpPr>
          <p:cNvPr id="4" name="8ae87fcd-8508-4993-8fb1-e9549a1e580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operational processes supporting Cloud ERP services.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customer satisfaction and SLA adherence.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enhancing service delivery.</a:t>
            </a:r>
            <a:endParaRPr lang="en-US" sz="1600" dirty="0"/>
          </a:p>
        </p:txBody>
      </p:sp>
      <p:sp>
        <p:nvSpPr>
          <p:cNvPr id="5" name="11c59562-a1c1-43a1-9c91-30c97bbb7866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7f8f442a-994a-42b5-994f-47f798ce89a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c444444-6c42-4e1c-9798-4105c8a4c44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Metrics</a:t>
            </a:r>
            <a:endParaRPr lang="en-US" sz="2400" dirty="0"/>
          </a:p>
        </p:txBody>
      </p:sp>
      <p:sp>
        <p:nvSpPr>
          <p:cNvPr id="3" name="158bcc50-cdbc-40b9-934e-8ad114e7b763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SLA adherence rates.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change management processes.</a:t>
            </a:r>
            <a:endParaRPr lang="en-US" sz="1400" dirty="0"/>
          </a:p>
        </p:txBody>
      </p:sp>
      <p:sp>
        <p:nvSpPr>
          <p:cNvPr id="4" name="8aafb8aa-616d-4cb5-aff5-bb1739659ba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customer support infrastructure.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with key industry players.</a:t>
            </a:r>
            <a:endParaRPr lang="en-US" sz="1400" dirty="0"/>
          </a:p>
        </p:txBody>
      </p:sp>
      <p:sp>
        <p:nvSpPr>
          <p:cNvPr id="5" name="15ee9441-269e-4e1a-93cc-76c62011b234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0ccca116-0c89-4397-a755-ff93522392ec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Adherence: 98%</a:t>
            </a:r>
            <a:endParaRPr lang="en-US" sz="1200" dirty="0"/>
          </a:p>
        </p:txBody>
      </p:sp>
      <p:sp>
        <p:nvSpPr>
          <p:cNvPr id="7" name="e298fdeb-82f9-440e-a244-b7595983596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8" name="6e8db64d-ae5d-4dcb-a644-ada1466a964f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9" name="ff2d72e9-3dce-4d79-acad-1ea0f1bad034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6867d5ec-4e39-4cc2-8770-c5a729bb23bc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Satisfaction: 95%</a:t>
            </a:r>
            <a:endParaRPr lang="en-US" sz="1200" dirty="0"/>
          </a:p>
        </p:txBody>
      </p:sp>
      <p:sp>
        <p:nvSpPr>
          <p:cNvPr id="11" name="631df50d-ac0e-4549-926d-ffb85799dfdb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survey</a:t>
            </a:r>
            <a:endParaRPr lang="en-US" sz="1000" dirty="0"/>
          </a:p>
        </p:txBody>
      </p:sp>
      <p:sp>
        <p:nvSpPr>
          <p:cNvPr id="12" name="a8fd82be-7c33-4fdf-a5bf-28a4b5bf92c0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93abe0cf-74b4-4e3f-93d5-db5d17a4b67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4" name="1b291eb4-1c0e-481f-ad19-37a4a812c16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6eeda7-0592-4ba3-a8dc-4d87a4c9d14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2400" dirty="0"/>
          </a:p>
        </p:txBody>
      </p:sp>
      <p:sp>
        <p:nvSpPr>
          <p:cNvPr id="3" name="cfe979b9-f189-4718-ae65-fab03d41850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9fdf236c-83ef-4051-8ced-69966a33b6dc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Adherence</a:t>
            </a:r>
            <a:endParaRPr lang="en-US" sz="1200" dirty="0"/>
          </a:p>
        </p:txBody>
      </p:sp>
      <p:sp>
        <p:nvSpPr>
          <p:cNvPr id="5" name="58f48f71-1934-4995-88d3-d5de02a2a310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400" dirty="0"/>
          </a:p>
        </p:txBody>
      </p:sp>
      <p:sp>
        <p:nvSpPr>
          <p:cNvPr id="6" name="3954bae6-699f-462c-9217-31ad7d9be0a1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7" name="5ef7ebb3-a425-4116-a71f-520bda4e6a7f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8" name="be474f27-80b3-4b2b-ae8e-b8b1b91cfb3a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460adca7-4bd0-4448-a950-6eb47025c38c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10" name="29f4b5af-d88e-40a6-9eb1-7a782fa1f935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1" name="d2aa94cb-4e27-473a-8457-1938cf5e9f5d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survey</a:t>
            </a:r>
            <a:endParaRPr lang="en-US" sz="1000" dirty="0"/>
          </a:p>
        </p:txBody>
      </p:sp>
      <p:sp>
        <p:nvSpPr>
          <p:cNvPr id="12" name="133e0e93-607e-435d-b0c4-c814db0c6f18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a2bacf42-5ed2-48a3-84c8-36179890c795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e665a042-16e8-4ee9-b44c-584c56eba45a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5" name="2ec16690-77fc-4bc4-9187-8e705a741045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16" name="b5f7439b-9b2c-492c-8350-6608392f8861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alliances</a:t>
            </a:r>
            <a:endParaRPr lang="en-US" sz="1000" dirty="0"/>
          </a:p>
        </p:txBody>
      </p:sp>
      <p:sp>
        <p:nvSpPr>
          <p:cNvPr id="17" name="5f6af363-873a-45eb-99e5-dbf2019e8370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8" name="bee2efda-f4b1-42e2-af55-60f2b613a1a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48167293-55b3-4290-a321-01c1178b624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81c2b62-14e2-4fdf-ae85-296083f051df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Financial Alignment</a:t>
            </a:r>
            <a:endParaRPr lang="en-US" sz="2800" dirty="0"/>
          </a:p>
        </p:txBody>
      </p:sp>
      <p:sp>
        <p:nvSpPr>
          <p:cNvPr id="3" name="5e33fee3-0680-4a26-9aa0-8442c75bc4a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IBM for Future Growth</a:t>
            </a:r>
            <a:endParaRPr lang="en-US" sz="1400" dirty="0"/>
          </a:p>
        </p:txBody>
      </p:sp>
      <p:sp>
        <p:nvSpPr>
          <p:cNvPr id="4" name="3a749bc8-026a-44c1-a01e-a2b2fa2fc37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of Cloud ERP services with IBM's strategic goals.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innovation and market responsiveness.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sustainable growth and profitability.</a:t>
            </a:r>
            <a:endParaRPr lang="en-US" sz="1600" dirty="0"/>
          </a:p>
        </p:txBody>
      </p:sp>
      <p:sp>
        <p:nvSpPr>
          <p:cNvPr id="5" name="1869c928-c341-44a5-9475-7adb3463361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a2571d3a-25c8-4865-9338-815a0e05c35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fa9a875-58d0-46ee-87da-72f81ba3c40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b3e5a5b6-c617-474d-bbbf-aa6e3c787da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Floor for Questions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