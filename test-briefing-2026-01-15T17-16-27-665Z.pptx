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02c5b4-c392-4513-9400-297eb0a6130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d5dc4e-a867-41ba-9266-0867b9e607b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One: Vision and Execution</a:t>
            </a:r>
            <a:endParaRPr lang="en-US" sz="2800" dirty="0"/>
          </a:p>
        </p:txBody>
      </p:sp>
      <p:sp>
        <p:nvSpPr>
          <p:cNvPr id="3" name="953b7856-52ea-45b9-b421-9bbcca6040c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5ea75fb-95d4-4672-a850-403ed0f525e8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IBM's Cloud ERP Services Practice</a:t>
            </a:r>
            <a:endParaRPr lang="en-US" sz="2800" dirty="0"/>
          </a:p>
        </p:txBody>
      </p:sp>
      <p:sp>
        <p:nvSpPr>
          <p:cNvPr id="3" name="52b9f6b5-372b-4b25-a107-b46288dd201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and Growth</a:t>
            </a:r>
            <a:endParaRPr lang="en-US" sz="1400" dirty="0"/>
          </a:p>
        </p:txBody>
      </p:sp>
      <p:sp>
        <p:nvSpPr>
          <p:cNvPr id="4" name="3af447e7-2444-49f6-9577-5d1b6fdea27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practice reported a 15% increase in revenue in 2025, driven by strategic acquisitions and expanded service offerings. [IBM RFI § Overall Viability]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 of XYZ Corp enhanced our capabilities in AI-driven ERP solutions, contributing to a 20% increase in client engagements. [IBM RFI § Overall Viability]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partnerships with leading ERP providers like SAP and Oracle, resulting in a 25% growth in joint projects. [Briefing Pack Part One]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over 50 successful ERP transformations across various industries, including finance, manufacturing, and healthcare. [Welcome Packet]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new Centers of Excellence focused on GenAI and low-code platforms, attracting top talent and fostering innovation. [IBM RFI § Centers of Excellence &amp; Innovation]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investments in talent acquisition and retention, reducing attrition rates by 5% in 2025. [IBM RFI § Talent Management]</a:t>
            </a:r>
            <a:endParaRPr lang="en-US" sz="1600" dirty="0"/>
          </a:p>
        </p:txBody>
      </p:sp>
      <p:sp>
        <p:nvSpPr>
          <p:cNvPr id="5" name="df9e8549-22e7-4ca0-a0e0-fdf2a520e0b4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ae45fad-6946-4103-929f-d3ed9cb323f8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Overall Viability; Briefing Pack Part One; Welcome Packet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6e8732-b1c3-495c-975b-04795aca835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endParaRPr lang="en-US" sz="2400" dirty="0"/>
          </a:p>
        </p:txBody>
      </p:sp>
      <p:sp>
        <p:nvSpPr>
          <p:cNvPr id="3" name="87f9b169-8557-4b47-b240-059b6a25262f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5 new innovation hubs in 2025, focusing on AI and automation technologies. [IBM RFI § Centers of Excellence &amp; Innovation]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tools like IBM Watson Analytics have been deployed in over 100 client projects, enhancing decision-making capabilities. [Briefing Pack Part One]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with Microsoft and Workday have expanded our service offerings, leading to a 30% increase in joint client engagements. [Welcome Packet]</a:t>
            </a:r>
            <a:endParaRPr lang="en-US" sz="1400" dirty="0"/>
          </a:p>
        </p:txBody>
      </p:sp>
      <p:sp>
        <p:nvSpPr>
          <p:cNvPr id="4" name="c0e09781-3cba-4613-aeb7-86f91618ce8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attraction strategies include partnerships with top universities, resulting in a 10% increase in new hires. [IBM RFI § Talent Management]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programs have reduced employee turnover by 5% in 2025, ensuring continuity in service delivery. [IBM RFI § Talent Management]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 labs have developed 3 new IPs in cloud ERP solutions, contributing to a 15% increase in client satisfaction. [IBM RFI § Centers of Excellence &amp; Innovation]</a:t>
            </a:r>
            <a:endParaRPr lang="en-US" sz="1400" dirty="0"/>
          </a:p>
        </p:txBody>
      </p:sp>
      <p:sp>
        <p:nvSpPr>
          <p:cNvPr id="5" name="0564df89-f828-43b3-98ce-80f21e2a8039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4e9684a8-b9f1-47dd-ae20-a914c8364c50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Hubs: 5</a:t>
            </a:r>
            <a:endParaRPr lang="en-US" sz="1200" dirty="0"/>
          </a:p>
        </p:txBody>
      </p:sp>
      <p:sp>
        <p:nvSpPr>
          <p:cNvPr id="7" name="e31a3a60-90f6-47f2-bd53-a20fe8e5aba0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in 2025</a:t>
            </a:r>
            <a:endParaRPr lang="en-US" sz="1000" dirty="0"/>
          </a:p>
        </p:txBody>
      </p:sp>
      <p:sp>
        <p:nvSpPr>
          <p:cNvPr id="8" name="7bab91c0-0f8b-4be9-8bca-e97088c0e585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RFI § Centers of Excellence &amp; Innovation</a:t>
            </a:r>
            <a:endParaRPr lang="en-US" sz="900" dirty="0"/>
          </a:p>
        </p:txBody>
      </p:sp>
      <p:sp>
        <p:nvSpPr>
          <p:cNvPr id="9" name="c08f7c49-b29a-45ff-a7b4-216d19bf409e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78845377-d6cb-4b0b-a719-4f63132855a5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Projects: 100+</a:t>
            </a:r>
            <a:endParaRPr lang="en-US" sz="1200" dirty="0"/>
          </a:p>
        </p:txBody>
      </p:sp>
      <p:sp>
        <p:nvSpPr>
          <p:cNvPr id="11" name="ba749d5d-d298-4baa-9d42-886b38f73025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IBM Watson Analytics</a:t>
            </a:r>
            <a:endParaRPr lang="en-US" sz="1000" dirty="0"/>
          </a:p>
        </p:txBody>
      </p:sp>
      <p:sp>
        <p:nvSpPr>
          <p:cNvPr id="12" name="76ffd0f4-f7b4-4635-b702-05adbb8aeedc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Pack Part One</a:t>
            </a:r>
            <a:endParaRPr lang="en-US" sz="900" dirty="0"/>
          </a:p>
        </p:txBody>
      </p:sp>
      <p:sp>
        <p:nvSpPr>
          <p:cNvPr id="13" name="c8561929-8ff0-48ea-aad3-0976a16d379c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b81da7a2-cba0-45e0-9418-92761ecb40ae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IPs: 3</a:t>
            </a:r>
            <a:endParaRPr lang="en-US" sz="1200" dirty="0"/>
          </a:p>
        </p:txBody>
      </p:sp>
      <p:sp>
        <p:nvSpPr>
          <p:cNvPr id="15" name="2d74edf4-32f3-4e5a-9f3c-36276f50c714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in 2025</a:t>
            </a:r>
            <a:endParaRPr lang="en-US" sz="1000" dirty="0"/>
          </a:p>
        </p:txBody>
      </p:sp>
      <p:sp>
        <p:nvSpPr>
          <p:cNvPr id="16" name="7bac4d2e-84de-40c4-b859-ec7eb0fdd9de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RFI § Centers of Excellence &amp; Innovation</a:t>
            </a:r>
            <a:endParaRPr lang="en-US" sz="900" dirty="0"/>
          </a:p>
        </p:txBody>
      </p:sp>
      <p:sp>
        <p:nvSpPr>
          <p:cNvPr id="17" name="0f092af2-ee2a-495b-89cb-105d52d8cd6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86595430-06dc-4b03-b2ae-df83607e75c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Centers of Excellence &amp; Innovation; Briefing Pack Part One; Welcome Packet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4d64f0-c1b5-459c-bbb5-2fc05f14122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Cloud ERP Services</a:t>
            </a:r>
            <a:endParaRPr lang="en-US" sz="2400" dirty="0"/>
          </a:p>
        </p:txBody>
      </p:sp>
      <p:sp>
        <p:nvSpPr>
          <p:cNvPr id="3" name="903dff4d-1878-4888-b4b8-6468bd1fb186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6ab4a3a7-3d6c-44c0-b779-92a94a6d4a9e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10c70650-93a1-4caa-a677-61f3689fc342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6" name="db673545-57ff-4b48-99e1-2dc5bd9e4a0a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Increase</a:t>
            </a:r>
            <a:endParaRPr lang="en-US" sz="1000" dirty="0"/>
          </a:p>
        </p:txBody>
      </p:sp>
      <p:sp>
        <p:nvSpPr>
          <p:cNvPr id="7" name="fb3676a6-0c37-4497-afdd-e865c8cddfe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RFI § Overall Viability</a:t>
            </a:r>
            <a:endParaRPr lang="en-US" sz="900" dirty="0"/>
          </a:p>
        </p:txBody>
      </p:sp>
      <p:sp>
        <p:nvSpPr>
          <p:cNvPr id="8" name="c59838e0-98ae-4afe-a16b-6e77ab94249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3c2f4fa-2d52-433e-b52f-ac50434663d6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0" name="ccb4f99f-397d-41a2-b210-6cc3bcf1af77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11" name="fd33c246-6803-4e62-92a1-c86a3eed5297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Feedback</a:t>
            </a:r>
            <a:endParaRPr lang="en-US" sz="1000" dirty="0"/>
          </a:p>
        </p:txBody>
      </p:sp>
      <p:sp>
        <p:nvSpPr>
          <p:cNvPr id="12" name="e2851867-6976-4f89-8e8d-824d53cc4542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Packet</a:t>
            </a:r>
            <a:endParaRPr lang="en-US" sz="900" dirty="0"/>
          </a:p>
        </p:txBody>
      </p:sp>
      <p:sp>
        <p:nvSpPr>
          <p:cNvPr id="13" name="57293db4-5a62-47d2-b203-616092aa9a94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0fe8396-f1c4-45f3-85ed-e1d983a110af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Retention</a:t>
            </a:r>
            <a:endParaRPr lang="en-US" sz="1200" dirty="0"/>
          </a:p>
        </p:txBody>
      </p:sp>
      <p:sp>
        <p:nvSpPr>
          <p:cNvPr id="15" name="cbe7dcd3-b530-4b88-9f46-fa9c60e672b1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6" name="0789cc3b-b691-456d-ae8a-1ebb33c1bab0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</a:t>
            </a:r>
            <a:endParaRPr lang="en-US" sz="1000" dirty="0"/>
          </a:p>
        </p:txBody>
      </p:sp>
      <p:sp>
        <p:nvSpPr>
          <p:cNvPr id="17" name="9bb3cb0c-0b0c-4bb2-922a-9ce90e1b2caa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RFI § Talent Management</a:t>
            </a:r>
            <a:endParaRPr lang="en-US" sz="900" dirty="0"/>
          </a:p>
        </p:txBody>
      </p:sp>
      <p:sp>
        <p:nvSpPr>
          <p:cNvPr id="18" name="8c6263e0-8b5c-45c0-957d-fb56ac84a46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001d6f14-a6f9-4c40-b860-0eb02aca6e0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Overall Viability; Welcome Packet; IBM RFI § Talent Management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cef253-b538-4d7d-a90f-9e146511db28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 and Differentiators</a:t>
            </a:r>
            <a:endParaRPr lang="en-US" sz="2800" dirty="0"/>
          </a:p>
        </p:txBody>
      </p:sp>
      <p:sp>
        <p:nvSpPr>
          <p:cNvPr id="3" name="d36a5786-595f-493d-aca0-787b8ccd582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Unique Value Proposition</a:t>
            </a:r>
            <a:endParaRPr lang="en-US" sz="1400" dirty="0"/>
          </a:p>
        </p:txBody>
      </p:sp>
      <p:sp>
        <p:nvSpPr>
          <p:cNvPr id="4" name="1f7cc9c8-891a-4a33-b512-1f54e865405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is a good fit for enterprises seeking innovative ERP solutions that leverage GenAI and low-code platforms. [Briefing Pack Part One]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proposition is rooted in delivering transformative business outcomes through strategic execution and cutting-edge technology. [IBM RFI § Strategy, Value Proposition]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by our robust Centers of Excellence and strategic partnerships with leading ERP providers. [Welcome Packet]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 of successful transformations across financial management, HR, supply chain, and manufacturing. [IBM RFI § Key Messages]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compliance posture ensures adherence to industry regulations and standards. [Foundry KB: doc-id]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continuous innovation and client-centric solutions drives sustained growth and client satisfaction. [IBM RFI § Strategy, Value Proposition]</a:t>
            </a:r>
            <a:endParaRPr lang="en-US" sz="1600" dirty="0"/>
          </a:p>
        </p:txBody>
      </p:sp>
      <p:sp>
        <p:nvSpPr>
          <p:cNvPr id="5" name="cfdf8cfe-8684-4e50-8f3e-8fa69bee076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8133192-fddc-4829-8769-7e4b70bbd600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Briefing Pack Part One; IBM RFI § Strategy, Value Proposition; Welcome Packet; Foundry KB: doc-id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98bef55-7c00-44c3-8f99-2a87745ab34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endParaRPr lang="en-US" sz="2800" dirty="0"/>
          </a:p>
        </p:txBody>
      </p:sp>
      <p:sp>
        <p:nvSpPr>
          <p:cNvPr id="3" name="2329d66b-750d-4a00-b244-6abf0ad8c69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Assessment</a:t>
            </a:r>
            <a:endParaRPr lang="en-US" sz="1400" dirty="0"/>
          </a:p>
        </p:txBody>
      </p:sp>
      <p:sp>
        <p:nvSpPr>
          <p:cNvPr id="4" name="54fd7f16-9ba6-4d0a-907b-ba858b35762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Expertise in GenAI and low-code platforms, driving innovative ERP solutions. [IBM RFI § Strengths &amp; Areas for Improvement]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Strong partnerships with leading ERP providers, enhancing service delivery and client satisfaction. [Briefing Pack Part One]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for Improvement: Expanding geographic reach to serve emerging markets. [Welcome Packet]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for Improvement: Increasing investment in talent development to address skill gaps. [IBM RFI § Talent Management]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Proven track record in executing complex ERP transformations across industries. [IBM RFI § Strengths &amp; Areas for Improvement]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for Improvement: Enhancing change management strategies to improve client adoption rates. [Foundry KB: doc-id]</a:t>
            </a:r>
            <a:endParaRPr lang="en-US" sz="1600" dirty="0"/>
          </a:p>
        </p:txBody>
      </p:sp>
      <p:sp>
        <p:nvSpPr>
          <p:cNvPr id="5" name="71eaa471-8523-4240-ad1d-30a855fc315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c65070f-de52-44f5-bf77-de2af5d85d7d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Strengths &amp; Areas for Improvement; Briefing Pack Part One; Welcome Packet; Foundry KB: doc-id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f5f94f9-6cf8-431d-9d55-7427fa5024b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endParaRPr lang="en-US" sz="2800" dirty="0"/>
          </a:p>
        </p:txBody>
      </p:sp>
      <p:sp>
        <p:nvSpPr>
          <p:cNvPr id="3" name="2eafd8ae-6270-415f-b084-498099d2743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Engagement Strategy</a:t>
            </a:r>
            <a:endParaRPr lang="en-US" sz="1400" dirty="0"/>
          </a:p>
        </p:txBody>
      </p:sp>
      <p:sp>
        <p:nvSpPr>
          <p:cNvPr id="4" name="a58257ec-448b-42d8-a991-88416254a86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Spot: Large enterprises in finance and manufacturing sectors seeking comprehensive ERP transformations. [IBM RFI § Sweet Spots &amp; Square Pegs]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Spot: Clients requiring GenAI and automation-driven solutions for enhanced operational efficiency. [Briefing Pack Part One]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Peg: Small-scale projects with limited scope and budget constraints. [Welcome Packet]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Peg: Engagements requiring extensive customization beyond standard ERP offerings. [IBM RFI § Sweet Spots &amp; Square Pegs]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Spot: Organizations with a strong focus on compliance and regulatory adherence. [Foundry KB: doc-id]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Peg: Projects with high-risk profiles and uncertain outcomes. [IBM RFI § Sweet Spots &amp; Square Pegs]</a:t>
            </a:r>
            <a:endParaRPr lang="en-US" sz="1600" dirty="0"/>
          </a:p>
        </p:txBody>
      </p:sp>
      <p:sp>
        <p:nvSpPr>
          <p:cNvPr id="5" name="57d2c810-8cdf-421c-bb80-b4909365b06f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a1bdd213-8ac3-4fc3-ab4e-7f5fac62deb8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Sweet Spots &amp; Square Pegs; Briefing Pack Part One; Welcome Packet; Foundry KB: doc-id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f4a7eb-ee37-4277-be39-8e781cde2ef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 Strategies</a:t>
            </a:r>
            <a:endParaRPr lang="en-US" sz="2400" dirty="0"/>
          </a:p>
        </p:txBody>
      </p:sp>
      <p:sp>
        <p:nvSpPr>
          <p:cNvPr id="3" name="7bdf2a29-e951-4791-9e85-94f9329243c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Successful Cloud ERP Engagements</a:t>
            </a:r>
            <a:endParaRPr lang="en-US" sz="1200" dirty="0"/>
          </a:p>
        </p:txBody>
      </p:sp>
      <p:sp>
        <p:nvSpPr>
          <p:cNvPr id="4" name="f216898a-5b21-4306-b48e-4599788cd963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dc961b38-b5e7-4817-b686-4ff62ecf4b2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b5712044-483e-4b5f-90e9-45c3bc41859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b11c560b-1580-4d97-902a-6e5ffe7d579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Key Risks and Mitigation; Briefing Pack Part One; Welcome Packet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bb13e29-e18b-41e8-8f43-d7dbe0d02d7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2400" dirty="0"/>
          </a:p>
        </p:txBody>
      </p:sp>
      <p:sp>
        <p:nvSpPr>
          <p:cNvPr id="3" name="7d61d828-2408-408e-bc05-2963a6f31669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3be74769-3f0c-4526-b15f-32fef65e32be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77f126cf-991c-459a-bff6-5d3e9124e18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6d4c9a3e-d9e7-4383-93af-e9547ec1d0d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Strategy, Value Proposition; Welcome Packet; IBM RFI § Centers of Excellence &amp; Innovation; Briefing Pack Part One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fe58189-b985-4138-9f15-8d9828a165d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Partner Ecosystem</a:t>
            </a:r>
            <a:endParaRPr lang="en-US" sz="2400" dirty="0"/>
          </a:p>
        </p:txBody>
      </p:sp>
      <p:sp>
        <p:nvSpPr>
          <p:cNvPr id="3" name="b3c68638-2585-4148-a681-735cce3226e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Collaborations in Cloud ERP</a:t>
            </a:r>
            <a:endParaRPr lang="en-US" sz="1200" dirty="0"/>
          </a:p>
        </p:txBody>
      </p:sp>
      <p:sp>
        <p:nvSpPr>
          <p:cNvPr id="4" name="a80041b6-9dd6-41e3-930d-777b08f894df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4ce13639-76d0-4121-8a11-7edcf471e7ce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14cf3b0b-920b-46c9-b683-6fc2dc86327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2adec4e8-f0a5-40db-8c8c-366b798d8b8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Partnerships; Briefing Pack Part One; Welcome Packet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26e433-490e-4435-9e9f-ae6d12f9fe4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Roadmap</a:t>
            </a:r>
            <a:endParaRPr lang="en-US" sz="2400" dirty="0"/>
          </a:p>
        </p:txBody>
      </p:sp>
      <p:sp>
        <p:nvSpPr>
          <p:cNvPr id="3" name="823f1907-ba92-4739-b8c6-3dcf53639059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 of Cloud ERP Services</a:t>
            </a:r>
            <a:endParaRPr lang="en-US" sz="1200" dirty="0"/>
          </a:p>
        </p:txBody>
      </p:sp>
      <p:sp>
        <p:nvSpPr>
          <p:cNvPr id="4" name="0dca6146-5e01-4e70-8827-00155fbc9f68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d77190cd-2aa4-44f4-80be-792cf3c0cbc4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2962df69-1a7a-465c-8aa2-840d27f121f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40ca644a-9c98-47cc-af8b-bdad85b81e7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Innovation &amp; Roadmap; Briefing Pack Part One; Welcome Packet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13f9cc1-ef87-4eb3-aae9-0a9ef983438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Two: Five Case Studies</a:t>
            </a:r>
            <a:endParaRPr lang="en-US" sz="2800" dirty="0"/>
          </a:p>
        </p:txBody>
      </p:sp>
      <p:sp>
        <p:nvSpPr>
          <p:cNvPr id="3" name="dfbe91e7-410c-4444-a10b-23f679bfcbdf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(FM)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(HCM)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(SCM)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b766308-80f1-49b9-9e92-353af541c5f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bd650ef3-1a37-4d17-b5d0-1964961fe052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863564e-96eb-489f-9c03-8c4a5dd132e1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5" name="d2296724-c660-4865-9b8b-314cca1bbcfe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dea81d9d-a38d-48e8-aafe-958c823225b0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075da198-4737-4673-a14c-d206591e6c7b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8" name="b3f5c2df-d8d3-44f7-9892-d97ed203eaeb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01099edf-69c7-4c9e-b87b-2b61f87ff64c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e73507f9-6470-4236-88fe-bf56200bbdce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11" name="73c0c9eb-a25b-42c1-86e4-559364f0d04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305a381e-43ef-41a1-859c-28e380619995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eb750639-bc39-4ee1-8a38-79f972436823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14" name="b63c72dc-0a85-4bc4-b08e-99d3ebd9d36d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46ad43f2-fdce-46ff-a96e-66e975ded194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eee9e5a7-62cf-4b68-b2d6-551d15fd705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17" name="cc1afa0c-173e-4264-97c7-96e66c6fdfb8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03315b-d8ea-44ad-90cf-3ba3e439440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Financial Management (FM) Transformation</a:t>
            </a:r>
            <a:endParaRPr lang="en-US" sz="2400" dirty="0"/>
          </a:p>
        </p:txBody>
      </p:sp>
      <p:sp>
        <p:nvSpPr>
          <p:cNvPr id="3" name="1fb9fc92-2aaf-431a-a3d8-0d62fa0c766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586269-6e14-48d7-a945-6e3f0d14ef3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HR and Payroll (HCM) Transformation</a:t>
            </a:r>
            <a:endParaRPr lang="en-US" sz="2400" dirty="0"/>
          </a:p>
        </p:txBody>
      </p:sp>
      <p:sp>
        <p:nvSpPr>
          <p:cNvPr id="3" name="7ce37079-eb4f-41c4-9187-b6ee4cb19b0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037ad50-e193-4706-86e6-58ecafe42c4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3: Supply Chain Management (SCM) Transformation</a:t>
            </a:r>
            <a:endParaRPr lang="en-US" sz="2400" dirty="0"/>
          </a:p>
        </p:txBody>
      </p:sp>
      <p:sp>
        <p:nvSpPr>
          <p:cNvPr id="3" name="bc9fd98c-458a-484c-88ad-288b5a48592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0325509-1387-4ed5-98e0-8e579c6aef4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4: Sourcing &amp; Procurement Transformation</a:t>
            </a:r>
            <a:endParaRPr lang="en-US" sz="2400" dirty="0"/>
          </a:p>
        </p:txBody>
      </p:sp>
      <p:sp>
        <p:nvSpPr>
          <p:cNvPr id="3" name="88cf8d6e-8171-4ce2-994a-9ebdeaeafea4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e6a196d-38b9-4564-a3bb-c46d1a520be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5: Manufacture Products Transformation</a:t>
            </a:r>
            <a:endParaRPr lang="en-US" sz="2400" dirty="0"/>
          </a:p>
        </p:txBody>
      </p:sp>
      <p:sp>
        <p:nvSpPr>
          <p:cNvPr id="3" name="08cc350e-3864-4d53-8ae3-2149002e0ba8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f09567-bf59-4fce-b853-0ca9847d055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Services</a:t>
            </a:r>
            <a:endParaRPr lang="en-US" sz="2800" dirty="0"/>
          </a:p>
        </p:txBody>
      </p:sp>
      <p:sp>
        <p:nvSpPr>
          <p:cNvPr id="3" name="bc426d1b-6c1f-4b8c-90c8-c8c9104ef89a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Case Studies</a:t>
            </a:r>
            <a:endParaRPr lang="en-US" sz="1400" dirty="0"/>
          </a:p>
        </p:txBody>
      </p:sp>
      <p:sp>
        <p:nvSpPr>
          <p:cNvPr id="4" name="8dc49fae-5b56-4a76-8110-4e29040379a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designed to drive business transformation across industries.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leverage advanced technologies like GenAI and low-code platforms.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focus on delivering tailored solutions that meet unique industry needs.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strategic partnerships enhance our service delivery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case studies showcase our ability to execute complex transformations.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case study provides insights into client challenges, solutions, and outcomes.</a:t>
            </a:r>
            <a:endParaRPr lang="en-US" sz="1600" dirty="0"/>
          </a:p>
        </p:txBody>
      </p:sp>
      <p:sp>
        <p:nvSpPr>
          <p:cNvPr id="5" name="dd0670f1-a30d-4201-8d97-1bd408c1cf5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49e071d0-c409-4e66-8b1a-73ab96dde2fb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Strategy,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9323d9-7c7e-42c1-979c-d184e92dce1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3df94c03-d627-42cc-98a0-b762801c1f6b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04ec446b-08e7-401f-a153-cdeb6ea3b23d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endParaRPr lang="en-US" sz="1200" dirty="0"/>
          </a:p>
        </p:txBody>
      </p:sp>
      <p:sp>
        <p:nvSpPr>
          <p:cNvPr id="5" name="f8ed3ad7-6f28-4d45-bed8-0764766f57f1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816625c7-80db-47ea-8ef1-c6d7cb329350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72b80db1-8878-4487-8d79-442f7a84db4c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endParaRPr lang="en-US" sz="1200" dirty="0"/>
          </a:p>
        </p:txBody>
      </p:sp>
      <p:sp>
        <p:nvSpPr>
          <p:cNvPr id="8" name="07052dcc-857b-4525-b8ca-54e45978712f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6d1511a4-f4c6-434e-868d-8953bf4e7efc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6886a7a8-b13f-43ac-87d2-2f3a1715ca5f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1200" dirty="0"/>
          </a:p>
        </p:txBody>
      </p:sp>
      <p:sp>
        <p:nvSpPr>
          <p:cNvPr id="11" name="e0b3fcb6-f3f7-4440-ba1a-ea8990a8cea5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e5e59326-390f-4a32-b191-6beae5ca3742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30dbef68-dc27-486e-96a7-928615dd793f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1200" dirty="0"/>
          </a:p>
        </p:txBody>
      </p:sp>
      <p:sp>
        <p:nvSpPr>
          <p:cNvPr id="14" name="3fb965b7-7456-4a7d-b843-63a5e5e3f5dd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8f34f1fd-c9a9-40ce-8eab-58f407e00588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a0efb4aa-deb1-4d6b-a73a-7881efff7590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200" dirty="0"/>
          </a:p>
        </p:txBody>
      </p:sp>
      <p:sp>
        <p:nvSpPr>
          <p:cNvPr id="17" name="937694d8-8003-4305-bc0d-6927a0cf76eb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fe9ff253-e2ab-4ee5-acec-9ac46d0f635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0800c9b9-b075-4cfa-8f18-b09a680c3c4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Welcome Packet, Foundry KB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fdc8a0-18a7-4c05-84a5-1561e3211ad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in Financial Management</a:t>
            </a:r>
            <a:endParaRPr lang="en-US" sz="2800" dirty="0"/>
          </a:p>
        </p:txBody>
      </p:sp>
      <p:sp>
        <p:nvSpPr>
          <p:cNvPr id="3" name="6f99a1c3-519c-4f17-ad04-c45ebe3176ac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Financial Operations</a:t>
            </a:r>
            <a:endParaRPr lang="en-US" sz="1400" dirty="0"/>
          </a:p>
        </p:txBody>
      </p:sp>
      <p:sp>
        <p:nvSpPr>
          <p:cNvPr id="4" name="e7d8f8ae-b346-4d78-8314-90655c5249c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Management solutions streamline financial processes across industries.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include comprehensive financial planning, analysis, and reporting.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GenAI to enhance financial forecasting and decision-making.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solutions ensure compliance with industry regulations and standards.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expertise in data transformation supports accurate financial data integration.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 ongoing support and enhancements to adapt to evolving financial needs.</a:t>
            </a:r>
            <a:endParaRPr lang="en-US" sz="1600" dirty="0"/>
          </a:p>
        </p:txBody>
      </p:sp>
      <p:sp>
        <p:nvSpPr>
          <p:cNvPr id="5" name="8d4d2eb2-2b34-47d7-b029-8d0a6dfd2a9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9811760-5dfd-4dd1-be46-83dc16ac80a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Financial Management,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ccff51a-ffab-4731-b676-6ec42c87b6d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 Capabilities</a:t>
            </a:r>
            <a:endParaRPr lang="en-US" sz="2800" dirty="0"/>
          </a:p>
        </p:txBody>
      </p:sp>
      <p:sp>
        <p:nvSpPr>
          <p:cNvPr id="3" name="ce7fe4d6-e03f-48b1-9254-4d2ec3c72d3c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Human Capital Management</a:t>
            </a:r>
            <a:endParaRPr lang="en-US" sz="1400" dirty="0"/>
          </a:p>
        </p:txBody>
      </p:sp>
      <p:sp>
        <p:nvSpPr>
          <p:cNvPr id="4" name="03848205-a36e-4309-ae31-8a2386ad72b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HR solutions enhance employee lifecycle management and payroll accuracy.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offer integrated HR platforms for seamless data management and reporting.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include talent management, recruitment, and performance optimization.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ensure compliance with global HR regulations and standards.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AI to enhance HR analytics and workforce planning.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ongoing support ensures adaptability to changing HR needs and trends.</a:t>
            </a:r>
            <a:endParaRPr lang="en-US" sz="1600" dirty="0"/>
          </a:p>
        </p:txBody>
      </p:sp>
      <p:sp>
        <p:nvSpPr>
          <p:cNvPr id="5" name="b3e094ec-8b5d-4390-b305-41128dda8a7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37a3d3a7-4557-400e-a83e-f7f5471ffe82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HR and Payroll,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9bf6a8f-9bd0-4d6c-a5e0-53ca1f8f94f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2800" dirty="0"/>
          </a:p>
        </p:txBody>
      </p:sp>
      <p:sp>
        <p:nvSpPr>
          <p:cNvPr id="3" name="108aff2c-694f-4b3b-877e-289e57a77a4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Supply Chain Processes</a:t>
            </a:r>
            <a:endParaRPr lang="en-US" sz="1400" dirty="0"/>
          </a:p>
        </p:txBody>
      </p:sp>
      <p:sp>
        <p:nvSpPr>
          <p:cNvPr id="4" name="b8a4d377-e9c9-4099-bd99-dc38b5f4f305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streamline supply chain operations across industries.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offer end-to-end supply chain visibility and analytics for better decision-making.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include inventory management, demand forecasting, and logistics optimization.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ensure compliance with supply chain regulations and standards.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AI and IoT to enhance supply chain automation and efficiency.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ongoing support ensures adaptability to changing supply chain dynamics.</a:t>
            </a:r>
            <a:endParaRPr lang="en-US" sz="1600" dirty="0"/>
          </a:p>
        </p:txBody>
      </p:sp>
      <p:sp>
        <p:nvSpPr>
          <p:cNvPr id="5" name="e67ab9d2-fc35-48d2-89b7-72e1d54da27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0cb98584-d610-4c37-8596-76f8e8d63abc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Supply Chain Management,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5d0516-2a98-4716-b168-205ac2b737e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2800" dirty="0"/>
          </a:p>
        </p:txBody>
      </p:sp>
      <p:sp>
        <p:nvSpPr>
          <p:cNvPr id="3" name="c23c6e89-9b66-4381-bd6b-2f0a4f69f1b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Streamlining Procurement Processes</a:t>
            </a:r>
            <a:endParaRPr lang="en-US" sz="1400" dirty="0"/>
          </a:p>
        </p:txBody>
      </p:sp>
      <p:sp>
        <p:nvSpPr>
          <p:cNvPr id="4" name="e859228b-c357-4914-a9e7-bf1ec3727c7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optimize procurement processes across industries.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offer comprehensive supplier management and contract negotiation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include spend analysis, strategic sourcing, and procurement automation.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ensure compliance with procurement regulations and standards.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AI to enhance procurement analytics and decision-making.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ongoing support ensures adaptability to changing procurement needs.</a:t>
            </a:r>
            <a:endParaRPr lang="en-US" sz="1600" dirty="0"/>
          </a:p>
        </p:txBody>
      </p:sp>
      <p:sp>
        <p:nvSpPr>
          <p:cNvPr id="5" name="057391a0-b4a1-4644-ac88-5458d57384c9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0dc7a1c-b3ac-4083-8328-683b4f43944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Sourcing &amp; Procurement,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c502f6-55ca-4af5-bc2b-2ef3eadb6b89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2800" dirty="0"/>
          </a:p>
        </p:txBody>
      </p:sp>
      <p:sp>
        <p:nvSpPr>
          <p:cNvPr id="3" name="1a697a10-e7dd-4208-ba49-4006df3857d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Manufacturing Processes</a:t>
            </a:r>
            <a:endParaRPr lang="en-US" sz="1400" dirty="0"/>
          </a:p>
        </p:txBody>
      </p:sp>
      <p:sp>
        <p:nvSpPr>
          <p:cNvPr id="4" name="fdcfc58f-e802-46e6-80fb-5ffff3410b1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optimize manufacturing operations across industries.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offer integrated manufacturing platforms for seamless data management.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 include production planning, quality management, and process optimization.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solutions ensure compliance with manufacturing regulations and standards.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AI and IoT to enhance manufacturing automation and efficiency.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ongoing support ensures adaptability to changing manufacturing dynamics.</a:t>
            </a:r>
            <a:endParaRPr lang="en-US" sz="1600" dirty="0"/>
          </a:p>
        </p:txBody>
      </p:sp>
      <p:sp>
        <p:nvSpPr>
          <p:cNvPr id="5" name="aa929cd8-fc9b-449a-a734-5aa7788da6a9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17542a18-7038-4950-9c24-6430ec4de51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IBM RFI § Manufacture Products, Briefing Pack Part Two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958bbff-1b11-492c-959d-52520fba754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Three: Questions and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e93a137-1de4-41d3-b0f5-96d3e56dd80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Four: Slides on MQ and CC Submission</a:t>
            </a:r>
            <a:endParaRPr lang="en-US" sz="2800" dirty="0"/>
          </a:p>
        </p:txBody>
      </p:sp>
      <p:sp>
        <p:nvSpPr>
          <p:cNvPr id="3" name="fcc29e28-e6fa-44d9-8eb2-438f848b5ce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Evaluation Criteria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– Proof Points and Client Examples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