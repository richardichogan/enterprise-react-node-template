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  <p:sldId r:id="rId34-created" id="279"/>
    <p:sldId r:id="rId35-created" id="280"/>
    <p:sldId r:id="rId36-created" id="281"/>
    <p:sldId r:id="rId37-created" id="282"/>
    <p:sldId r:id="rId38-created" id="283"/>
    <p:sldId r:id="rId39-created" id="284"/>
    <p:sldId r:id="rId40-created" id="285"/>
    <p:sldId r:id="rId41-created" id="286"/>
    <p:sldId r:id="rId42-created" id="287"/>
    <p:sldId r:id="rId43-created" id="288"/>
    <p:sldId r:id="rId44-created" id="289"/>
    <p:sldId r:id="rId45-created" id="290"/>
    <p:sldId r:id="rId46-created" id="291"/>
    <p:sldId r:id="rId47-created" id="292"/>
    <p:sldId r:id="rId48-created" id="293"/>
    <p:sldId r:id="rId49-created" id="294"/>
    <p:sldId r:id="rId50-created" id="295"/>
    <p:sldId r:id="rId51-created" id="296"/>
    <p:sldId r:id="rId52-created" id="297"/>
    <p:sldId r:id="rId53-created" id="298"/>
    <p:sldId r:id="rId54-created" id="299"/>
    <p:sldId r:id="rId55-created" id="300"/>
    <p:sldId r:id="rId56-created" id="301"/>
    <p:sldId r:id="rId57-created" id="302"/>
    <p:sldId r:id="rId58-created" id="303"/>
    <p:sldId r:id="rId59-created" id="304"/>
    <p:sldId r:id="rId60-created" id="305"/>
    <p:sldId r:id="rId61-created" id="306"/>
    <p:sldId r:id="rId62-created" id="307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Relationship Id="rId34-created" Type="http://schemas.openxmlformats.org/officeDocument/2006/relationships/slide" Target="slides/slide25.xml"/><Relationship Id="rId35-created" Type="http://schemas.openxmlformats.org/officeDocument/2006/relationships/slide" Target="slides/slide26.xml"/><Relationship Id="rId36-created" Type="http://schemas.openxmlformats.org/officeDocument/2006/relationships/slide" Target="slides/slide27.xml"/><Relationship Id="rId37-created" Type="http://schemas.openxmlformats.org/officeDocument/2006/relationships/slide" Target="slides/slide28.xml"/><Relationship Id="rId38-created" Type="http://schemas.openxmlformats.org/officeDocument/2006/relationships/slide" Target="slides/slide29.xml"/><Relationship Id="rId39-created" Type="http://schemas.openxmlformats.org/officeDocument/2006/relationships/slide" Target="slides/slide30.xml"/><Relationship Id="rId40-created" Type="http://schemas.openxmlformats.org/officeDocument/2006/relationships/slide" Target="slides/slide31.xml"/><Relationship Id="rId41-created" Type="http://schemas.openxmlformats.org/officeDocument/2006/relationships/slide" Target="slides/slide32.xml"/><Relationship Id="rId42-created" Type="http://schemas.openxmlformats.org/officeDocument/2006/relationships/slide" Target="slides/slide33.xml"/><Relationship Id="rId43-created" Type="http://schemas.openxmlformats.org/officeDocument/2006/relationships/slide" Target="slides/slide34.xml"/><Relationship Id="rId44-created" Type="http://schemas.openxmlformats.org/officeDocument/2006/relationships/slide" Target="slides/slide35.xml"/><Relationship Id="rId45-created" Type="http://schemas.openxmlformats.org/officeDocument/2006/relationships/slide" Target="slides/slide36.xml"/><Relationship Id="rId46-created" Type="http://schemas.openxmlformats.org/officeDocument/2006/relationships/slide" Target="slides/slide37.xml"/><Relationship Id="rId47-created" Type="http://schemas.openxmlformats.org/officeDocument/2006/relationships/slide" Target="slides/slide38.xml"/><Relationship Id="rId48-created" Type="http://schemas.openxmlformats.org/officeDocument/2006/relationships/slide" Target="slides/slide39.xml"/><Relationship Id="rId49-created" Type="http://schemas.openxmlformats.org/officeDocument/2006/relationships/slide" Target="slides/slide40.xml"/><Relationship Id="rId50-created" Type="http://schemas.openxmlformats.org/officeDocument/2006/relationships/slide" Target="slides/slide41.xml"/><Relationship Id="rId51-created" Type="http://schemas.openxmlformats.org/officeDocument/2006/relationships/slide" Target="slides/slide42.xml"/><Relationship Id="rId52-created" Type="http://schemas.openxmlformats.org/officeDocument/2006/relationships/slide" Target="slides/slide43.xml"/><Relationship Id="rId53-created" Type="http://schemas.openxmlformats.org/officeDocument/2006/relationships/slide" Target="slides/slide44.xml"/><Relationship Id="rId54-created" Type="http://schemas.openxmlformats.org/officeDocument/2006/relationships/slide" Target="slides/slide45.xml"/><Relationship Id="rId55-created" Type="http://schemas.openxmlformats.org/officeDocument/2006/relationships/slide" Target="slides/slide46.xml"/><Relationship Id="rId56-created" Type="http://schemas.openxmlformats.org/officeDocument/2006/relationships/slide" Target="slides/slide47.xml"/><Relationship Id="rId57-created" Type="http://schemas.openxmlformats.org/officeDocument/2006/relationships/slide" Target="slides/slide48.xml"/><Relationship Id="rId58-created" Type="http://schemas.openxmlformats.org/officeDocument/2006/relationships/slide" Target="slides/slide49.xml"/><Relationship Id="rId59-created" Type="http://schemas.openxmlformats.org/officeDocument/2006/relationships/slide" Target="slides/slide50.xml"/><Relationship Id="rId60-created" Type="http://schemas.openxmlformats.org/officeDocument/2006/relationships/slide" Target="slides/slide51.xml"/><Relationship Id="rId61-created" Type="http://schemas.openxmlformats.org/officeDocument/2006/relationships/slide" Target="slides/slide52.xml"/><Relationship Id="rId62-created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07afe53-9ee5-47f1-8647-6a5fd4edc6b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13d8725-ef05-45f0-a8bb-ab92b004198c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e5175ff1-56f6-4c48-a28a-706a424b0d1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Overview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3a69e13-f261-44e1-aa8f-c75b45c7ba5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IBM's Cloud ERP Services</a:t>
            </a:r>
            <a:endParaRPr lang="en-US" sz="2800" dirty="0"/>
          </a:p>
        </p:txBody>
      </p:sp>
      <p:sp>
        <p:nvSpPr>
          <p:cNvPr id="3" name="cfcdd4d5-4ce9-45f1-9d8c-a897d190fbb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Trust and Expertise</a:t>
            </a:r>
            <a:endParaRPr lang="en-US" sz="1400" dirty="0"/>
          </a:p>
        </p:txBody>
      </p:sp>
      <p:sp>
        <p:nvSpPr>
          <p:cNvPr id="4" name="f4037171-6a40-41d5-a7ce-8278d6b99a1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legacy of innovation and reliability in Cloud ERP services.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driving business transformation through strategic foresight.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with robust execution and visionary innovation.</a:t>
            </a:r>
            <a:endParaRPr lang="en-US" sz="1600" dirty="0"/>
          </a:p>
        </p:txBody>
      </p:sp>
      <p:sp>
        <p:nvSpPr>
          <p:cNvPr id="5" name="992572fd-fa4b-4331-ad26-dcb8be477395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b3ffce2b-5a0e-4c6a-970d-63e258ea52a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263de3c-fe90-49b2-89e6-ab2a1cb1f6b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Legacy of Innovation</a:t>
            </a:r>
            <a:endParaRPr lang="en-US" sz="2400" dirty="0"/>
          </a:p>
        </p:txBody>
      </p:sp>
      <p:sp>
        <p:nvSpPr>
          <p:cNvPr id="3" name="fb66fe17-acd9-4724-98de-cb47052e46fe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100 years of technological leadership.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Pioneering advancements in AI and cloud computing.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investment in emerging technologies.</a:t>
            </a:r>
            <a:endParaRPr lang="en-US" sz="1400" dirty="0"/>
          </a:p>
        </p:txBody>
      </p:sp>
      <p:sp>
        <p:nvSpPr>
          <p:cNvPr id="4" name="63731a44-a44e-434c-9683-f867b7817aec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by Fortune 500 companies globally.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track record in delivering complex ERP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sustainable and ethical practices.</a:t>
            </a:r>
            <a:endParaRPr lang="en-US" sz="1400" dirty="0"/>
          </a:p>
        </p:txBody>
      </p:sp>
      <p:sp>
        <p:nvSpPr>
          <p:cNvPr id="5" name="d0e3469d-385d-400a-8044-72b47315fbec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46849c29-9347-4e4b-a0fb-bcc21d5e2a20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Innovation: 100+</a:t>
            </a:r>
            <a:endParaRPr lang="en-US" sz="1200" dirty="0"/>
          </a:p>
        </p:txBody>
      </p:sp>
      <p:sp>
        <p:nvSpPr>
          <p:cNvPr id="7" name="00c3d72b-43a9-443d-bbb6-a7d8a065223f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 Leadership</a:t>
            </a:r>
            <a:endParaRPr lang="en-US" sz="1000" dirty="0"/>
          </a:p>
        </p:txBody>
      </p:sp>
      <p:sp>
        <p:nvSpPr>
          <p:cNvPr id="8" name="6bf77d29-0574-4513-ac60-439ac545681c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9" name="d97b4bff-4335-4ba6-b64c-044f838b7851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8894abd3-2fa6-4918-80dd-a2e681082b5b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Fortune 500 Clients: 200+</a:t>
            </a:r>
            <a:endParaRPr lang="en-US" sz="1200" dirty="0"/>
          </a:p>
        </p:txBody>
      </p:sp>
      <p:sp>
        <p:nvSpPr>
          <p:cNvPr id="11" name="45cecd1f-8b01-400b-a945-ceefb35acbde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Trust</a:t>
            </a:r>
            <a:endParaRPr lang="en-US" sz="1000" dirty="0"/>
          </a:p>
        </p:txBody>
      </p:sp>
      <p:sp>
        <p:nvSpPr>
          <p:cNvPr id="12" name="e8b803a6-0e75-43f6-a805-0730b2f2ffb6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13" name="3210d38a-7e73-40de-bad7-9cfc985dd1d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4" name="4a145746-4546-4309-b1ea-100e26fe6ce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8aa393f-0139-4c63-8e92-61a309ad77e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of IBM's Cloud ERP Services</a:t>
            </a:r>
            <a:endParaRPr lang="en-US" sz="2400" dirty="0"/>
          </a:p>
        </p:txBody>
      </p:sp>
      <p:sp>
        <p:nvSpPr>
          <p:cNvPr id="3" name="024f44c7-9a7b-4487-8dbd-51769751b1c7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31033ed0-35d8-4c5b-8c56-14ca3b923af3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</a:t>
            </a:r>
            <a:endParaRPr lang="en-US" sz="1200" dirty="0"/>
          </a:p>
        </p:txBody>
      </p:sp>
      <p:sp>
        <p:nvSpPr>
          <p:cNvPr id="5" name="286c8378-5034-4fd7-a066-ad9ace59d72e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170+ Countries</a:t>
            </a:r>
            <a:endParaRPr lang="en-US" sz="2400" dirty="0"/>
          </a:p>
        </p:txBody>
      </p:sp>
      <p:sp>
        <p:nvSpPr>
          <p:cNvPr id="6" name="757bb15c-0485-4718-8239-0adffe43822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Presence</a:t>
            </a:r>
            <a:endParaRPr lang="en-US" sz="1000" dirty="0"/>
          </a:p>
        </p:txBody>
      </p:sp>
      <p:sp>
        <p:nvSpPr>
          <p:cNvPr id="7" name="cf5b00c2-9008-4243-a59c-607e033e3e2b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8" name="d9def107-669c-4e2c-9e55-c1d1ba9bd51d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cd9ecb3f-b349-4b45-9e75-b8a735e02459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10" name="ee75464e-be43-48c4-b8c0-905ded94aefa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1" name="33c1af1f-d3cb-4486-b21b-d4399e5926ac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 Rate</a:t>
            </a:r>
            <a:endParaRPr lang="en-US" sz="1000" dirty="0"/>
          </a:p>
        </p:txBody>
      </p:sp>
      <p:sp>
        <p:nvSpPr>
          <p:cNvPr id="12" name="ef4f3487-9ef7-49d0-a1f6-d5c50b5cacf9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3" name="442324fd-4b0e-41b4-8268-b430ad393bf3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ccb8ff6e-7a27-474b-b1d9-1f59c8e8eb85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Investment</a:t>
            </a:r>
            <a:endParaRPr lang="en-US" sz="1200" dirty="0"/>
          </a:p>
        </p:txBody>
      </p:sp>
      <p:sp>
        <p:nvSpPr>
          <p:cNvPr id="15" name="f18c764d-0a3b-42c9-bef8-eb714fc7bd86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$6B Annually</a:t>
            </a:r>
            <a:endParaRPr lang="en-US" sz="2400" dirty="0"/>
          </a:p>
        </p:txBody>
      </p:sp>
      <p:sp>
        <p:nvSpPr>
          <p:cNvPr id="16" name="1d7a54d4-3a7a-42ba-b56a-3126e9df69ff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and Technology</a:t>
            </a:r>
            <a:endParaRPr lang="en-US" sz="1000" dirty="0"/>
          </a:p>
        </p:txBody>
      </p:sp>
      <p:sp>
        <p:nvSpPr>
          <p:cNvPr id="17" name="5c4d1b20-0fe8-42ed-a5a6-0f65f50928ea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18" name="e598150a-65ed-4a67-b7a9-06818b5749a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8fbe34eb-230a-42a8-9699-0a2ebee46f1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H; Sales Execution-Pricing 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ec002d0-e186-4a7d-82df-f862559b7f1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e3aaa32d-6732-4f47-a376-cd59075884d0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c5fbe293-933b-4985-8103-4b4ffb250413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7c7ca46e-363a-4825-98cf-c2caca5870fa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f5e049f5-673f-43c2-9aab-aee69e4b3ef9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93424026-e612-408a-8c4b-949c96d5a000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75b04785-1440-477f-a121-756a56a02700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27b1b61a-0789-4d35-8412-a7faa7b0de4b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19220294-5fdd-47dd-a257-a742ef28583f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6316943a-18a5-4db9-91f3-dc83c91aaea1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81539d2a-d6ec-46be-822f-5143e064e1da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ae70cb6c-18c9-4e7c-88cd-ee8ec4b16ecb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c6d99633-6e3d-459e-9163-960626a7bca8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4f9b8824-589f-491c-bfaf-99b28d7af1bd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a3915555-6fc3-4db3-8509-ae6170990f6e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135af2d9-0881-4579-ac89-1e38459879e6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98c27b23-7fbe-4278-a30d-601f9ec6b28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4052f4b5-d580-4475-bbc6-3705c9bba01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7f6d15e-3af6-4737-9be9-35d48767da1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3680cf6c-ce70-40e1-9ab5-67c157272f02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072a4473-8971-4065-90b9-37544b4b6a7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c4e35d03-3414-4d0e-9dd7-5056e45088d1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eb301d5-ecee-4de9-a148-47e497cc7dd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Commitment to Innovation</a:t>
            </a:r>
            <a:endParaRPr lang="en-US" sz="2800" dirty="0"/>
          </a:p>
        </p:txBody>
      </p:sp>
      <p:sp>
        <p:nvSpPr>
          <p:cNvPr id="3" name="05516116-2cdc-4465-9e46-8b3fa7a41cf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Transformation through Strategic Foresight</a:t>
            </a:r>
            <a:endParaRPr lang="en-US" sz="1400" dirty="0"/>
          </a:p>
        </p:txBody>
      </p:sp>
      <p:sp>
        <p:nvSpPr>
          <p:cNvPr id="4" name="419f548f-8914-44b4-973c-1dc57104bbc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AI and cognitive computing for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proprietary tools and methodologies.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sustainable and ethical business practices.</a:t>
            </a:r>
            <a:endParaRPr lang="en-US" sz="1600" dirty="0"/>
          </a:p>
        </p:txBody>
      </p:sp>
      <p:sp>
        <p:nvSpPr>
          <p:cNvPr id="5" name="8481017e-1e0e-4cdf-aa3c-5248eb895731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1b3458b0-6ef2-41b9-aed2-7b977a971105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H; Sales Execution-Pricing 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850450d-6990-41c9-b98d-33e2ab57e1a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and Collaborations</a:t>
            </a:r>
            <a:endParaRPr lang="en-US" sz="2400" dirty="0"/>
          </a:p>
        </p:txBody>
      </p:sp>
      <p:sp>
        <p:nvSpPr>
          <p:cNvPr id="3" name="5bdda08b-4198-4079-b262-fe2e6614726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Collaborations with leading ERP platforms like Microsoft and SAP.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innovation initiatives with technology partners.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network of Cloud ERP Centers of Excellence.</a:t>
            </a:r>
            <a:endParaRPr lang="en-US" sz="1400" dirty="0"/>
          </a:p>
        </p:txBody>
      </p:sp>
      <p:sp>
        <p:nvSpPr>
          <p:cNvPr id="4" name="dd508b0e-6b6c-4fdb-9f0e-4d9389b0d667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client outcomes through strategic alliances.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partner ecosystems for comprehensive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expansion of partnership networks.</a:t>
            </a:r>
            <a:endParaRPr lang="en-US" sz="1400" dirty="0"/>
          </a:p>
        </p:txBody>
      </p:sp>
      <p:sp>
        <p:nvSpPr>
          <p:cNvPr id="5" name="bc694d69-3b2b-4188-ab18-faaf281e25ef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44bdab50-255d-4fab-bac6-752a8181900a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Partnerships: 100+</a:t>
            </a:r>
            <a:endParaRPr lang="en-US" sz="1200" dirty="0"/>
          </a:p>
        </p:txBody>
      </p:sp>
      <p:sp>
        <p:nvSpPr>
          <p:cNvPr id="7" name="8d86223a-d346-40cf-b539-8787d7674b38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Collaborations</a:t>
            </a:r>
            <a:endParaRPr lang="en-US" sz="1000" dirty="0"/>
          </a:p>
        </p:txBody>
      </p:sp>
      <p:sp>
        <p:nvSpPr>
          <p:cNvPr id="8" name="a167cdb6-1111-4fa6-b02c-0b35b37e3db9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9" name="2da16c57-4b50-420c-88ba-77acc662dec1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dcca2d21-bbf3-4265-b885-1f826e4d8e32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Centers: 50+</a:t>
            </a:r>
            <a:endParaRPr lang="en-US" sz="1200" dirty="0"/>
          </a:p>
        </p:txBody>
      </p:sp>
      <p:sp>
        <p:nvSpPr>
          <p:cNvPr id="11" name="dd3edfd2-c1e5-471e-b777-afaf10806111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</a:t>
            </a:r>
            <a:endParaRPr lang="en-US" sz="1000" dirty="0"/>
          </a:p>
        </p:txBody>
      </p:sp>
      <p:sp>
        <p:nvSpPr>
          <p:cNvPr id="12" name="7f0f46c2-a742-4369-873e-90cee3447963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3" name="35ed1322-da80-4754-83f2-76e51941096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4" name="64587dfc-59d5-4f26-8c81-20661c040b1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H; Sales Execution-Pricing 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caa9abc-7381-4860-bf5b-3c6fe8c9e75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2800" dirty="0"/>
          </a:p>
        </p:txBody>
      </p:sp>
      <p:sp>
        <p:nvSpPr>
          <p:cNvPr id="3" name="0794f6f9-0943-4d8c-8932-4f1af35ca31c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Trends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e901692-444a-449b-8a74-6b979d12069f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Legacy of Innovation and Reliability</a:t>
            </a:r>
            <a:endParaRPr lang="en-US" sz="2800" dirty="0"/>
          </a:p>
        </p:txBody>
      </p:sp>
      <p:sp>
        <p:nvSpPr>
          <p:cNvPr id="3" name="fa167f04-9d9b-47da-89d6-53f345e0d4d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Trust and Expertise</a:t>
            </a:r>
            <a:endParaRPr lang="en-US" sz="1400" dirty="0"/>
          </a:p>
        </p:txBody>
      </p:sp>
      <p:sp>
        <p:nvSpPr>
          <p:cNvPr id="4" name="ab0f4a72-acea-4666-9925-cc1a28c8268f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100 years of technological leadership.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Pioneering advancements in Cloud ERP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driving business transformation.</a:t>
            </a:r>
            <a:endParaRPr lang="en-US" sz="1600" dirty="0"/>
          </a:p>
        </p:txBody>
      </p:sp>
      <p:sp>
        <p:nvSpPr>
          <p:cNvPr id="5" name="038c9a77-ee42-43f7-ad0e-b9623a6d8025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27470fb4-a8de-4a7a-b05b-73be4cea97a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bdfb9e9-0b17-4109-836e-2a3aa7c3ce0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Market Trends</a:t>
            </a:r>
            <a:endParaRPr lang="en-US" sz="2400" dirty="0"/>
          </a:p>
        </p:txBody>
      </p:sp>
      <p:sp>
        <p:nvSpPr>
          <p:cNvPr id="3" name="fa5d8447-cb69-4fec-bd31-81383f29121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 brownfield migrations in specific markets.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SAP skills globally due to resource market demand.</a:t>
            </a:r>
            <a:endParaRPr lang="en-US" sz="1400" dirty="0"/>
          </a:p>
        </p:txBody>
      </p:sp>
      <p:sp>
        <p:nvSpPr>
          <p:cNvPr id="4" name="c844c40b-8c4c-4042-a631-71246ca11123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sustainability and finance-first approaches.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in public cloud and automotive sectors.</a:t>
            </a:r>
            <a:endParaRPr lang="en-US" sz="1400" dirty="0"/>
          </a:p>
        </p:txBody>
      </p:sp>
      <p:sp>
        <p:nvSpPr>
          <p:cNvPr id="5" name="7d448c10-23f6-4f2e-a898-f8d33b440b71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e0bd4c99-f232-44c7-85f0-28d53791964d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Growth: 15%</a:t>
            </a:r>
            <a:endParaRPr lang="en-US" sz="1200" dirty="0"/>
          </a:p>
        </p:txBody>
      </p:sp>
      <p:sp>
        <p:nvSpPr>
          <p:cNvPr id="7" name="0ab73051-c635-4cb9-bc9f-50d3986e831e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increase in Cloud ERP adoption.</a:t>
            </a:r>
            <a:endParaRPr lang="en-US" sz="1000" dirty="0"/>
          </a:p>
        </p:txBody>
      </p:sp>
      <p:sp>
        <p:nvSpPr>
          <p:cNvPr id="8" name="7914e3fe-9bdc-4d8a-82e0-3f12c6992d5d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2026-01-12T13-21-14-435Z_Final 2022 S4HANA Svcs MQ VB IBM (02_15_22).pdf - Page 49</a:t>
            </a:r>
            <a:endParaRPr lang="en-US" sz="900" dirty="0"/>
          </a:p>
        </p:txBody>
      </p:sp>
      <p:sp>
        <p:nvSpPr>
          <p:cNvPr id="9" name="a7f70f1f-89d4-49cc-94f2-b1e0d1c8716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b5456241-4897-4cc2-bd0a-9385805e4ec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2026-01-12T13-21-14-435Z_Final 2022 S4HANA Svcs MQ VB IBM (02_15_22).pdf - Page 49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f3ab135-aa68-48f7-9183-6eef24a8d3e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</a:t>
            </a:r>
            <a:endParaRPr lang="en-US" sz="2400" dirty="0"/>
          </a:p>
        </p:txBody>
      </p:sp>
      <p:sp>
        <p:nvSpPr>
          <p:cNvPr id="3" name="82a65216-a9fa-475f-a88f-0f612e4d7c56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1574d24f-36fe-4f77-80a7-6c89085229a7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27e04b4f-8756-4e74-a64f-8438b6a471dd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400" dirty="0"/>
          </a:p>
        </p:txBody>
      </p:sp>
      <p:sp>
        <p:nvSpPr>
          <p:cNvPr id="6" name="2ee5f42d-8a7f-49cc-bcaf-232b47ebe0db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services.</a:t>
            </a:r>
            <a:endParaRPr lang="en-US" sz="1000" dirty="0"/>
          </a:p>
        </p:txBody>
      </p:sp>
      <p:sp>
        <p:nvSpPr>
          <p:cNvPr id="7" name="1b680b64-ce88-4af7-ac65-45e9270336a5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91420b56-ded0-4110-80d6-4cda93da7bd9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c96623a8-b1c9-425d-91bf-0d3db66209f8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</a:t>
            </a:r>
            <a:endParaRPr lang="en-US" sz="1200" dirty="0"/>
          </a:p>
        </p:txBody>
      </p:sp>
      <p:sp>
        <p:nvSpPr>
          <p:cNvPr id="10" name="7e0eeca1-13b7-478f-9469-530da3a8d32d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1" name="211d3e69-21a5-43b7-a292-72fc901de442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 in Cloud ERP services.</a:t>
            </a:r>
            <a:endParaRPr lang="en-US" sz="1000" dirty="0"/>
          </a:p>
        </p:txBody>
      </p:sp>
      <p:sp>
        <p:nvSpPr>
          <p:cNvPr id="12" name="a9efedc4-f0ee-496f-98ad-28ea090771ba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89ebf871-7ed1-430b-a0b0-8ddffcef76ed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8f2b1ea-6424-4309-a82e-c140daee1226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Innovation</a:t>
            </a:r>
            <a:endParaRPr lang="en-US" sz="1200" dirty="0"/>
          </a:p>
        </p:txBody>
      </p:sp>
      <p:sp>
        <p:nvSpPr>
          <p:cNvPr id="15" name="f9a2ea61-1b5e-4bc7-9031-dcbf0cfa8632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</a:t>
            </a:r>
            <a:endParaRPr lang="en-US" sz="2400" dirty="0"/>
          </a:p>
        </p:txBody>
      </p:sp>
      <p:sp>
        <p:nvSpPr>
          <p:cNvPr id="16" name="2103fb5e-76ff-4702-9ea9-3932012b7aea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investment in Cloud ERP innovation.</a:t>
            </a:r>
            <a:endParaRPr lang="en-US" sz="1000" dirty="0"/>
          </a:p>
        </p:txBody>
      </p:sp>
      <p:sp>
        <p:nvSpPr>
          <p:cNvPr id="17" name="c00c4cbc-9bf9-474e-9ec9-e45ea3f5775c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2026-01-12T13-21-43-361Z_Magic_Quadrant_for_C_806200_ndx.pdf - Page 84</a:t>
            </a:r>
            <a:endParaRPr lang="en-US" sz="900" dirty="0"/>
          </a:p>
        </p:txBody>
      </p:sp>
      <p:sp>
        <p:nvSpPr>
          <p:cNvPr id="18" name="7375a608-4007-4a22-8151-13ee33eca8d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9276d027-90c6-4287-800c-4082b502bcf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aabf02b-c6fc-4a3f-a5c8-3eab11fec4a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b4ce5b36-d64f-440f-8bdf-9f4ec5a06248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fce9306a-bb18-47c6-893c-3184d7df38fd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ca29313f-28fd-4b01-ab2b-12d5a9f39964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ad266e30-e7b5-4ac1-ad8f-967deaa30304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e0873fc7-5e50-4af1-97ad-812f2a9a1bc2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97de56b0-cb22-4f35-abe6-06d38642e597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d1ba445a-8401-482c-86fa-7d266f839bcb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b3a5c00d-2c71-44a2-adc5-22c294f42ba6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65681169-627a-43f6-a785-5410b31658a3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672ca59b-50b5-4089-ae9c-9d105db29cc7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9ac7724d-a3e1-452d-9c0f-4c0d77b1d103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c32a0bf2-ae26-4012-8aee-4d95f2e9c091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1d36be8f-a193-4c65-b4ae-a31da5bc3baa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df248fc0-6541-48a6-9cc0-e43b181c3b5f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6a8c1b98-06b0-4643-a453-6e07c942cc20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7658b0e6-fa79-4e9d-af00-7804c9ec309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2b291e98-db4d-4085-b936-bc8f1984387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651c7db-efda-46fc-9072-3844ea65906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bbd11fd1-aa8a-476a-b966-212a42aff878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92520ea9-3a8c-40cb-9eea-1b434d63845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4d616cac-3ea9-4e2a-afc8-ded093b7f67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868d6fb-4518-44fa-8745-1e97e006838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b07b1263-2b14-44bc-90dc-f20ace7a02c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d4da5c1f-a1b7-4d37-aacb-0b61a6150f0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16fbb779-8b05-4c51-aab0-c40ccca85d3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23a3931-4577-4620-9a9a-431dd81fbc8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ba76fcc8-8aef-4a41-872d-497bff0e6810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e8ef32ef-1fb2-4653-babc-df82a5a0501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1ddf9803-1a6e-4005-9b04-92bf1f59889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e6330af-d336-4681-9fe1-cbd07fb2871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2e7ef549-8e3c-42fe-8b6a-1d7f00c9f1b3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8db917b5-c2f8-42ac-9a11-1353267feb50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0bfe030b-e5ba-49f8-a6ec-a529bb28426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5fb846b-e53c-4f65-94e6-27e4ae6374b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{TO_FILL}</a:t>
            </a:r>
            <a:endParaRPr lang="en-US" sz="2400" dirty="0"/>
          </a:p>
        </p:txBody>
      </p:sp>
      <p:sp>
        <p:nvSpPr>
          <p:cNvPr id="3" name="ece11075-b786-4232-93f8-d158d09fcb23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ea8264b6-642b-461e-b801-6c761eebca4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adf74745-9f0c-451a-8f76-32ed294364b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95f0dd1-3902-4db8-ba73-db32f4be6d9c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2800" dirty="0"/>
          </a:p>
        </p:txBody>
      </p:sp>
      <p:sp>
        <p:nvSpPr>
          <p:cNvPr id="3" name="5ff7742c-da00-48b2-8e5d-addc8db3274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Features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Testimonials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91ed2bc-1e2f-46eb-84ad-87465829807a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IBM's Cloud ERP Services</a:t>
            </a:r>
            <a:endParaRPr lang="en-US" sz="2800" dirty="0"/>
          </a:p>
        </p:txBody>
      </p:sp>
      <p:sp>
        <p:nvSpPr>
          <p:cNvPr id="3" name="463b1038-8500-41c4-8c05-6a5ffe999e1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Businesses with Robust Execution and Visionary Innovation</a:t>
            </a:r>
            <a:endParaRPr lang="en-US" sz="1400" dirty="0"/>
          </a:p>
        </p:txBody>
      </p:sp>
      <p:sp>
        <p:nvSpPr>
          <p:cNvPr id="4" name="4f1e02eb-41f1-4e84-bf56-f2463fa5209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legacy of innovation and reliability in Cloud ERP.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suite of services for business transformation.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Strategically positioned to address market challenges.</a:t>
            </a:r>
            <a:endParaRPr lang="en-US" sz="1600" dirty="0"/>
          </a:p>
        </p:txBody>
      </p:sp>
      <p:sp>
        <p:nvSpPr>
          <p:cNvPr id="5" name="12e611d5-1641-4590-9911-a059bb953556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f3f5380e-74a7-4423-86bd-4d5fd80536ab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2026-01-12T13-21-03-440Z_Critical_Capabilitie_806207_ndx.pdf - Page 88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87b3173-ac55-4d57-9b93-f025a5ca3f8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 and Trends</a:t>
            </a:r>
            <a:endParaRPr lang="en-US" sz="2400" dirty="0"/>
          </a:p>
        </p:txBody>
      </p:sp>
      <p:sp>
        <p:nvSpPr>
          <p:cNvPr id="3" name="9fda3a24-d235-43cc-923b-738a324284d9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understanding of current trends in Cloud ERP.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Anticipating customer needs with strategic foresight.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as a leader in the competitive landscape.</a:t>
            </a:r>
            <a:endParaRPr lang="en-US" sz="1400" dirty="0"/>
          </a:p>
        </p:txBody>
      </p:sp>
      <p:sp>
        <p:nvSpPr>
          <p:cNvPr id="4" name="2ae6f791-dcf2-4a8b-9e95-88fbf6361751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AI, ML, and predictive analytics.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UI and secure data access.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supply chain responsiveness.</a:t>
            </a:r>
            <a:endParaRPr lang="en-US" sz="1400" dirty="0"/>
          </a:p>
        </p:txBody>
      </p:sp>
      <p:sp>
        <p:nvSpPr>
          <p:cNvPr id="5" name="a90cf912-98c3-4472-843d-87793def5b91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af159e10-78ef-481f-9e82-e9a6e7da0899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 Integration: Embedded</a:t>
            </a:r>
            <a:endParaRPr lang="en-US" sz="1200" dirty="0"/>
          </a:p>
        </p:txBody>
      </p:sp>
      <p:sp>
        <p:nvSpPr>
          <p:cNvPr id="7" name="b0fbee7d-7e13-4c77-acb0-b4eab5127f1c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applications/platform</a:t>
            </a:r>
            <a:endParaRPr lang="en-US" sz="1000" dirty="0"/>
          </a:p>
        </p:txBody>
      </p:sp>
      <p:sp>
        <p:nvSpPr>
          <p:cNvPr id="8" name="51c58446-8b19-4213-8497-c10c13dec771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2026-01-12T13-21-03-440Z_Critical_Capabilitie_806207_ndx.pdf</a:t>
            </a:r>
            <a:endParaRPr lang="en-US" sz="900" dirty="0"/>
          </a:p>
        </p:txBody>
      </p:sp>
      <p:sp>
        <p:nvSpPr>
          <p:cNvPr id="9" name="fce36ba1-1f19-4e47-9e22-01971b46102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186c1bd7-b2e5-4ed1-9f01-a5c3c2d97cdb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2026-01-12T13-21-03-440Z_Critical_Capabilitie_806207_ndx.pdf - Page 88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f6f357-21d3-42fe-9b3a-1c1c1a93035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 in 2025</a:t>
            </a:r>
            <a:endParaRPr lang="en-US" sz="2400" dirty="0"/>
          </a:p>
        </p:txBody>
      </p:sp>
      <p:sp>
        <p:nvSpPr>
          <p:cNvPr id="3" name="a9e28697-1270-42bb-aae4-a2ffd775a3ba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df555b3d-717e-4eb7-889f-0e768d005cb9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#1</a:t>
            </a:r>
            <a:endParaRPr lang="en-US" sz="1200" dirty="0"/>
          </a:p>
        </p:txBody>
      </p:sp>
      <p:sp>
        <p:nvSpPr>
          <p:cNvPr id="5" name="39bbee30-021a-4f56-aa42-e958881087b7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6" name="5b7aa82e-cc69-4ea8-bb0b-8a68d0cc8f81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achievement in 2025</a:t>
            </a:r>
            <a:endParaRPr lang="en-US" sz="1000" dirty="0"/>
          </a:p>
        </p:txBody>
      </p:sp>
      <p:sp>
        <p:nvSpPr>
          <p:cNvPr id="7" name="afec9a35-329e-44de-a499-e63f692dc295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Microsoft MQ &amp; CC_Cloud-ERP-Services_IBM_05-Dec-2025.xlsx</a:t>
            </a:r>
            <a:endParaRPr lang="en-US" sz="900" dirty="0"/>
          </a:p>
        </p:txBody>
      </p:sp>
      <p:sp>
        <p:nvSpPr>
          <p:cNvPr id="8" name="132f5204-3bdc-4b62-9546-fc9ffcc06536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42f2bf03-91fb-47c8-b698-01d652ffdd5a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#2</a:t>
            </a:r>
            <a:endParaRPr lang="en-US" sz="1200" dirty="0"/>
          </a:p>
        </p:txBody>
      </p:sp>
      <p:sp>
        <p:nvSpPr>
          <p:cNvPr id="10" name="f64f1685-5b13-4c5d-9e45-82f2432b172b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1" name="d960f6ce-4585-4bbd-946a-2afea2d8c854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achievement in 2025</a:t>
            </a:r>
            <a:endParaRPr lang="en-US" sz="1000" dirty="0"/>
          </a:p>
        </p:txBody>
      </p:sp>
      <p:sp>
        <p:nvSpPr>
          <p:cNvPr id="12" name="e1fbf3e2-c71e-428b-a2d7-3c1dc6cbc595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Microsoft MQ &amp; CC_Cloud-ERP-Services_IBM_05-Dec-2025.xlsx</a:t>
            </a:r>
            <a:endParaRPr lang="en-US" sz="900" dirty="0"/>
          </a:p>
        </p:txBody>
      </p:sp>
      <p:sp>
        <p:nvSpPr>
          <p:cNvPr id="13" name="bd2d4665-8ced-4d18-83e7-ed6ec17e3620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22e93bfd-73a4-4cf5-9e89-67645b52dc63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#3</a:t>
            </a:r>
            <a:endParaRPr lang="en-US" sz="1200" dirty="0"/>
          </a:p>
        </p:txBody>
      </p:sp>
      <p:sp>
        <p:nvSpPr>
          <p:cNvPr id="15" name="6b3238e7-801e-4277-bc83-607345679bc2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6" name="0dca2a80-97da-4d90-8577-9f093fb6257a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achievement in 2025</a:t>
            </a:r>
            <a:endParaRPr lang="en-US" sz="1000" dirty="0"/>
          </a:p>
        </p:txBody>
      </p:sp>
      <p:sp>
        <p:nvSpPr>
          <p:cNvPr id="17" name="b7d112c3-d38c-4dc2-8316-aec9a873a43e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Microsoft MQ &amp; CC_Cloud-ERP-Services_IBM_05-Dec-2025.xlsx</a:t>
            </a:r>
            <a:endParaRPr lang="en-US" sz="900" dirty="0"/>
          </a:p>
        </p:txBody>
      </p:sp>
      <p:sp>
        <p:nvSpPr>
          <p:cNvPr id="18" name="631d643b-5b76-42d5-b1cf-01065101322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529cb667-fdaa-44c2-a556-d6c030b91b8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Microsoft MQ &amp; CC_Cloud-ERP-Services_IBM_05-Dec-2025.xlsx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cdd4abc-ef48-4efc-92a6-ba90c990f7a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2fc35e72-37b9-48ab-8ac1-148c35e4019c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aaebffd1-f1d3-4637-b8cf-40d61c3f40f2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770fb92b-7740-423e-b9a4-e6a0896ea2e4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cdfb8aa7-cad1-4cbc-ab5e-7f8adff63082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efa3f9ad-5f34-412b-a6cb-4eb637223f65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be9eaa88-0426-47e0-8b7d-b369339f5612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ec4948ed-21aa-4cfc-bee5-ebe3dabbe818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115c6f21-987f-4dc3-9caf-71093dcd9fd6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b58c0737-9775-44a0-bd19-a5bb2c31c970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da975381-e9f6-4e66-b574-8a56e379e90e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82b5511b-d361-411b-bfdc-dd2ec6e54b5d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8deeff9c-329f-4ed5-a290-80d9b44c4e75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b5fcc942-635a-48e5-af6b-d2c7c469b80a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f1577258-7f71-4ad4-8bc5-ca5b987062db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36f64ee1-93ed-4f45-97b7-5a8e29691a9d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683495b4-89c8-4a97-9038-9c70e4e4c1a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58d921b3-7487-4635-9613-72ad19f1c45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799260b-0b63-45b5-9c64-4dfbe118ea1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{TO_FILL}</a:t>
            </a:r>
            <a:endParaRPr lang="en-US" sz="2400" dirty="0"/>
          </a:p>
        </p:txBody>
      </p:sp>
      <p:sp>
        <p:nvSpPr>
          <p:cNvPr id="3" name="fa8cf0f6-82d5-4b7d-963e-d88fa9408cb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7d0e19e2-0b4c-4ad9-a413-4db92b78a4d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0967a720-7d6e-4783-a433-c8b9328250a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f566727-0194-415e-a1fe-3d13553970f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vs. Proof</a:t>
            </a:r>
            <a:endParaRPr lang="en-US" sz="2400" dirty="0"/>
          </a:p>
        </p:txBody>
      </p:sp>
      <p:sp>
        <p:nvSpPr>
          <p:cNvPr id="3" name="63e755ec-eddf-4043-80e0-a1524b128982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d5b1d355-9250-411b-8da3-257e6d91c59b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a9e4101b-8f4c-4fe3-99d2-b9998435827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3c216d41-94ce-4e27-82a1-35dc4398795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2026-01-12T13-21-03-440Z_Critical_Capabilitie_806207_ndx.pdf - Page 88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7c788ca-e641-4bc2-a00d-2f3dff9a03d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 and Future Initiatives</a:t>
            </a:r>
            <a:endParaRPr lang="en-US" sz="2400" dirty="0"/>
          </a:p>
        </p:txBody>
      </p:sp>
      <p:sp>
        <p:nvSpPr>
          <p:cNvPr id="3" name="7703afde-c153-42f3-8633-197c2f166451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33fb7004-2446-4a73-822d-0f6e57be367a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fb3a94c7-20b2-4b52-8c58-7cc10b1cfa7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dfa0e07-3ca2-42cb-aaa9-141824b7580f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Microsoft MQ &amp; CC_Cloud-ERP-Services_IBM_05-Dec-2025.xlsx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abe1148-1791-419a-967f-5184fe94d66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and Mitigation Strategies</a:t>
            </a:r>
            <a:endParaRPr lang="en-US" sz="2400" dirty="0"/>
          </a:p>
        </p:txBody>
      </p:sp>
      <p:sp>
        <p:nvSpPr>
          <p:cNvPr id="3" name="d6c69ef6-25cd-47af-b1a8-3f22dedb3175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1c7529be-ac97-4bd4-ba46-577a454892fc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082a49b7-4f87-44a7-aa3a-30a0432bae7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8d860bba-77e5-4b98-9cd8-00bc90d7d5f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0ce99ee-16b5-421b-a508-3c207d83537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Ecosystem</a:t>
            </a:r>
            <a:endParaRPr lang="en-US" sz="2400" dirty="0"/>
          </a:p>
        </p:txBody>
      </p:sp>
      <p:sp>
        <p:nvSpPr>
          <p:cNvPr id="3" name="9a29136e-5a0e-483b-8ebb-b564cc5bd96c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4" name="98fef98a-fff0-4581-b33b-7b2c752eb622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5" name="530872da-ac14-4199-8e52-25a8fa736b5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636f12ac-80de-4fdc-9b46-71569682158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5d49fc6-3967-45f3-bd7c-4d217b28867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c49dbb6d-21b4-4458-9b03-77be98f82c3f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 ensure seamless integration of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are the key differentiators of IBM's Cloud ERP offerings?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IBM address data migration risks?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4" name="09507499-1a27-4ea6-8892-4af1a8b5297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de8e9ee2-c768-4ee4-8b36-b2f92be8458d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refs; KB paths; public URLs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3e5acac-1c1c-4dcc-8450-337f72fa987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2800" dirty="0"/>
          </a:p>
        </p:txBody>
      </p:sp>
      <p:sp>
        <p:nvSpPr>
          <p:cNvPr id="3" name="44d3b3ba-fecc-4154-8fb5-d67e025559c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Highlights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be3ebd2-5b7a-49ca-84ea-9e378e37c863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</a:t>
            </a:r>
            <a:endParaRPr lang="en-US" sz="2800" dirty="0"/>
          </a:p>
        </p:txBody>
      </p:sp>
      <p:sp>
        <p:nvSpPr>
          <p:cNvPr id="3" name="6d5efb84-c73c-4719-a764-ae3c90ba261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Reinforcing Operational Maturity</a:t>
            </a:r>
            <a:endParaRPr lang="en-US" sz="1400" dirty="0"/>
          </a:p>
        </p:txBody>
      </p:sp>
      <p:sp>
        <p:nvSpPr>
          <p:cNvPr id="4" name="f28ba588-e5a7-453e-9008-b7850dbdee95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demonstrate robust financial health.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market share.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 IBM's overall business objectives.</a:t>
            </a:r>
            <a:endParaRPr lang="en-US" sz="1600" dirty="0"/>
          </a:p>
        </p:txBody>
      </p:sp>
      <p:sp>
        <p:nvSpPr>
          <p:cNvPr id="5" name="6359b9bb-ff48-4f53-b20f-c66a7c278ae2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8c330947-5857-40b6-b28f-9bb80e44853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b3121b-8c6b-46d5-b99c-1dec39f9fea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 Metrics</a:t>
            </a:r>
            <a:endParaRPr lang="en-US" sz="2400" dirty="0"/>
          </a:p>
        </p:txBody>
      </p:sp>
      <p:sp>
        <p:nvSpPr>
          <p:cNvPr id="3" name="38fc3510-e5d6-4efd-bbef-cfd244c6e804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revenue growth in Cloud ERP services.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retention rates across key markets.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innovation and technology.</a:t>
            </a:r>
            <a:endParaRPr lang="en-US" sz="1400" dirty="0"/>
          </a:p>
        </p:txBody>
      </p:sp>
      <p:sp>
        <p:nvSpPr>
          <p:cNvPr id="4" name="b7a0a213-a23a-4dcb-80bd-fe130d1097ce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business outcome contracts.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pricing models to meet diverse client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sales and marketing execution.</a:t>
            </a:r>
            <a:endParaRPr lang="en-US" sz="1400" dirty="0"/>
          </a:p>
        </p:txBody>
      </p:sp>
      <p:sp>
        <p:nvSpPr>
          <p:cNvPr id="5" name="c561dee6-aced-4025-b9ec-97216ba62e40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edec812c-0912-4369-b362-dbdced691174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15% YoY</a:t>
            </a:r>
            <a:endParaRPr lang="en-US" sz="1200" dirty="0"/>
          </a:p>
        </p:txBody>
      </p:sp>
      <p:sp>
        <p:nvSpPr>
          <p:cNvPr id="7" name="2c79910b-0f50-497e-8061-db2efa0fb054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8" name="42658924-00da-4334-8023-e3ab3a4bd6a8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9" name="a8eaea0e-f51d-4737-9439-4e1f32841b71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276fcfde-9c9e-4057-9c3b-2cea26a372f1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Retention: 90%</a:t>
            </a:r>
            <a:endParaRPr lang="en-US" sz="1200" dirty="0"/>
          </a:p>
        </p:txBody>
      </p:sp>
      <p:sp>
        <p:nvSpPr>
          <p:cNvPr id="11" name="ae11a772-4a72-4b5a-a8d3-2196fddb0181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key markets</a:t>
            </a:r>
            <a:endParaRPr lang="en-US" sz="1000" dirty="0"/>
          </a:p>
        </p:txBody>
      </p:sp>
      <p:sp>
        <p:nvSpPr>
          <p:cNvPr id="12" name="a6c5e9a6-0fb4-493e-a793-c50bb2b54933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102272d8-e61c-4af5-aa2f-bf16010f13e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4" name="50601826-af8a-4e8a-b972-f8ec253ecc6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c8933c1-a1cf-48db-9199-44fd340b89d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Metrics</a:t>
            </a:r>
            <a:endParaRPr lang="en-US" sz="2400" dirty="0"/>
          </a:p>
        </p:txBody>
      </p:sp>
      <p:sp>
        <p:nvSpPr>
          <p:cNvPr id="3" name="c06ef8f3-9963-4911-9e85-441fb108e6c4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ea0a3e4a-221a-44c0-8159-a566e71a7f15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200" dirty="0"/>
          </a:p>
        </p:txBody>
      </p:sp>
      <p:sp>
        <p:nvSpPr>
          <p:cNvPr id="5" name="5bc1d6dd-a2b9-4819-ac60-49fa55763c1e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400" dirty="0"/>
          </a:p>
        </p:txBody>
      </p:sp>
      <p:sp>
        <p:nvSpPr>
          <p:cNvPr id="6" name="f6f1efa5-5dae-4afb-9ff9-1759cec8ee0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7" name="e638191a-5148-48ae-93d1-8e5dc7d07375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0c815386-9100-4ad1-8542-3494e9bce9de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74531a55-e64e-4e2a-8284-f77018f0750d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R&amp;D</a:t>
            </a:r>
            <a:endParaRPr lang="en-US" sz="1200" dirty="0"/>
          </a:p>
        </p:txBody>
      </p:sp>
      <p:sp>
        <p:nvSpPr>
          <p:cNvPr id="10" name="472ca6b5-2a10-41cb-a5ef-0931890fa235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2400" dirty="0"/>
          </a:p>
        </p:txBody>
      </p:sp>
      <p:sp>
        <p:nvSpPr>
          <p:cNvPr id="11" name="601e9cea-d1d6-452f-8a05-248b83b1eefd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investment</a:t>
            </a:r>
            <a:endParaRPr lang="en-US" sz="1000" dirty="0"/>
          </a:p>
        </p:txBody>
      </p:sp>
      <p:sp>
        <p:nvSpPr>
          <p:cNvPr id="12" name="179f51c6-8961-4eca-b45e-ddb3408efbfe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64d71d84-f101-49db-9d19-b79f04e44a66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25c5a5dc-da29-4a55-a4ea-0d2ad23578b4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15" name="00801f76-207e-4f63-ad37-66acb4c7518b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400" dirty="0"/>
          </a:p>
        </p:txBody>
      </p:sp>
      <p:sp>
        <p:nvSpPr>
          <p:cNvPr id="16" name="61e566fc-ff71-4847-9608-8563dea0753a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ratio</a:t>
            </a:r>
            <a:endParaRPr lang="en-US" sz="1000" dirty="0"/>
          </a:p>
        </p:txBody>
      </p:sp>
      <p:sp>
        <p:nvSpPr>
          <p:cNvPr id="17" name="f576560b-ceb5-4f1b-b36b-82fc66b15d68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8" name="7731d6f9-a94c-4f97-bfde-13cec8e4bc4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79a3cf27-90a5-40b2-94ad-66053412ccf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5e2643b-a2bf-4eb2-814d-086a5f65a8ef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Financial Alignment</a:t>
            </a:r>
            <a:endParaRPr lang="en-US" sz="2800" dirty="0"/>
          </a:p>
        </p:txBody>
      </p:sp>
      <p:sp>
        <p:nvSpPr>
          <p:cNvPr id="3" name="ac8638be-01c0-4c83-a532-eb02c0876cf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Long-Term Success</a:t>
            </a:r>
            <a:endParaRPr lang="en-US" sz="1400" dirty="0"/>
          </a:p>
        </p:txBody>
      </p:sp>
      <p:sp>
        <p:nvSpPr>
          <p:cNvPr id="4" name="841db6a3-3c8b-4a9b-9587-0643c19d068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IBM's strategic goals.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sustainable growth and innovation.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client success and satisfaction.</a:t>
            </a:r>
            <a:endParaRPr lang="en-US" sz="1600" dirty="0"/>
          </a:p>
        </p:txBody>
      </p:sp>
      <p:sp>
        <p:nvSpPr>
          <p:cNvPr id="5" name="69620919-2443-4839-9a03-31567891395d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faa7167b-394e-457a-9b7f-556557767c95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006a0e3-ca22-4aeb-a8d7-3c9c5ccc7d5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Innovation</a:t>
            </a:r>
            <a:endParaRPr lang="en-US" sz="2400" dirty="0"/>
          </a:p>
        </p:txBody>
      </p:sp>
      <p:sp>
        <p:nvSpPr>
          <p:cNvPr id="3" name="7e9840fb-7088-47be-992d-24c51b6b10a8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R&amp;D investments in Cloud ERP.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advanced ERP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emerging technologies like GenAI and low-code.</a:t>
            </a:r>
            <a:endParaRPr lang="en-US" sz="1400" dirty="0"/>
          </a:p>
        </p:txBody>
      </p:sp>
      <p:sp>
        <p:nvSpPr>
          <p:cNvPr id="4" name="35048ad3-3b55-4814-8cf3-e4cde2a99a2f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in service delivery.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technology for enhanced client outcomes.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to drive innovation.</a:t>
            </a:r>
            <a:endParaRPr lang="en-US" sz="1400" dirty="0"/>
          </a:p>
        </p:txBody>
      </p:sp>
      <p:sp>
        <p:nvSpPr>
          <p:cNvPr id="5" name="1937ef12-0e2d-4475-8d00-5cf2b045cc2b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ec54e5a4-1d50-4507-9c1d-df70982a45ad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Investment: $1.2B</a:t>
            </a:r>
            <a:endParaRPr lang="en-US" sz="1200" dirty="0"/>
          </a:p>
        </p:txBody>
      </p:sp>
      <p:sp>
        <p:nvSpPr>
          <p:cNvPr id="7" name="8e436c73-3604-41ed-ad87-6898525bf93e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investment</a:t>
            </a:r>
            <a:endParaRPr lang="en-US" sz="1000" dirty="0"/>
          </a:p>
        </p:txBody>
      </p:sp>
      <p:sp>
        <p:nvSpPr>
          <p:cNvPr id="8" name="40af38d3-7ca8-4c3f-b65c-05ee74fcd922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9" name="79a74abf-9f1e-4492-9ae1-863093e8ca6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6cd03933-f63f-4bd9-8593-fcb93147a3c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6291fb-ac03-4d03-88e8-c41cdd44ccc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 Indicators</a:t>
            </a:r>
            <a:endParaRPr lang="en-US" sz="2400" dirty="0"/>
          </a:p>
        </p:txBody>
      </p:sp>
      <p:sp>
        <p:nvSpPr>
          <p:cNvPr id="3" name="d0e79e77-ca26-4917-89f4-7cfb758086b3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a2622c02-5129-4e2a-9bd8-5645f7889a25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5" name="2fed17de-071f-493a-8f4c-0b747b05e9f6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YoY</a:t>
            </a:r>
            <a:endParaRPr lang="en-US" sz="2400" dirty="0"/>
          </a:p>
        </p:txBody>
      </p:sp>
      <p:sp>
        <p:nvSpPr>
          <p:cNvPr id="6" name="e45f00d7-3d74-4eed-a61a-a315ca87e33f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7" name="786bde38-f777-4d65-ac3f-52ef475b4a06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32ea4b5f-5e20-4ee3-9126-eb2fd7e0ca81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33583203-b978-46ab-95c0-9a4c49ffbb23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</a:t>
            </a:r>
            <a:endParaRPr lang="en-US" sz="1200" dirty="0"/>
          </a:p>
        </p:txBody>
      </p:sp>
      <p:sp>
        <p:nvSpPr>
          <p:cNvPr id="10" name="7fbd7e87-7493-4b44-88eb-f9ea44a65e6b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400" dirty="0"/>
          </a:p>
        </p:txBody>
      </p:sp>
      <p:sp>
        <p:nvSpPr>
          <p:cNvPr id="11" name="080d2a89-c2f8-4f42-94fe-0222d9b57f5f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key markets</a:t>
            </a:r>
            <a:endParaRPr lang="en-US" sz="1000" dirty="0"/>
          </a:p>
        </p:txBody>
      </p:sp>
      <p:sp>
        <p:nvSpPr>
          <p:cNvPr id="12" name="37bb56d2-439c-4ed8-a6b5-56046a966224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782999cb-c130-40b5-8c85-bc471c25039c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5c3572bf-6c5e-4fe8-a2e1-81ca49e3a96a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200" dirty="0"/>
          </a:p>
        </p:txBody>
      </p:sp>
      <p:sp>
        <p:nvSpPr>
          <p:cNvPr id="15" name="2045ad07-b888-43bc-a6dc-9f45219fc709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400" dirty="0"/>
          </a:p>
        </p:txBody>
      </p:sp>
      <p:sp>
        <p:nvSpPr>
          <p:cNvPr id="16" name="9e0af3fa-b3f5-433e-9154-5ac3074cb1c9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17" name="f36a0d92-5f5c-47ec-a918-18968afaf1a7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8" name="72001a6e-719d-4805-92f7-9a379ab04df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b1510850-2945-4201-9897-758a625d9a5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afc8f0-274c-418f-8d9b-2c99870d241e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</a:t>
            </a:r>
            <a:endParaRPr lang="en-US" sz="2800" dirty="0"/>
          </a:p>
        </p:txBody>
      </p:sp>
      <p:sp>
        <p:nvSpPr>
          <p:cNvPr id="3" name="50ec440a-2f1e-473e-abf4-a21261f2b8e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Long-Term Success</a:t>
            </a:r>
            <a:endParaRPr lang="en-US" sz="1400" dirty="0"/>
          </a:p>
        </p:txBody>
      </p:sp>
      <p:sp>
        <p:nvSpPr>
          <p:cNvPr id="4" name="9d2a2e6c-e64e-41c4-b436-b6ca2c8a5dd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track record in Cloud ERP service delivery.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operational frameworks and processes.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continuous improvement and excellence.</a:t>
            </a:r>
            <a:endParaRPr lang="en-US" sz="1600" dirty="0"/>
          </a:p>
        </p:txBody>
      </p:sp>
      <p:sp>
        <p:nvSpPr>
          <p:cNvPr id="5" name="47e9ff5c-2b39-4537-82e4-94d105a385e1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56a82653-b496-47f0-be18-78654720f193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2ba9011-33b2-4819-bb3f-cadf0108bbb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Strategy and Execution</a:t>
            </a:r>
            <a:endParaRPr lang="en-US" sz="2400" dirty="0"/>
          </a:p>
        </p:txBody>
      </p:sp>
      <p:sp>
        <p:nvSpPr>
          <p:cNvPr id="3" name="108d7a7d-fe8d-4bfb-8c1f-f6eadfea9dc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strategic growth and market expansion.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financial management and resource allocation.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delivering client value and satisfaction.</a:t>
            </a:r>
            <a:endParaRPr lang="en-US" sz="1400" dirty="0"/>
          </a:p>
        </p:txBody>
      </p:sp>
      <p:sp>
        <p:nvSpPr>
          <p:cNvPr id="4" name="39e8039d-58b4-4d27-8bf7-1d517eb83999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sales and marketing strategies.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pricing models to meet client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focus on business outcome contracts.</a:t>
            </a:r>
            <a:endParaRPr lang="en-US" sz="1400" dirty="0"/>
          </a:p>
        </p:txBody>
      </p:sp>
      <p:sp>
        <p:nvSpPr>
          <p:cNvPr id="5" name="e85f07a2-4e7a-47c4-80af-7ea64663733f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37e55b6d-f236-4ec0-b750-d88fecc9fa69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Growth: 15% YoY</a:t>
            </a:r>
            <a:endParaRPr lang="en-US" sz="1200" dirty="0"/>
          </a:p>
        </p:txBody>
      </p:sp>
      <p:sp>
        <p:nvSpPr>
          <p:cNvPr id="7" name="174e0467-883c-4c26-b0d8-7b4a6118bfc1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8" name="5e2bb690-243a-4414-8af4-6068419df1b9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9" name="147fdfde-65d6-4e08-a8e9-59780c3a4bd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277dafc3-4dfc-4c48-8bc8-deaad6bf2721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0a8563-127e-40b2-8651-9aabd281874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Achievements</a:t>
            </a:r>
            <a:endParaRPr lang="en-US" sz="2400" dirty="0"/>
          </a:p>
        </p:txBody>
      </p:sp>
      <p:sp>
        <p:nvSpPr>
          <p:cNvPr id="3" name="81e579f7-e890-4007-939f-43f8695896ac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c26c460e-653c-43de-bdd6-5ded6fedc5bb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1200" dirty="0"/>
          </a:p>
        </p:txBody>
      </p:sp>
      <p:sp>
        <p:nvSpPr>
          <p:cNvPr id="5" name="3f91ecc4-3526-41e8-9567-4123ba52b36d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400" dirty="0"/>
          </a:p>
        </p:txBody>
      </p:sp>
      <p:sp>
        <p:nvSpPr>
          <p:cNvPr id="6" name="768e9738-1df7-43f6-b6b6-6429aa9b5543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ratio</a:t>
            </a:r>
            <a:endParaRPr lang="en-US" sz="1000" dirty="0"/>
          </a:p>
        </p:txBody>
      </p:sp>
      <p:sp>
        <p:nvSpPr>
          <p:cNvPr id="7" name="140923da-2ebf-4e33-88c6-48a529ab31ac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cfff0b5e-e658-4040-a310-d00c8e2612c6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d7dfa016-9c18-452e-9818-a0b53aff8713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Investment</a:t>
            </a:r>
            <a:endParaRPr lang="en-US" sz="1200" dirty="0"/>
          </a:p>
        </p:txBody>
      </p:sp>
      <p:sp>
        <p:nvSpPr>
          <p:cNvPr id="10" name="1d923a16-677f-4453-a166-0c6a60b220d2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2400" dirty="0"/>
          </a:p>
        </p:txBody>
      </p:sp>
      <p:sp>
        <p:nvSpPr>
          <p:cNvPr id="11" name="dcfa8235-4fae-42a7-9dc9-77dcb9f7f8a0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investment</a:t>
            </a:r>
            <a:endParaRPr lang="en-US" sz="1000" dirty="0"/>
          </a:p>
        </p:txBody>
      </p:sp>
      <p:sp>
        <p:nvSpPr>
          <p:cNvPr id="12" name="08eb662f-feda-44b6-9caf-2595923efc29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f2060829-0137-4492-9571-071ac3568469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a5e572d0-ba7f-48ed-aba2-8e77f3599254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200" dirty="0"/>
          </a:p>
        </p:txBody>
      </p:sp>
      <p:sp>
        <p:nvSpPr>
          <p:cNvPr id="15" name="71383511-d72c-487c-a53e-18357fcd019d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400" dirty="0"/>
          </a:p>
        </p:txBody>
      </p:sp>
      <p:sp>
        <p:nvSpPr>
          <p:cNvPr id="16" name="b4da3394-1bb1-418e-8c89-6e909b6f6710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services</a:t>
            </a:r>
            <a:endParaRPr lang="en-US" sz="1000" dirty="0"/>
          </a:p>
        </p:txBody>
      </p:sp>
      <p:sp>
        <p:nvSpPr>
          <p:cNvPr id="17" name="13220bb8-cb56-4619-9956-c32eeddf80a0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8" name="d0962966-1db7-4026-aff8-8dae514bdd9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b20d47f6-c3dc-444b-92c0-910ebf0baa1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10773f6-1492-44b8-b106-bb830e52f7a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d46962d8-d3b3-43e9-b45e-de985290cc9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 and Future Outlook</a:t>
            </a:r>
            <a:endParaRPr lang="en-US" sz="1400" dirty="0"/>
          </a:p>
        </p:txBody>
      </p:sp>
      <p:sp>
        <p:nvSpPr>
          <p:cNvPr id="4" name="75462bb3-9dce-45d0-9993-b260ade180eb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health supports long-term client success.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investments in innovation and technology.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operational excellence and client satisfaction.</a:t>
            </a:r>
            <a:endParaRPr lang="en-US" sz="1600" dirty="0"/>
          </a:p>
        </p:txBody>
      </p:sp>
      <p:sp>
        <p:nvSpPr>
          <p:cNvPr id="5" name="929ae981-410e-4a51-8048-b305ad9f669b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e56def7-9320-4426-87ea-93c98e7b6be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ff4dcd1-a47f-4623-a6b3-9b1184129c0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800" dirty="0"/>
          </a:p>
        </p:txBody>
      </p:sp>
      <p:sp>
        <p:nvSpPr>
          <p:cNvPr id="3" name="7362d9f3-efce-4950-a794-7242917ff23c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Floor for Questions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4b4c1a0-0dbe-451f-b288-23035ed0747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0eb6bcd1-4f70-4d5a-9ca9-6bacb6ebb888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IBM's Cloud ERP services support financial management transformation?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are IBM's strategies for market responsiveness in Cloud ERP?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you provide examples of IBM's operational maturity in Cloud ERP?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947908f-f37d-40a3-8a96-25ab07c93f3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2a4801c2-75f6-4629-930e-5c6db380047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IBM's approach to change management in Cloud ERP implementations?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IBM ensure compliance in data migration for Cloud ERP?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are the key differentiators of IBM's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c9dcd26-2526-4d2f-ae26-796e09bb7f9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cb588e8a-647c-46e0-9082-b66418104e2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 leverage innovation in its Cloud ERP roadmap?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are IBM's future directions for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you provide proof points of IBM's Cloud ERP customer success?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acf84b1-1d82-4d1b-bba5-2655f583587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a9fab825-cb5d-4ce4-a40d-4294d8d1e317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are the financial strengths supporting IBM's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IBM's sales strategy align with Cloud ERP market needs?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pricing models does IBM offer for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61a4f69-e3c3-41b6-a4e5-34359e9235a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b4b5f50f-20e3-444f-873b-1be3defc5eb7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IBM's Cloud ERP services address supply chain management transformation?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are IBM's marketing strategies for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you provide insights into IBM's geographic strategy for Cloud ERP?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7c1157-395c-4e08-a6c8-406bdf4c619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8434a38d-05bc-420c-bc02-72a618d4572b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are IBM's capabilities in HR and payroll transformation for Cloud ERP?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IBM ensure effective change management in Cloud ERP deployments?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are the key proof points for IBM's Cloud ERP success?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7ac9d7b-e252-4f4b-9f04-6f5f9825a41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cbf31a41-bdbb-464e-b73e-65050a0e449e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IBM's Cloud ERP services support sourcing and procurement transformation?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are IBM's strategies for attracting and retaining Cloud ERP talent?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IBM differentiate its Cloud ERP offerings from competitors?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7b8d40d-a0cd-4768-8f0b-1d1887e64d7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4af83974-8c7e-4542-97c1-dc81486dd440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are IBM's plans for incorporating emerging technologies in Cloud ERP?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IBM's Cloud ERP services support manufacturing products transformation?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are the quantified outcomes of IBM's Cloud ERP implementations?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d83e0d2-edd3-465a-a828-0c4664e3eb3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9e4fb4dc-7680-4d64-9027-c3c7c74f52c1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 address risk and compliance in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are IBM's customer support SLAs for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IBM's Cloud ERP services align with industry-specific needs?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ffefa16-f033-4b30-a923-8a0131c2683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8cc48378-7585-418e-838c-e902358c7246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are IBM's key wins in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How does IBM's Cloud ERP services support data transformation?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are the key metrics demonstrating IBM's Cloud ERP success?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