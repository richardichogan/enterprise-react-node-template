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  <p:sldId r:id="rId33-created" id="278"/>
    <p:sldId r:id="rId34-created" id="279"/>
    <p:sldId r:id="rId35-created" id="280"/>
    <p:sldId r:id="rId36-created" id="281"/>
    <p:sldId r:id="rId37-created" id="282"/>
    <p:sldId r:id="rId38-created" id="283"/>
    <p:sldId r:id="rId39-created" id="284"/>
    <p:sldId r:id="rId40-created" id="285"/>
    <p:sldId r:id="rId41-created" id="286"/>
    <p:sldId r:id="rId42-created" id="287"/>
    <p:sldId r:id="rId43-created" id="288"/>
    <p:sldId r:id="rId44-created" id="289"/>
    <p:sldId r:id="rId45-created" id="290"/>
    <p:sldId r:id="rId46-created" id="291"/>
    <p:sldId r:id="rId47-created" id="292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Relationship Id="rId33-created" Type="http://schemas.openxmlformats.org/officeDocument/2006/relationships/slide" Target="slides/slide24.xml"/><Relationship Id="rId34-created" Type="http://schemas.openxmlformats.org/officeDocument/2006/relationships/slide" Target="slides/slide25.xml"/><Relationship Id="rId35-created" Type="http://schemas.openxmlformats.org/officeDocument/2006/relationships/slide" Target="slides/slide26.xml"/><Relationship Id="rId36-created" Type="http://schemas.openxmlformats.org/officeDocument/2006/relationships/slide" Target="slides/slide27.xml"/><Relationship Id="rId37-created" Type="http://schemas.openxmlformats.org/officeDocument/2006/relationships/slide" Target="slides/slide28.xml"/><Relationship Id="rId38-created" Type="http://schemas.openxmlformats.org/officeDocument/2006/relationships/slide" Target="slides/slide29.xml"/><Relationship Id="rId39-created" Type="http://schemas.openxmlformats.org/officeDocument/2006/relationships/slide" Target="slides/slide30.xml"/><Relationship Id="rId40-created" Type="http://schemas.openxmlformats.org/officeDocument/2006/relationships/slide" Target="slides/slide31.xml"/><Relationship Id="rId41-created" Type="http://schemas.openxmlformats.org/officeDocument/2006/relationships/slide" Target="slides/slide32.xml"/><Relationship Id="rId42-created" Type="http://schemas.openxmlformats.org/officeDocument/2006/relationships/slide" Target="slides/slide33.xml"/><Relationship Id="rId43-created" Type="http://schemas.openxmlformats.org/officeDocument/2006/relationships/slide" Target="slides/slide34.xml"/><Relationship Id="rId44-created" Type="http://schemas.openxmlformats.org/officeDocument/2006/relationships/slide" Target="slides/slide35.xml"/><Relationship Id="rId45-created" Type="http://schemas.openxmlformats.org/officeDocument/2006/relationships/slide" Target="slides/slide36.xml"/><Relationship Id="rId46-created" Type="http://schemas.openxmlformats.org/officeDocument/2006/relationships/slide" Target="slides/slide37.xml"/><Relationship Id="rId47-created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6c6fe81-7438-4731-bb0e-bb6b4acf1fd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3dc6860-f69b-4b95-bab1-493680bf180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78ebe5ad-c522-451a-a218-1da877e2c21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Overview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53cf10-daac-46cb-946a-0cd2705d45b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Commitment to Cloud ERP Innovation</a:t>
            </a:r>
            <a:endParaRPr lang="en-US" sz="2800" dirty="0"/>
          </a:p>
        </p:txBody>
      </p:sp>
      <p:sp>
        <p:nvSpPr>
          <p:cNvPr id="3" name="18278271-31bc-44cb-9240-73b964d41bcb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businesses through strategic foresight</a:t>
            </a:r>
            <a:endParaRPr lang="en-US" sz="1400" dirty="0"/>
          </a:p>
        </p:txBody>
      </p:sp>
      <p:sp>
        <p:nvSpPr>
          <p:cNvPr id="4" name="d97d2271-85cf-4e04-ad61-a004f9a96113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solutions offer modular structures for flexibility in Microsoft Dynamics 365 programs.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allow clients to adjust scope, sequencing, and investment as priorities evolve.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change control enables introduction of new D365 capabilities with transparency.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flexibility through modular pricing and optional packages for D365 capabilities.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budgets are ring-fenced to explore new features without restructuring agreements.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vision aligns with market trends, ensuring offerings are pioneering in emerging technologies.</a:t>
            </a:r>
            <a:endParaRPr lang="en-US" sz="1600" dirty="0"/>
          </a:p>
        </p:txBody>
      </p:sp>
      <p:sp>
        <p:nvSpPr>
          <p:cNvPr id="5" name="d9439065-9756-49c2-9086-b8afe48638e6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06a46839-36bd-4483-b751-aca3498d16dd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 p.18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5e0cf26-88fa-4a45-b364-a3413757aa0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 Delivery</a:t>
            </a:r>
            <a:endParaRPr lang="en-US" sz="2400" dirty="0"/>
          </a:p>
        </p:txBody>
      </p:sp>
      <p:sp>
        <p:nvSpPr>
          <p:cNvPr id="3" name="b425ec43-3052-4e11-8630-0f12b8e36b0f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phase includes Rapid Discovery and Starter Garage workshops.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utilizes modular packages for solution design and D365 configuration.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is structured with co-creation sessions and ICA4AA workshops.</a:t>
            </a:r>
            <a:endParaRPr lang="en-US" sz="1400" dirty="0"/>
          </a:p>
        </p:txBody>
      </p:sp>
      <p:sp>
        <p:nvSpPr>
          <p:cNvPr id="4" name="4fd26588-613b-4e6f-8196-f13df8db46bb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 supported by Power Platform integration and phased deployments.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evolve phases incorporate AI-driven process automation and embedded analytics.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Client-centric approach with regular design reviews and early release cycles.</a:t>
            </a:r>
            <a:endParaRPr lang="en-US" sz="1400" dirty="0"/>
          </a:p>
        </p:txBody>
      </p:sp>
      <p:sp>
        <p:nvSpPr>
          <p:cNvPr id="5" name="55bb4de3-37d2-415e-88c7-ae24d3d0484c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821e6d55-742f-4549-a925-60cfb555990d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Implementations: 47</a:t>
            </a:r>
            <a:endParaRPr lang="en-US" sz="1200" dirty="0"/>
          </a:p>
        </p:txBody>
      </p:sp>
      <p:sp>
        <p:nvSpPr>
          <p:cNvPr id="7" name="ec0b4242-52fd-4d86-bf68-0667e62de1de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23 countries</a:t>
            </a:r>
            <a:endParaRPr lang="en-US" sz="1000" dirty="0"/>
          </a:p>
        </p:txBody>
      </p:sp>
      <p:sp>
        <p:nvSpPr>
          <p:cNvPr id="8" name="afcf0444-2aa8-45d3-b571-68e442427619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9" name="57f8d886-7657-4b8d-acf6-b4556d62e9d1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dd270db0-6a87-478f-bd43-fa044922b228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$127M</a:t>
            </a:r>
            <a:endParaRPr lang="en-US" sz="1200" dirty="0"/>
          </a:p>
        </p:txBody>
      </p:sp>
      <p:sp>
        <p:nvSpPr>
          <p:cNvPr id="11" name="96f80d44-83d8-49d7-8f84-b14576b1f440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increase YoY</a:t>
            </a:r>
            <a:endParaRPr lang="en-US" sz="1000" dirty="0"/>
          </a:p>
        </p:txBody>
      </p:sp>
      <p:sp>
        <p:nvSpPr>
          <p:cNvPr id="12" name="58a917d6-07b4-4e66-851b-9b51241539af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3" name="2b0cf801-f11c-45cd-a823-703f3cf31a48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9dbcf991-4f6e-4902-ae1e-142cee2ba5f3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Rate: 94%</a:t>
            </a:r>
            <a:endParaRPr lang="en-US" sz="1200" dirty="0"/>
          </a:p>
        </p:txBody>
      </p:sp>
      <p:sp>
        <p:nvSpPr>
          <p:cNvPr id="15" name="6a60bd69-aae6-4e33-bd55-149adf7370ff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clients expanded scope</a:t>
            </a:r>
            <a:endParaRPr lang="en-US" sz="1000" dirty="0"/>
          </a:p>
        </p:txBody>
      </p:sp>
      <p:sp>
        <p:nvSpPr>
          <p:cNvPr id="16" name="58e3a691-9ba4-4b45-8d88-95daffb15a22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7" name="6487f139-c870-4898-8791-7fbbee3c69e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d22e7de2-184a-463c-8ab4-ec304c19628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 p.30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752024f-69bf-40bb-b70c-7756a7263c8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Outcomes of IBM's Cloud ERP Services</a:t>
            </a:r>
            <a:endParaRPr lang="en-US" sz="2400" dirty="0"/>
          </a:p>
        </p:txBody>
      </p:sp>
      <p:sp>
        <p:nvSpPr>
          <p:cNvPr id="3" name="b5819126-ea2b-49a4-ba78-86331fb9d928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c8652fa6-326e-4954-be77-351bcb445c3f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Improvement</a:t>
            </a:r>
            <a:endParaRPr lang="en-US" sz="1200" dirty="0"/>
          </a:p>
        </p:txBody>
      </p:sp>
      <p:sp>
        <p:nvSpPr>
          <p:cNvPr id="5" name="ec390eb2-c689-4522-95b4-75430d2286c5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400" dirty="0"/>
          </a:p>
        </p:txBody>
      </p:sp>
      <p:sp>
        <p:nvSpPr>
          <p:cNvPr id="6" name="191a7442-7464-4376-959f-b428fa2f69a0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 in implementations</a:t>
            </a:r>
            <a:endParaRPr lang="en-US" sz="1000" dirty="0"/>
          </a:p>
        </p:txBody>
      </p:sp>
      <p:sp>
        <p:nvSpPr>
          <p:cNvPr id="7" name="9b10916b-8bae-4faa-a32b-8dbc42a41b6a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8" name="dc1946ec-8e06-4982-9d39-5b4e49988c95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7f466c23-f94a-4b8f-8722-77c77c1d5014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200" dirty="0"/>
          </a:p>
        </p:txBody>
      </p:sp>
      <p:sp>
        <p:nvSpPr>
          <p:cNvPr id="10" name="1f75c511-9b66-40ca-9f53-ea26c2c93b28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11" name="78feda1c-8430-407c-823d-6ea87fec3b09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through modular pricing</a:t>
            </a:r>
            <a:endParaRPr lang="en-US" sz="1000" dirty="0"/>
          </a:p>
        </p:txBody>
      </p:sp>
      <p:sp>
        <p:nvSpPr>
          <p:cNvPr id="12" name="4ae4b57c-5c36-4ea6-b8e5-7c5af1432ac2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3" name="f12f2d57-b9fe-45b5-a845-bdb60105fd6d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65d17e0c-b0b0-4932-87a9-0ae7c2d7b338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</a:t>
            </a:r>
            <a:endParaRPr lang="en-US" sz="1200" dirty="0"/>
          </a:p>
        </p:txBody>
      </p:sp>
      <p:sp>
        <p:nvSpPr>
          <p:cNvPr id="15" name="0f0eaae4-fee4-4e24-bcc8-0da6b3a9b8ef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$23M</a:t>
            </a:r>
            <a:endParaRPr lang="en-US" sz="2400" dirty="0"/>
          </a:p>
        </p:txBody>
      </p:sp>
      <p:sp>
        <p:nvSpPr>
          <p:cNvPr id="16" name="33314ab0-65d3-4efd-83b4-1fae0056d45a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automation tools launched</a:t>
            </a:r>
            <a:endParaRPr lang="en-US" sz="1000" dirty="0"/>
          </a:p>
        </p:txBody>
      </p:sp>
      <p:sp>
        <p:nvSpPr>
          <p:cNvPr id="17" name="009a3b1c-73d7-4785-a82f-10cd24c3e2d5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8" name="733d071b-360d-4c35-90de-6e65e18de39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aacd7ff3-893f-4af2-834f-3a1ef65bf2f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186e0e-57a7-4899-8166-2227355cce5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6b18b205-010f-419e-88a1-1ed426564ab3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ce8b19ab-6ea4-40db-8a4c-55bbc4670c2b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a01246fc-e10d-42e6-8daa-4ad9c7e43e9d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9d70d98e-5f0b-400d-a62c-3184e2e38de2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a7aec6e6-7ad6-4b76-b8af-02fe4a772a5a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46092788-c2cb-490b-9324-14afd3d7b070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a95b88d4-b5d6-4a7e-beed-9d53366387f6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59ab5514-ed90-4ef6-bfb4-a775b6502f1b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50b1919a-c088-4f53-9bbd-6a22399ea57f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13a151c2-5f15-4032-b702-41d56a1ab63a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6a0f70b7-d6c7-4e7b-89f4-13a2c545bb37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51501039-c5ab-4df1-87ff-604310394209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62b6f8be-8815-4639-9b9d-a00aa92c6adc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0a6d5643-8120-45a1-8c7b-afa040e0a0de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be9c04fa-ec6c-4d8d-ac59-f005feee066b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221a254e-87eb-4b99-a840-cad8cdf51de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7403c47a-e754-4917-b2f5-2bba8fe19f6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f3015ae-4d34-4945-b370-d501c9f4192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352a180c-40db-4a5b-95a8-8a53e49f4253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b1f9a887-f380-42a2-bb01-70d0aa00b17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b31f79ee-8cbe-4358-9dd5-323c06b30d3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38ce570-2d1a-402a-b308-cda7cda66f1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Vision for Cloud ERP</a:t>
            </a:r>
            <a:endParaRPr lang="en-US" sz="2800" dirty="0"/>
          </a:p>
        </p:txBody>
      </p:sp>
      <p:sp>
        <p:nvSpPr>
          <p:cNvPr id="3" name="c88d0539-8355-4748-a5e8-c4f17922e01b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Aligning with market trends and customer needs</a:t>
            </a:r>
            <a:endParaRPr lang="en-US" sz="1400" dirty="0"/>
          </a:p>
        </p:txBody>
      </p:sp>
      <p:sp>
        <p:nvSpPr>
          <p:cNvPr id="4" name="ef846f99-bc75-43db-bf20-0ead6f40a477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offerings are pioneering in the adoption of emerging technologies like GenAI and low-code platforms.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with Microsoft, Oracle, SAP, and Workday enhance service delivery.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client-centricity and cost efficiency aligns talent strategies with business goals.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hubs and labs foster continuous learning and skills growth.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culture of inclusion and allyship promotes positive contributions to society.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culture is fostered through regular reflections and career development frameworks.</a:t>
            </a:r>
            <a:endParaRPr lang="en-US" sz="1600" dirty="0"/>
          </a:p>
        </p:txBody>
      </p:sp>
      <p:sp>
        <p:nvSpPr>
          <p:cNvPr id="5" name="f4cc2ba0-ef8d-4bda-9a08-15cf40243f29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973d0314-ae1b-41cd-a8a2-4d1dfff4ef6f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 p.30; RFI § Live Briefing Guidelines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c511a35-b77a-4682-9893-00f5086696f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Talent Management Strategy</a:t>
            </a:r>
            <a:endParaRPr lang="en-US" sz="2400" dirty="0"/>
          </a:p>
        </p:txBody>
      </p:sp>
      <p:sp>
        <p:nvSpPr>
          <p:cNvPr id="3" name="dc7dab00-19cc-42b4-ac40-c80850c468e4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talent lifecycle fosters continuous learning and innovative thinking.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up-skilling, cross-skilling, and re-skilling initiatives.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development framework empowers IBMers to direct career paths.</a:t>
            </a:r>
            <a:endParaRPr lang="en-US" sz="1400" dirty="0"/>
          </a:p>
        </p:txBody>
      </p:sp>
      <p:sp>
        <p:nvSpPr>
          <p:cNvPr id="4" name="5e9cfe89-971b-40f9-a033-5eba95b2fabc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culture through regular reflections and manager coaching.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client-centricity and cost efficiency aligns talent strategies.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and efficiency enhance effectiveness in talent management.</a:t>
            </a:r>
            <a:endParaRPr lang="en-US" sz="1400" dirty="0"/>
          </a:p>
        </p:txBody>
      </p:sp>
      <p:sp>
        <p:nvSpPr>
          <p:cNvPr id="5" name="bef805e1-2bc6-4c0f-bd88-ae3db86abe98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06ae0105-5837-41da-be8c-f673efef347d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Growth: 850 consultants</a:t>
            </a:r>
            <a:endParaRPr lang="en-US" sz="1200" dirty="0"/>
          </a:p>
        </p:txBody>
      </p:sp>
      <p:sp>
        <p:nvSpPr>
          <p:cNvPr id="7" name="31186a49-d53c-464c-8618-2e9c8c3e267c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in 2025</a:t>
            </a:r>
            <a:endParaRPr lang="en-US" sz="1000" dirty="0"/>
          </a:p>
        </p:txBody>
      </p:sp>
      <p:sp>
        <p:nvSpPr>
          <p:cNvPr id="8" name="2c9a19ad-c7fa-490f-9bf5-f0b0e906b814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9" name="80975ba3-1ca0-4171-9b55-2486e8926178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bbf1846b-fb6f-4297-843e-206e38c01bf7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Rate: 94%</a:t>
            </a:r>
            <a:endParaRPr lang="en-US" sz="1200" dirty="0"/>
          </a:p>
        </p:txBody>
      </p:sp>
      <p:sp>
        <p:nvSpPr>
          <p:cNvPr id="11" name="7ab84209-64db-4be5-af46-6025566f91c5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Client-centric approach</a:t>
            </a:r>
            <a:endParaRPr lang="en-US" sz="1000" dirty="0"/>
          </a:p>
        </p:txBody>
      </p:sp>
      <p:sp>
        <p:nvSpPr>
          <p:cNvPr id="12" name="53b60c39-1bf0-41ff-9bff-c8f4e0a230c4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 p.30</a:t>
            </a:r>
            <a:endParaRPr lang="en-US" sz="900" dirty="0"/>
          </a:p>
        </p:txBody>
      </p:sp>
      <p:sp>
        <p:nvSpPr>
          <p:cNvPr id="13" name="544937bf-1b67-4489-83a8-c3a29a6ca79b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98601433-8f49-4802-9375-00c0b691d717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Investment: $23M</a:t>
            </a:r>
            <a:endParaRPr lang="en-US" sz="1200" dirty="0"/>
          </a:p>
        </p:txBody>
      </p:sp>
      <p:sp>
        <p:nvSpPr>
          <p:cNvPr id="15" name="3b424c32-dc07-474a-8c74-c0d977ac1703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tools</a:t>
            </a:r>
            <a:endParaRPr lang="en-US" sz="1000" dirty="0"/>
          </a:p>
        </p:txBody>
      </p:sp>
      <p:sp>
        <p:nvSpPr>
          <p:cNvPr id="16" name="605eb4aa-0969-494f-9552-0635aebe285b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7" name="b6c00573-4b2a-48ea-80dc-82ee2f18a4a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ec5e3778-d2fc-4aeb-9a2a-11457e1872c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 p.30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8fd0f9-b42f-4b60-af01-13ad2fb1edc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</a:t>
            </a:r>
            <a:endParaRPr lang="en-US" sz="2800" dirty="0"/>
          </a:p>
        </p:txBody>
      </p:sp>
      <p:sp>
        <p:nvSpPr>
          <p:cNvPr id="3" name="653835e6-d4ad-48b4-b15c-c2fe69a89650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Market Trends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dd88061-e6bc-4079-8cf7-007c92cbef7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Positioning in Cloud ERP</a:t>
            </a:r>
            <a:endParaRPr lang="en-US" sz="2800" dirty="0"/>
          </a:p>
        </p:txBody>
      </p:sp>
      <p:sp>
        <p:nvSpPr>
          <p:cNvPr id="3" name="95907aa0-d3d1-4712-9ec7-22ded120569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Aligning with market trends and customer needs</a:t>
            </a:r>
            <a:endParaRPr lang="en-US" sz="1400" dirty="0"/>
          </a:p>
        </p:txBody>
      </p:sp>
      <p:sp>
        <p:nvSpPr>
          <p:cNvPr id="4" name="c6ae405a-61a8-4247-a808-806f77934b3c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leverage AI-driven business transformation for operational agility.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iterative, outcome-based deployments to accelerate time-to-value.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Generative AI and Industry Cloud composability to enhance client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Garage for SAP Innovation facilitates rapid discovery and innovation embedding.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interest in finance-first implementations with TruQua Finance Transformation.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solutions like Climate 21 address growing client priorities.</a:t>
            </a:r>
            <a:endParaRPr lang="en-US" sz="1600" dirty="0"/>
          </a:p>
        </p:txBody>
      </p:sp>
      <p:sp>
        <p:nvSpPr>
          <p:cNvPr id="5" name="30d39fdf-40e5-421e-9083-804fb50dbcd4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9042dff8-353b-47cf-bd7c-1abb3f44f405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Market Evolution p.7; RFI § Completeness of Vision p.54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205e20c-3def-4b65-bf22-12cd1f1f381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Market Trends</a:t>
            </a:r>
            <a:endParaRPr lang="en-US" sz="2400" dirty="0"/>
          </a:p>
        </p:txBody>
      </p:sp>
      <p:sp>
        <p:nvSpPr>
          <p:cNvPr id="3" name="25d7b71b-e377-458a-bea8-2a01ef7f4389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from technical migrations to AI-driven transformations.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demand immediate operational agility and outcome-based deployments.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interest in next-generation SAP solutions like BTP and Clean Core.</a:t>
            </a:r>
            <a:endParaRPr lang="en-US" sz="1400" dirty="0"/>
          </a:p>
        </p:txBody>
      </p:sp>
      <p:sp>
        <p:nvSpPr>
          <p:cNvPr id="4" name="56795acc-1130-4e62-84fe-7c316ffd1b8c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adoption of bluefield/hybrid implementation approaches.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demand for large greenfield transformations.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market remains hot, driving global SAP skills growth.</a:t>
            </a:r>
            <a:endParaRPr lang="en-US" sz="1400" dirty="0"/>
          </a:p>
        </p:txBody>
      </p:sp>
      <p:sp>
        <p:nvSpPr>
          <p:cNvPr id="5" name="6729db1b-8f1f-4a14-952d-2c3ac2883714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134112dd-a0ce-471f-9255-fc1696c2164f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Transformation: 75%</a:t>
            </a:r>
            <a:endParaRPr lang="en-US" sz="1200" dirty="0"/>
          </a:p>
        </p:txBody>
      </p:sp>
      <p:sp>
        <p:nvSpPr>
          <p:cNvPr id="7" name="7d17a939-e5d3-4614-b94d-97b1a5bf96e7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adoption rate</a:t>
            </a:r>
            <a:endParaRPr lang="en-US" sz="1000" dirty="0"/>
          </a:p>
        </p:txBody>
      </p:sp>
      <p:sp>
        <p:nvSpPr>
          <p:cNvPr id="8" name="ee8798ab-082a-4950-9e83-a563559d2c07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Market Evolution p.7</a:t>
            </a:r>
            <a:endParaRPr lang="en-US" sz="900" dirty="0"/>
          </a:p>
        </p:txBody>
      </p:sp>
      <p:sp>
        <p:nvSpPr>
          <p:cNvPr id="9" name="5be0a389-c3ae-4eb8-8aa0-153b92391d92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a31346b7-5546-4afb-a039-124d9c2c9ad1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Transformations: 60%</a:t>
            </a:r>
            <a:endParaRPr lang="en-US" sz="1200" dirty="0"/>
          </a:p>
        </p:txBody>
      </p:sp>
      <p:sp>
        <p:nvSpPr>
          <p:cNvPr id="11" name="0a454446-fe1a-4472-b408-94cb27f9e629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demand increase</a:t>
            </a:r>
            <a:endParaRPr lang="en-US" sz="1000" dirty="0"/>
          </a:p>
        </p:txBody>
      </p:sp>
      <p:sp>
        <p:nvSpPr>
          <p:cNvPr id="12" name="b7d1608a-a8f8-4899-8482-01ae64a3f847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Completeness of Vision p.55</a:t>
            </a:r>
            <a:endParaRPr lang="en-US" sz="900" dirty="0"/>
          </a:p>
        </p:txBody>
      </p:sp>
      <p:sp>
        <p:nvSpPr>
          <p:cNvPr id="13" name="5e7681fa-4338-499b-b493-e0dbb4c67518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72864a8f-6d43-46b2-ad82-466baae87f62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Skills Growth: 30%</a:t>
            </a:r>
            <a:endParaRPr lang="en-US" sz="1200" dirty="0"/>
          </a:p>
        </p:txBody>
      </p:sp>
      <p:sp>
        <p:nvSpPr>
          <p:cNvPr id="15" name="c36cd1af-682f-4a04-a428-2e50210080a4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increase</a:t>
            </a:r>
            <a:endParaRPr lang="en-US" sz="1000" dirty="0"/>
          </a:p>
        </p:txBody>
      </p:sp>
      <p:sp>
        <p:nvSpPr>
          <p:cNvPr id="16" name="00d2c5e0-08b6-4694-bcb6-8a2fa416a33a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Completeness of Vision p.55</a:t>
            </a:r>
            <a:endParaRPr lang="en-US" sz="900" dirty="0"/>
          </a:p>
        </p:txBody>
      </p:sp>
      <p:sp>
        <p:nvSpPr>
          <p:cNvPr id="17" name="98bacff4-2756-486a-bdca-5b3ccb35976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e59cbd2f-06b2-4a85-9c82-11056735251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Market Evolution p.7; RFI § Completeness of Vision p.55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b6c6274-d763-4ff4-94d9-f4a5a4d7fd0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IBM's Cloud ERP Impact</a:t>
            </a:r>
            <a:endParaRPr lang="en-US" sz="2400" dirty="0"/>
          </a:p>
        </p:txBody>
      </p:sp>
      <p:sp>
        <p:nvSpPr>
          <p:cNvPr id="3" name="97f91eb5-ebf5-4f41-8a81-0aaf01333c5b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74122708-2ff6-45ee-bd50-3e76e4ae7855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1200" dirty="0"/>
          </a:p>
        </p:txBody>
      </p:sp>
      <p:sp>
        <p:nvSpPr>
          <p:cNvPr id="5" name="771d75dd-b7f7-420c-b630-bc9d2e4e1729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6" name="366f1875-7ff6-40d5-8561-846192397de1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in client operations</a:t>
            </a:r>
            <a:endParaRPr lang="en-US" sz="1000" dirty="0"/>
          </a:p>
        </p:txBody>
      </p:sp>
      <p:sp>
        <p:nvSpPr>
          <p:cNvPr id="7" name="a3041efd-e3c6-47f5-9b71-9de6d5da23b3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Market Evolution p.7</a:t>
            </a:r>
            <a:endParaRPr lang="en-US" sz="900" dirty="0"/>
          </a:p>
        </p:txBody>
      </p:sp>
      <p:sp>
        <p:nvSpPr>
          <p:cNvPr id="8" name="1e9721b7-8005-433a-af3d-ff3d8c127ac6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5b3eaef4-178e-48ff-bf12-9bbb5ea9f1cd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200" dirty="0"/>
          </a:p>
        </p:txBody>
      </p:sp>
      <p:sp>
        <p:nvSpPr>
          <p:cNvPr id="10" name="795a7b5a-6148-428e-aa06-351e39dc8630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$50M</a:t>
            </a:r>
            <a:endParaRPr lang="en-US" sz="2400" dirty="0"/>
          </a:p>
        </p:txBody>
      </p:sp>
      <p:sp>
        <p:nvSpPr>
          <p:cNvPr id="11" name="78bc60a9-3b6f-414e-b847-9cc5ec928897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client savings</a:t>
            </a:r>
            <a:endParaRPr lang="en-US" sz="1000" dirty="0"/>
          </a:p>
        </p:txBody>
      </p:sp>
      <p:sp>
        <p:nvSpPr>
          <p:cNvPr id="12" name="82d17f95-e87a-4eef-b1fa-c29c050be333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3" name="38aa4835-d1b1-481a-85d6-da814e6eefdb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439c0f1a-ee38-4b47-8e98-6b8bae030018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Speed</a:t>
            </a:r>
            <a:endParaRPr lang="en-US" sz="1200" dirty="0"/>
          </a:p>
        </p:txBody>
      </p:sp>
      <p:sp>
        <p:nvSpPr>
          <p:cNvPr id="15" name="4e5bb240-3662-415c-9d40-044af93d8009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months</a:t>
            </a:r>
            <a:endParaRPr lang="en-US" sz="2400" dirty="0"/>
          </a:p>
        </p:txBody>
      </p:sp>
      <p:sp>
        <p:nvSpPr>
          <p:cNvPr id="16" name="395fe610-1b8b-490e-b967-ed33672f2f37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vs. industry 12 months</a:t>
            </a:r>
            <a:endParaRPr lang="en-US" sz="1000" dirty="0"/>
          </a:p>
        </p:txBody>
      </p:sp>
      <p:sp>
        <p:nvSpPr>
          <p:cNvPr id="17" name="d3a61a4f-4a86-4540-9096-f8126600b3f8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8" name="0b869ff1-a5e7-464f-8236-e250ebb4e51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61cea4b7-9f56-4356-a92b-f18095e1af4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Market Evolution p.7;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1ae8122-31f5-47cc-b249-b920048ca71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Stories</a:t>
            </a:r>
            <a:endParaRPr lang="en-US" sz="2400" dirty="0"/>
          </a:p>
        </p:txBody>
      </p:sp>
      <p:sp>
        <p:nvSpPr>
          <p:cNvPr id="3" name="ade8f9c6-ced4-4232-8630-06fe492a6933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ab7a56b1-aabf-4c8e-b32e-48c3644a9d16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5d36eeff-932b-479e-9015-e3cc5b7f41f2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f06f9950-1293-471d-b306-74ceeab1a5fe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fa706f92-cd6d-464c-a57e-8b865d20b385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66d6fbf8-bb6a-46a5-a426-e15b33c7c8ad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f9b12c4c-509e-485d-be70-b7288f3c63e6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07341429-e500-4f7f-93ac-bd9a8f03dd56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cfa0ac6e-6389-493e-817e-7f7a5ecd044c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31d4f666-7703-43cc-b7f3-cad77522f320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1d4f9ddf-c309-45f5-b077-c59fd4fc4336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57dc1678-b579-4168-84de-91aa1a2cc2d6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dabb013a-4dda-434c-9e74-6d569914b645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41cdb180-d908-4cf0-b3d2-fb7bd53e4bc2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6ff7a115-4fb0-4523-9b31-f05e6492461c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0cad182e-13d7-47eb-a280-e814152218d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9f44c505-da7e-4115-ac42-675ba011c1df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10a57a7-5dca-422f-b549-666375f69de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1ede9d22-5f9a-4f67-bd39-714708acbd5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20e54b38-1e90-40f4-ac78-81bf07166f7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5fa27393-4980-499d-ade4-cc9c40f076f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d1c7c7a-05f7-4be9-bf03-023d151e217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9eb78d92-9c7b-49d8-9bb7-cd82f5c1b78d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1430b81a-3fbd-48bf-8329-67e22483fb8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7f1a7fe8-f9e8-4fe9-9dbf-41f7d6acc23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719b8b7-2037-44fa-9095-205f1fc260b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1fc60ea8-f120-4880-8274-3025557a050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3416533d-9ed9-42c7-b147-e51f41d154f0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46134376-66be-435e-890f-3902a878365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bf1d677-05d7-430d-8984-afb4e39b86b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8d2646e9-d5c0-408e-b165-4b101c787915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2b1520d2-87a8-4a80-b6c8-1a9f0158673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d797ccb2-9c7a-476c-90ed-8eea86cf095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8dd99b0-c851-4e30-9b85-10759944bba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519e54ee-3560-41ad-9f0d-cceb673a4b1e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e33230ab-ed7c-4c10-adba-fb39c070da6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756d2c3f-da62-4d8d-a4f1-aec6d23ddfd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82b1301-5259-4c5d-8d95-ca7b4010163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</a:t>
            </a:r>
            <a:endParaRPr lang="en-US" sz="2800" dirty="0"/>
          </a:p>
        </p:txBody>
      </p:sp>
      <p:sp>
        <p:nvSpPr>
          <p:cNvPr id="3" name="79df28d8-2fdd-4141-8333-f4b3e70f035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Highlights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405421b-1528-4da6-9ae3-65205bc970d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Approach to Cloud ERP</a:t>
            </a:r>
            <a:endParaRPr lang="en-US" sz="2800" dirty="0"/>
          </a:p>
        </p:txBody>
      </p:sp>
      <p:sp>
        <p:nvSpPr>
          <p:cNvPr id="3" name="0a4f112f-c51b-4ef8-8a89-cdebee970cc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product strategies driving market differentiation</a:t>
            </a:r>
            <a:endParaRPr lang="en-US" sz="1400" dirty="0"/>
          </a:p>
        </p:txBody>
      </p:sp>
      <p:sp>
        <p:nvSpPr>
          <p:cNvPr id="4" name="eba841eb-8e0a-49c9-b1fb-1ae3b2e91ed0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portfolio includes AI-powered automation tools launched in Q2 2025, enhancing operational efficiency.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of $23M in proprietary IP for Cloud ERP solutions, supporting unique client needs.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low-code platforms to accelerate implementation and customization processes.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GenAI integration to provide predictive analytics and enhanced decision-making capabilities.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with leading ISVs to expand functionality and interoperability.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Vertical-specific solutions addressing unique challenges in industries such as manufacturing and finance.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strategy includes expansion into emerging markets, increasing global reach.</a:t>
            </a:r>
            <a:endParaRPr lang="en-US" sz="1600" dirty="0"/>
          </a:p>
        </p:txBody>
      </p:sp>
      <p:sp>
        <p:nvSpPr>
          <p:cNvPr id="5" name="995a2dc6-ba56-40ac-a106-163fc09118cc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c4859bcd-693d-4926-bb37-991184b94a0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Product Strategy p.5; RFI § Innovation Investments p.10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aefc34d-f93d-4ee0-9d4d-1fe1bd9e06c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ERP Capabilities vs. Market Needs</a:t>
            </a:r>
            <a:endParaRPr lang="en-US" sz="2400" dirty="0"/>
          </a:p>
        </p:txBody>
      </p:sp>
      <p:sp>
        <p:nvSpPr>
          <p:cNvPr id="3" name="2a7a8fdc-cf28-4939-8090-6eb1c75809e8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assessment services to identify client-specific ERP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methodologies reducing average deployment time to 8.3 months.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frameworks ensuring smooth transitions and user adoption.</a:t>
            </a:r>
            <a:endParaRPr lang="en-US" sz="1400" dirty="0"/>
          </a:p>
        </p:txBody>
      </p:sp>
      <p:sp>
        <p:nvSpPr>
          <p:cNvPr id="4" name="b0ea4dc4-4288-438c-8770-6318457c2ced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 services leveraging AI for enhanced accuracy and efficiency.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support and evolution services with 94% client retention rate.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foresight aligning with emerging technologies like GenAI and low-code.</a:t>
            </a:r>
            <a:endParaRPr lang="en-US" sz="1400" dirty="0"/>
          </a:p>
        </p:txBody>
      </p:sp>
      <p:sp>
        <p:nvSpPr>
          <p:cNvPr id="5" name="11667608-5dd2-4b99-a487-38e0ef1321fc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31551e15-ed43-4ab3-a976-f2a87ac56388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Deployments: 47</a:t>
            </a:r>
            <a:endParaRPr lang="en-US" sz="1200" dirty="0"/>
          </a:p>
        </p:txBody>
      </p:sp>
      <p:sp>
        <p:nvSpPr>
          <p:cNvPr id="7" name="1b309b11-fecd-4613-9046-2ea86712e51a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served</a:t>
            </a:r>
            <a:endParaRPr lang="en-US" sz="1000" dirty="0"/>
          </a:p>
        </p:txBody>
      </p:sp>
      <p:sp>
        <p:nvSpPr>
          <p:cNvPr id="8" name="f28178db-536e-44f1-a72b-b0d0885a65a7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Deployment Data p.12</a:t>
            </a:r>
            <a:endParaRPr lang="en-US" sz="900" dirty="0"/>
          </a:p>
        </p:txBody>
      </p:sp>
      <p:sp>
        <p:nvSpPr>
          <p:cNvPr id="9" name="83f2c3a7-0a4e-412d-a4b9-f66a724db73b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c59efa91-0060-4cba-bc3f-0139649551d6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Rate: 94%</a:t>
            </a:r>
            <a:endParaRPr lang="en-US" sz="1200" dirty="0"/>
          </a:p>
        </p:txBody>
      </p:sp>
      <p:sp>
        <p:nvSpPr>
          <p:cNvPr id="11" name="4dbfe286-ee23-4fe1-b9f9-4a0be0b02199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</a:t>
            </a:r>
            <a:endParaRPr lang="en-US" sz="1000" dirty="0"/>
          </a:p>
        </p:txBody>
      </p:sp>
      <p:sp>
        <p:nvSpPr>
          <p:cNvPr id="12" name="74b1e79d-5767-4dc1-ac6d-c758a3e3aca3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Client Retention p.15</a:t>
            </a:r>
            <a:endParaRPr lang="en-US" sz="900" dirty="0"/>
          </a:p>
        </p:txBody>
      </p:sp>
      <p:sp>
        <p:nvSpPr>
          <p:cNvPr id="13" name="aeb954cc-86b4-47f4-bcfb-ac0c4cf1a503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1b63eaab-f458-49d5-b961-4561402f5dc8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Time: 8.3 months</a:t>
            </a:r>
            <a:endParaRPr lang="en-US" sz="1200" dirty="0"/>
          </a:p>
        </p:txBody>
      </p:sp>
      <p:sp>
        <p:nvSpPr>
          <p:cNvPr id="15" name="70d649f5-34b7-4f6f-a16e-f736ac12b5fa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average: 12 months</a:t>
            </a:r>
            <a:endParaRPr lang="en-US" sz="1000" dirty="0"/>
          </a:p>
        </p:txBody>
      </p:sp>
      <p:sp>
        <p:nvSpPr>
          <p:cNvPr id="16" name="2202f328-8f33-4d33-a685-572b67dcfabc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Implementation Efficiency p.18</a:t>
            </a:r>
            <a:endParaRPr lang="en-US" sz="900" dirty="0"/>
          </a:p>
        </p:txBody>
      </p:sp>
      <p:sp>
        <p:nvSpPr>
          <p:cNvPr id="17" name="7fc713da-1916-44e4-922f-1211798399d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86250533-3b8b-43fa-af7d-eab147a84a5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Capabilities p.8; RFI § Market Needs Alignment p.14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25e9921-9ac5-4011-a794-0abff0804e1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Outcomes of IBM's Cloud ERP</a:t>
            </a:r>
            <a:endParaRPr lang="en-US" sz="2400" dirty="0"/>
          </a:p>
        </p:txBody>
      </p:sp>
      <p:sp>
        <p:nvSpPr>
          <p:cNvPr id="3" name="09bce584-554c-4a6a-8316-97c0333e0574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e465283a-ce9c-40e5-8e9a-5789598f38a3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7c91a360-3fc5-4f28-81cb-c8e675e2ee91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$127M</a:t>
            </a:r>
            <a:endParaRPr lang="en-US" sz="2400" dirty="0"/>
          </a:p>
        </p:txBody>
      </p:sp>
      <p:sp>
        <p:nvSpPr>
          <p:cNvPr id="6" name="76410f00-e92d-40e8-9cd9-ac0b9c560730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increase YoY</a:t>
            </a:r>
            <a:endParaRPr lang="en-US" sz="1000" dirty="0"/>
          </a:p>
        </p:txBody>
      </p:sp>
      <p:sp>
        <p:nvSpPr>
          <p:cNvPr id="7" name="2243fedd-9296-4b1c-aebe-d71da2bc624d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p.12</a:t>
            </a:r>
            <a:endParaRPr lang="en-US" sz="900" dirty="0"/>
          </a:p>
        </p:txBody>
      </p:sp>
      <p:sp>
        <p:nvSpPr>
          <p:cNvPr id="8" name="5d8e4023-22de-492b-9f98-c80d91b838f2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6b5d305d-92ac-4c79-a842-0a8f2cfb1c01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Expansion</a:t>
            </a:r>
            <a:endParaRPr lang="en-US" sz="1200" dirty="0"/>
          </a:p>
        </p:txBody>
      </p:sp>
      <p:sp>
        <p:nvSpPr>
          <p:cNvPr id="10" name="f0d9c495-a6f6-4295-aeee-0e956f542f5d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 added</a:t>
            </a:r>
            <a:endParaRPr lang="en-US" sz="2400" dirty="0"/>
          </a:p>
        </p:txBody>
      </p:sp>
      <p:sp>
        <p:nvSpPr>
          <p:cNvPr id="11" name="1d52d329-ee79-4fa6-aefd-7965c12e3182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3,200 globally</a:t>
            </a:r>
            <a:endParaRPr lang="en-US" sz="1000" dirty="0"/>
          </a:p>
        </p:txBody>
      </p:sp>
      <p:sp>
        <p:nvSpPr>
          <p:cNvPr id="12" name="d73370d6-7a5a-4245-a98d-8b95bb5ed445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Team Expansion p.20</a:t>
            </a:r>
            <a:endParaRPr lang="en-US" sz="900" dirty="0"/>
          </a:p>
        </p:txBody>
      </p:sp>
      <p:sp>
        <p:nvSpPr>
          <p:cNvPr id="13" name="83ae42d4-4bfb-432e-add4-162e76a1dc52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cca0dbe4-f6b5-43ba-b1c7-f016720c765c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</a:t>
            </a:r>
            <a:endParaRPr lang="en-US" sz="1200" dirty="0"/>
          </a:p>
        </p:txBody>
      </p:sp>
      <p:sp>
        <p:nvSpPr>
          <p:cNvPr id="15" name="eb9315cc-7c7e-4445-956c-14bc66c6fd06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$23M</a:t>
            </a:r>
            <a:endParaRPr lang="en-US" sz="2400" dirty="0"/>
          </a:p>
        </p:txBody>
      </p:sp>
      <p:sp>
        <p:nvSpPr>
          <p:cNvPr id="16" name="3a2b10a0-2361-4cdf-ab5e-e4a239ef2a10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tools</a:t>
            </a:r>
            <a:endParaRPr lang="en-US" sz="1000" dirty="0"/>
          </a:p>
        </p:txBody>
      </p:sp>
      <p:sp>
        <p:nvSpPr>
          <p:cNvPr id="17" name="4aee1845-4729-4e8a-a3d6-4beb95a4f534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Innovation Investments p.10</a:t>
            </a:r>
            <a:endParaRPr lang="en-US" sz="900" dirty="0"/>
          </a:p>
        </p:txBody>
      </p:sp>
      <p:sp>
        <p:nvSpPr>
          <p:cNvPr id="18" name="1d90f750-d644-420a-8553-d1171498535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7b3bba57-fe6c-4694-84bc-2ceb550d7e7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Quantified Outcomes p.22; RFI § Client Success Metrics p.24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28c59f8-9dc6-42a2-9af1-bab7ad713e8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ERP Case Studies Overview</a:t>
            </a:r>
            <a:endParaRPr lang="en-US" sz="2400" dirty="0"/>
          </a:p>
        </p:txBody>
      </p:sp>
      <p:sp>
        <p:nvSpPr>
          <p:cNvPr id="3" name="592bbb77-e7be-4dda-9070-69a2a911666d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4563dd03-4db7-446e-93ef-ff4e1d66ecb7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f544ee0b-8732-4cd2-ba6b-d71ff0c09199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d07bd248-b891-4c71-817a-2e47ea47664b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3c5e6640-b183-4703-babf-cb3adfe2661a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4dfc4e1b-5e43-43d3-8704-38f0ddec471b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a24bdd20-2f74-45fc-8418-334c9c13605b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0b692c91-3657-4024-986b-8b3c39207e4e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9118edcf-1394-468a-8991-8a41d358bce3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74bb4f13-b073-4c9b-82cc-47e63f99a5ad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498d52fd-0695-4cf1-b5ad-4573c05a9e3c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e45c974f-c09b-49db-8199-4e2a2f50f794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6283211c-fcae-4241-9312-bcfe3b05eb61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7717dd99-c802-4f39-9bca-f49a5629ab4c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72ea57c7-dfb4-4753-94b6-e60487d15773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60848a82-7a0e-4d7e-bf35-b83a0c1f78f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56e26d15-7e47-4576-9df7-7a0630d8997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Case Studies Overview p.30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986445a-3fd4-4c24-8dfc-e5faee939f3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into a Key IBM Cloud ERP Case Study</a:t>
            </a:r>
            <a:endParaRPr lang="en-US" sz="2400" dirty="0"/>
          </a:p>
        </p:txBody>
      </p:sp>
      <p:sp>
        <p:nvSpPr>
          <p:cNvPr id="3" name="f07262f4-739f-4ef7-8d1f-562af3a1ec46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0a84dc77-4cc8-4458-a30a-24f3b1c7229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8fbda590-b800-45ec-b092-c869be2afd9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Case Study Deep Dive p.35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ee6e114-d0ed-41ee-af4a-97ef155df2f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2800" dirty="0"/>
          </a:p>
        </p:txBody>
      </p:sp>
      <p:sp>
        <p:nvSpPr>
          <p:cNvPr id="3" name="1152d66f-cea5-4f5c-811b-7e26ce3ebdbf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dd5597e-9c10-4f2f-a62e-83c80c14bf9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 in Cloud ERP</a:t>
            </a:r>
            <a:endParaRPr lang="en-US" sz="2800" dirty="0"/>
          </a:p>
        </p:txBody>
      </p:sp>
      <p:sp>
        <p:nvSpPr>
          <p:cNvPr id="3" name="61194c5b-29da-4bcc-90ce-d8aaa5e952b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growth and strategic investments</a:t>
            </a:r>
            <a:endParaRPr lang="en-US" sz="1400" dirty="0"/>
          </a:p>
        </p:txBody>
      </p:sp>
      <p:sp>
        <p:nvSpPr>
          <p:cNvPr id="4" name="a2a00a11-c6b9-4674-8789-de47a4f92de4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achieved a 24% revenue growth in Cloud ERP services, reaching $127M in Q3 2025.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AI-powered automation tools amounted to $23M in Q2 2025.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rate stood at 94% in 2025, with 67% of clients expanding scope within the first year.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added 850 certified consultants in 2025, increasing the global team to 3,200.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SAP Global Partner of the Year for Cloud ERP in 2025.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implementation time reduced to 8.3 months, outperforming the industry average of 12 months.</a:t>
            </a:r>
            <a:endParaRPr lang="en-US" sz="1600" dirty="0"/>
          </a:p>
        </p:txBody>
      </p:sp>
      <p:sp>
        <p:nvSpPr>
          <p:cNvPr id="5" name="a6f86e4d-5471-433a-a34e-e8d2216aeae5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b75e13ec-23fe-4ced-9249-4f33abb4d139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f58b65a-0f96-404e-9599-e1ea41410e2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Metrics and Strategic Alignment</a:t>
            </a:r>
            <a:endParaRPr lang="en-US" sz="2400" dirty="0"/>
          </a:p>
        </p:txBody>
      </p:sp>
      <p:sp>
        <p:nvSpPr>
          <p:cNvPr id="3" name="806596f4-4907-4fd3-9713-77bfa2f0a951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in Cloud ERP services: 24% increase in revenue.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investments in emerging technologies like GenAI and low-code platforms.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client satisfaction with a retention rate of 94% in 2025.</a:t>
            </a:r>
            <a:endParaRPr lang="en-US" sz="1400" dirty="0"/>
          </a:p>
        </p:txBody>
      </p:sp>
      <p:sp>
        <p:nvSpPr>
          <p:cNvPr id="4" name="309a762e-dd16-4aa5-b472-e827ea1cf754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of consultant team by 850 certified professionals in 2025.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as SAP Global Partner of the Year for Cloud ERP.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implementation time reduced to 8.3 months.</a:t>
            </a:r>
            <a:endParaRPr lang="en-US" sz="1400" dirty="0"/>
          </a:p>
        </p:txBody>
      </p:sp>
      <p:sp>
        <p:nvSpPr>
          <p:cNvPr id="5" name="2fb66a9c-7422-4f5f-9499-97896bde9031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4397a9e4-68c3-465c-90c3-6714c6d2a5d3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24%</a:t>
            </a:r>
            <a:endParaRPr lang="en-US" sz="1200" dirty="0"/>
          </a:p>
        </p:txBody>
      </p:sp>
      <p:sp>
        <p:nvSpPr>
          <p:cNvPr id="7" name="b55b54ac-58a1-4d6f-9c6d-b1d88fb754cd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</p:txBody>
      </p:sp>
      <p:sp>
        <p:nvSpPr>
          <p:cNvPr id="8" name="fc1c1ca6-50e0-44cb-879e-28db3a99e02e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9" name="6514460a-b23a-4c73-a2f9-d16f9da8e100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94496a0a-7725-43f9-993b-b6eee06ccfc6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Retention: 94%</a:t>
            </a:r>
            <a:endParaRPr lang="en-US" sz="1200" dirty="0"/>
          </a:p>
        </p:txBody>
      </p:sp>
      <p:sp>
        <p:nvSpPr>
          <p:cNvPr id="11" name="a85fa206-911a-4009-b99d-58f7e0aca9c8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fd2d1fe5-f370-43d0-8b03-a176b212456b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eaa88761-8793-4cff-b815-91af27bea77c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8f585245-f812-4ec6-81df-15d4a5e9134a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Expansion: 850</a:t>
            </a:r>
            <a:endParaRPr lang="en-US" sz="1200" dirty="0"/>
          </a:p>
        </p:txBody>
      </p:sp>
      <p:sp>
        <p:nvSpPr>
          <p:cNvPr id="15" name="cc4d8d22-a885-4389-aced-f78eecc7ed9b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6" name="4e90bc08-c4e9-4d3b-835d-6aaeaa9e9c27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7" name="2ca74140-6c19-4438-9d75-edc5ffe421f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c4c2b0e1-5808-45cf-a738-e8ec69163c1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Financial Performance Q3 2025 p.12;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c66e761-e3d0-4754-90e7-eff209111dc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Metrics</a:t>
            </a:r>
            <a:endParaRPr lang="en-US" sz="2400" dirty="0"/>
          </a:p>
        </p:txBody>
      </p:sp>
      <p:sp>
        <p:nvSpPr>
          <p:cNvPr id="3" name="04127308-dc72-4f7b-a965-111ab7d59caf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7ba1bf4c-55ef-45d1-858d-dc0ed0ac734f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acd17a81-bcb3-40cd-ad1d-c93c196f1133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400" dirty="0"/>
          </a:p>
        </p:txBody>
      </p:sp>
      <p:sp>
        <p:nvSpPr>
          <p:cNvPr id="6" name="34c3b366-4742-4e4a-a88b-e449e3ccfb68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</p:txBody>
      </p:sp>
      <p:sp>
        <p:nvSpPr>
          <p:cNvPr id="7" name="8af16b6a-9cea-4566-abe4-dff3c773f50c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8" name="7b8d91ed-6e0e-45ff-9482-2193f8e3f897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440abae8-07f8-4810-8f0a-04cb6a2e2d27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</a:t>
            </a:r>
            <a:endParaRPr lang="en-US" sz="1200" dirty="0"/>
          </a:p>
        </p:txBody>
      </p:sp>
      <p:sp>
        <p:nvSpPr>
          <p:cNvPr id="10" name="b7bfc116-4889-429c-889b-43007fc642a3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400" dirty="0"/>
          </a:p>
        </p:txBody>
      </p:sp>
      <p:sp>
        <p:nvSpPr>
          <p:cNvPr id="11" name="8ef5dbba-c1e6-40b5-aed9-b48076ff4088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3eefa5ff-04ee-4516-a2a5-5d6e89a53327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4ffaf824-56ba-498f-ac30-b4546d4dd565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f0b1c825-2d33-4058-a5eb-6db499340fa7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Expansion</a:t>
            </a:r>
            <a:endParaRPr lang="en-US" sz="1200" dirty="0"/>
          </a:p>
        </p:txBody>
      </p:sp>
      <p:sp>
        <p:nvSpPr>
          <p:cNvPr id="15" name="57b403b1-8669-491b-b4b4-444a41bd06e5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</a:t>
            </a:r>
            <a:endParaRPr lang="en-US" sz="2400" dirty="0"/>
          </a:p>
        </p:txBody>
      </p:sp>
      <p:sp>
        <p:nvSpPr>
          <p:cNvPr id="16" name="e4e6e1f8-0c6e-4db8-ad2f-37f537f73a49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7" name="cd4125ff-7abe-4adc-a1c8-01448c579a64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8" name="62054b97-7b66-4d0e-a4a8-af0982a1616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accdb85f-4f87-4417-a5b9-e4511c65a72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Financial Performance Q3 2025 p.12;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c8d74a1-3166-4f7b-a539-fba24e1bf5b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Investments in Emerging Technologies</a:t>
            </a:r>
            <a:endParaRPr lang="en-US" sz="2800" dirty="0"/>
          </a:p>
        </p:txBody>
      </p:sp>
      <p:sp>
        <p:nvSpPr>
          <p:cNvPr id="3" name="9d58749f-46d3-426a-9346-6ade187f1260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innovation and competitive advantage</a:t>
            </a:r>
            <a:endParaRPr lang="en-US" sz="1400" dirty="0"/>
          </a:p>
        </p:txBody>
      </p:sp>
      <p:sp>
        <p:nvSpPr>
          <p:cNvPr id="4" name="77dcb5b0-c914-437c-b349-414ac07baac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Invested $23M in AI-powered automation tools launched in Q2 2025.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GenAI and low-code platforms to enhance service offerings.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 market trends ensures relevance and innovation.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investment in technology to support client transformation journeys.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as a leader in adopting emerging technologies in Cloud ERP.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pioneering solutions that drive efficiency and cost savings.</a:t>
            </a:r>
            <a:endParaRPr lang="en-US" sz="1600" dirty="0"/>
          </a:p>
        </p:txBody>
      </p:sp>
      <p:sp>
        <p:nvSpPr>
          <p:cNvPr id="5" name="d6acb256-4ac4-47b0-83ed-16faac3fef2b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cb66f60a-3064-49b3-bcb7-120b8af76957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5eb4930-edbe-4c29-a857-988ef9ac3c4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 and Client Success</a:t>
            </a:r>
            <a:endParaRPr lang="en-US" sz="2400" dirty="0"/>
          </a:p>
        </p:txBody>
      </p:sp>
      <p:sp>
        <p:nvSpPr>
          <p:cNvPr id="3" name="8b512207-c0f0-44e1-a9d8-43e0278afdd4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rate of 94% in 2025, indicating high satisfaction.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of clients expanded scope within the first year of engagement.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implementation time reduced to 8.3 months, outperforming industry standards.</a:t>
            </a:r>
            <a:endParaRPr lang="en-US" sz="1400" dirty="0"/>
          </a:p>
        </p:txBody>
      </p:sp>
      <p:sp>
        <p:nvSpPr>
          <p:cNvPr id="4" name="7ca337c7-5544-4649-b47b-d284a2feeb6e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of consultant team by 850 certified professionals in 2025.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as SAP Global Partner of the Year for Cloud ERP.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investment in technology to support client transformation journeys.</a:t>
            </a:r>
            <a:endParaRPr lang="en-US" sz="1400" dirty="0"/>
          </a:p>
        </p:txBody>
      </p:sp>
      <p:sp>
        <p:nvSpPr>
          <p:cNvPr id="5" name="79e0bbfe-8dc9-4275-889f-100d826f9082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7cb490d6-a050-492d-a612-222a7f34c31a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Retention: 94%</a:t>
            </a:r>
            <a:endParaRPr lang="en-US" sz="1200" dirty="0"/>
          </a:p>
        </p:txBody>
      </p:sp>
      <p:sp>
        <p:nvSpPr>
          <p:cNvPr id="7" name="3f0a0fec-66ce-4e76-bd98-be8720e9c4a5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f3505eb4-4e87-4c7a-820c-707452b4be49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9" name="db7058c7-a727-4ec0-9c0a-6c04ea502a7c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af995993-4aea-4fb7-827a-081596d0fa2e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Time: 8.3 months</a:t>
            </a:r>
            <a:endParaRPr lang="en-US" sz="1200" dirty="0"/>
          </a:p>
        </p:txBody>
      </p:sp>
      <p:sp>
        <p:nvSpPr>
          <p:cNvPr id="11" name="550a32a8-7357-45e1-9ce4-7893a6694c56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1000" dirty="0"/>
          </a:p>
        </p:txBody>
      </p:sp>
      <p:sp>
        <p:nvSpPr>
          <p:cNvPr id="12" name="39c436cb-5d6d-4eb4-819e-533ef1d54a37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b289ea05-6bfc-4e65-a415-e26a760ba348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144bf321-8055-478e-ab72-38bed0a7487c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Expansion: 850</a:t>
            </a:r>
            <a:endParaRPr lang="en-US" sz="1200" dirty="0"/>
          </a:p>
        </p:txBody>
      </p:sp>
      <p:sp>
        <p:nvSpPr>
          <p:cNvPr id="15" name="a560cd32-7f68-4809-a7ba-a79af7a1919a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6" name="8356c722-9ac4-42ee-9f57-48e673897bd4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7" name="06c8bc6a-52fd-489b-8708-8dda7022a61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1eb6b176-39f1-4e3f-b575-e66bbf0f62d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d34a6c1-1f9e-4107-b66f-558c9b1428e6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 Responsiveness</a:t>
            </a:r>
            <a:endParaRPr lang="en-US" sz="2800" dirty="0"/>
          </a:p>
        </p:txBody>
      </p:sp>
      <p:sp>
        <p:nvSpPr>
          <p:cNvPr id="3" name="ad67074f-6e52-4a88-a72e-29c6ea206439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Adapting to client needs and industry trends</a:t>
            </a:r>
            <a:endParaRPr lang="en-US" sz="1400" dirty="0"/>
          </a:p>
        </p:txBody>
      </p:sp>
      <p:sp>
        <p:nvSpPr>
          <p:cNvPr id="4" name="0caaa75f-68b2-401a-b5f1-fdd68332bfac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in Cloud ERP services: 24% increase in revenue.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 market trends ensures relevance and innovation.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as SAP Global Partner of the Year for Cloud ERP.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investment in technology to support client transformation journeys.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GenAI and low-code platforms to enhance service offerings.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client satisfaction with a retention rate of 94% in 2025.</a:t>
            </a:r>
            <a:endParaRPr lang="en-US" sz="1600" dirty="0"/>
          </a:p>
        </p:txBody>
      </p:sp>
      <p:sp>
        <p:nvSpPr>
          <p:cNvPr id="5" name="ac6ad205-f60d-402a-a103-85f3b9c0ac46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80774ff-5baf-4fa1-9e04-7e3f3030a50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Financial Performance Q3 2025 p.12;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9a81cce-7f51-43d0-aaeb-9433c3bbb52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Execution and Client Engagement</a:t>
            </a:r>
            <a:endParaRPr lang="en-US" sz="2400" dirty="0"/>
          </a:p>
        </p:txBody>
      </p:sp>
      <p:sp>
        <p:nvSpPr>
          <p:cNvPr id="3" name="50047daa-6e30-4f1f-9693-6d74204bbb82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models and contract flexibility tailored to client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business outcome contracts and client success.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client satisfaction with a retention rate of 94% in 2025.</a:t>
            </a:r>
            <a:endParaRPr lang="en-US" sz="1400" dirty="0"/>
          </a:p>
        </p:txBody>
      </p:sp>
      <p:sp>
        <p:nvSpPr>
          <p:cNvPr id="4" name="4e297435-b967-4b8b-bc9d-22a8e914afa6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as SAP Global Partner of the Year for Cloud ERP.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investment in technology to support client transformation journeys.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of consultant team by 850 certified professionals in 2025.</a:t>
            </a:r>
            <a:endParaRPr lang="en-US" sz="1400" dirty="0"/>
          </a:p>
        </p:txBody>
      </p:sp>
      <p:sp>
        <p:nvSpPr>
          <p:cNvPr id="5" name="9e3a4a5b-23a7-42b5-8ff1-3058c0d6145c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6265cb93-efa4-4d21-9d04-5b658c01a953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Retention: 94%</a:t>
            </a:r>
            <a:endParaRPr lang="en-US" sz="1200" dirty="0"/>
          </a:p>
        </p:txBody>
      </p:sp>
      <p:sp>
        <p:nvSpPr>
          <p:cNvPr id="7" name="552b7da6-a29f-4296-a494-cf496d24ad9f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d0b83751-c0fd-48db-985f-e07d4001b568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9" name="78be6fe5-e17d-41cd-afc6-da5f79ed46ef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b0e86829-05ee-4fea-9cfb-b144a37b81fa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Expansion: 850</a:t>
            </a:r>
            <a:endParaRPr lang="en-US" sz="1200" dirty="0"/>
          </a:p>
        </p:txBody>
      </p:sp>
      <p:sp>
        <p:nvSpPr>
          <p:cNvPr id="11" name="a8a2fad6-87b7-4af1-a605-bbef502c6517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21f7c5e3-dd80-4f38-9c72-68f927243fc6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a88f4bf6-9e29-4dba-b0da-6ed7a9cc9b1e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9ea0ab83-0ce7-49bb-88cd-55590ae6a0ea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24%</a:t>
            </a:r>
            <a:endParaRPr lang="en-US" sz="1200" dirty="0"/>
          </a:p>
        </p:txBody>
      </p:sp>
      <p:sp>
        <p:nvSpPr>
          <p:cNvPr id="15" name="2c213b6b-b25a-494f-aab9-1b220e768ea5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</p:txBody>
      </p:sp>
      <p:sp>
        <p:nvSpPr>
          <p:cNvPr id="16" name="6a7c223f-913b-4338-9d84-9d145ef16e32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7" name="08163e31-30bf-4392-b105-698595b042a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9feab2fb-7a04-4867-8444-1e81c6fd9bb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Financial Performance Q3 2025 p.12;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b893999-3edd-43a6-b0e2-0058a3bbb5a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Metrics</a:t>
            </a:r>
            <a:endParaRPr lang="en-US" sz="2400" dirty="0"/>
          </a:p>
        </p:txBody>
      </p:sp>
      <p:sp>
        <p:nvSpPr>
          <p:cNvPr id="3" name="f1c184fa-d1d6-4502-b4b8-ea68ee74a44e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fcd91a33-8d38-4611-963b-06659d3e9109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</a:t>
            </a:r>
            <a:endParaRPr lang="en-US" sz="1200" dirty="0"/>
          </a:p>
        </p:txBody>
      </p:sp>
      <p:sp>
        <p:nvSpPr>
          <p:cNvPr id="5" name="d48281d8-d5eb-4685-b46c-2a544dfafbe7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400" dirty="0"/>
          </a:p>
        </p:txBody>
      </p:sp>
      <p:sp>
        <p:nvSpPr>
          <p:cNvPr id="6" name="308fc4f0-7400-4054-9168-93fc1e96df54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7" name="401930fa-9fff-4933-9b1a-2f857e78c407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8" name="9927df4d-4e38-46d9-b8c6-44f27c55d71c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4a96b9eb-0035-4691-bc6b-bf3b50766ef6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</a:t>
            </a:r>
            <a:endParaRPr lang="en-US" sz="1200" dirty="0"/>
          </a:p>
        </p:txBody>
      </p:sp>
      <p:sp>
        <p:nvSpPr>
          <p:cNvPr id="10" name="d6784236-fecc-4ff6-b158-6f835afbc291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months</a:t>
            </a:r>
            <a:endParaRPr lang="en-US" sz="2400" dirty="0"/>
          </a:p>
        </p:txBody>
      </p:sp>
      <p:sp>
        <p:nvSpPr>
          <p:cNvPr id="11" name="1c07e402-5ee3-4603-a1d0-1141b55707bd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1000" dirty="0"/>
          </a:p>
        </p:txBody>
      </p:sp>
      <p:sp>
        <p:nvSpPr>
          <p:cNvPr id="12" name="aa2d8072-73ec-49ab-84cc-75ef4c44ea8c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e0f2d012-f91f-4179-a02d-d97dd3be279c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84633e62-3771-4b05-a800-5c874c510006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Expansion</a:t>
            </a:r>
            <a:endParaRPr lang="en-US" sz="1200" dirty="0"/>
          </a:p>
        </p:txBody>
      </p:sp>
      <p:sp>
        <p:nvSpPr>
          <p:cNvPr id="15" name="01c74d7a-541b-469f-80a0-13d73c5486e8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</a:t>
            </a:r>
            <a:endParaRPr lang="en-US" sz="2400" dirty="0"/>
          </a:p>
        </p:txBody>
      </p:sp>
      <p:sp>
        <p:nvSpPr>
          <p:cNvPr id="16" name="55a5f529-d4d6-463f-a97d-511097f5fb1c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7" name="10e8f363-2718-48a5-87c3-e2d7a0d41258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8" name="a828fab5-e555-4280-a937-a2e899f753e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9e3a19f1-95b1-4363-812d-eda3a2ff876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3424148-4bfc-439c-9c7f-ae79cab0a44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Vision for Cloud ERP</a:t>
            </a:r>
            <a:endParaRPr lang="en-US" sz="2800" dirty="0"/>
          </a:p>
        </p:txBody>
      </p:sp>
      <p:sp>
        <p:nvSpPr>
          <p:cNvPr id="3" name="e396d939-252c-41db-af02-4eb8d3016b3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Aligning offerings with market needs</a:t>
            </a:r>
            <a:endParaRPr lang="en-US" sz="1400" dirty="0"/>
          </a:p>
        </p:txBody>
      </p:sp>
      <p:sp>
        <p:nvSpPr>
          <p:cNvPr id="4" name="f5f3f4ca-51b5-494a-958c-e041767c9df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 market trends ensures relevance and innovation.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GenAI and low-code platforms to enhance service offerings.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investment in technology to support client transformation journeys.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as SAP Global Partner of the Year for Cloud ERP.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client satisfaction with a retention rate of 94% in 2025.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in Cloud ERP services: 24% increase in revenue.</a:t>
            </a:r>
            <a:endParaRPr lang="en-US" sz="1600" dirty="0"/>
          </a:p>
        </p:txBody>
      </p:sp>
      <p:sp>
        <p:nvSpPr>
          <p:cNvPr id="5" name="e248b689-beff-4f2f-8725-8749ff54dfdb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4a33b08f-82a7-4751-897a-b7f4360fb7f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Financial Performance Q3 2025 p.12;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44be780-adca-4f06-9720-5503e114f7f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Technology Investments</a:t>
            </a:r>
            <a:endParaRPr lang="en-US" sz="2400" dirty="0"/>
          </a:p>
        </p:txBody>
      </p:sp>
      <p:sp>
        <p:nvSpPr>
          <p:cNvPr id="3" name="03e0b67c-a37e-4922-a569-d71a6432eb36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Invested $23M in AI-powered automation tools launched in Q2 2025.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GenAI and low-code platforms to enhance service offerings.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 market trends ensures relevance and innovation.</a:t>
            </a:r>
            <a:endParaRPr lang="en-US" sz="1400" dirty="0"/>
          </a:p>
        </p:txBody>
      </p:sp>
      <p:sp>
        <p:nvSpPr>
          <p:cNvPr id="4" name="710822cc-8e4c-485b-9917-9ce376908dea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investment in technology to support client transformation journeys.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as a leader in adopting emerging technologies in Cloud ERP.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pioneering solutions that drive efficiency and cost savings.</a:t>
            </a:r>
            <a:endParaRPr lang="en-US" sz="1400" dirty="0"/>
          </a:p>
        </p:txBody>
      </p:sp>
      <p:sp>
        <p:nvSpPr>
          <p:cNvPr id="5" name="4077aae2-5eca-4e97-b172-d733c3bee09d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e6fa3ae8-da41-4f96-89f4-1de58433045a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Investment: $23M</a:t>
            </a:r>
            <a:endParaRPr lang="en-US" sz="1200" dirty="0"/>
          </a:p>
        </p:txBody>
      </p:sp>
      <p:sp>
        <p:nvSpPr>
          <p:cNvPr id="7" name="86f45e95-3149-41dd-aeda-e140b631b3ee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000" dirty="0"/>
          </a:p>
        </p:txBody>
      </p:sp>
      <p:sp>
        <p:nvSpPr>
          <p:cNvPr id="8" name="3d6a7ea6-6295-493f-91d2-042c52a69c9f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9" name="fa59c9ea-2fff-4a67-b89a-52222ed6c008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97fc3b2c-eb23-4f98-ad9f-d772b5630e49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24%</a:t>
            </a:r>
            <a:endParaRPr lang="en-US" sz="1200" dirty="0"/>
          </a:p>
        </p:txBody>
      </p:sp>
      <p:sp>
        <p:nvSpPr>
          <p:cNvPr id="11" name="757abf19-1bf5-41b6-a184-c48c92abcba7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</p:txBody>
      </p:sp>
      <p:sp>
        <p:nvSpPr>
          <p:cNvPr id="12" name="0df4f9a1-66fc-4c23-87a3-3a9a5e38ece4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3" name="6c7f9a20-62e8-469f-b464-3627fc6927f1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18562f86-2619-4e78-8575-2990cc5669cf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Retention: 94%</a:t>
            </a:r>
            <a:endParaRPr lang="en-US" sz="1200" dirty="0"/>
          </a:p>
        </p:txBody>
      </p:sp>
      <p:sp>
        <p:nvSpPr>
          <p:cNvPr id="15" name="83558504-83c8-40e4-9c14-8b7ab3b3cfbc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6" name="f1e67516-ec07-4495-a8c9-e69cd9059ac6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7" name="17f59e7d-9bb6-493b-a904-f0a064843c6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94508fcc-706c-4e4c-b801-6a895a7ee42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Financial Performance Q3 2025 p.12;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6c5ea7-0377-4d7b-9fcd-62a60e8ec91a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800" dirty="0"/>
          </a:p>
        </p:txBody>
      </p:sp>
      <p:sp>
        <p:nvSpPr>
          <p:cNvPr id="3" name="1b460e52-426f-4aab-9427-2c183d7d934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